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9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94" r:id="rId35"/>
    <p:sldId id="295" r:id="rId36"/>
    <p:sldId id="296" r:id="rId37"/>
    <p:sldId id="293" r:id="rId38"/>
    <p:sldId id="288" r:id="rId39"/>
    <p:sldId id="289" r:id="rId40"/>
    <p:sldId id="290" r:id="rId4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75"/>
    <p:restoredTop sz="94600"/>
  </p:normalViewPr>
  <p:slideViewPr>
    <p:cSldViewPr snapToGrid="0" snapToObjects="1">
      <p:cViewPr varScale="1">
        <p:scale>
          <a:sx n="79" d="100"/>
          <a:sy n="79" d="100"/>
        </p:scale>
        <p:origin x="216" y="1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1807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HallMenu RU — a cross-platform mobile application built for Rajshahi University's 17 residential halls. It digitizes the dining management system so students can check real-time menus, canteen availability, notices, and feast schedules from their phones — without visiting the dining hall first.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we'll cover today. We'll start with the problem, walk through our solution, show every screen of the app, and end with the technical architecture and future plans.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Rajshahi University has 17 residential halls housing thousands of students. Before this app, there was no way to check the dining menu without physically going there. Notices and feast dates were only on physical boards that many students missed. This app solves all of that.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HallMenu RU is a cross-platform mobile app that connects students and dining moderators. Students can browse menus, check availability, read reviews and see upcoming feasts. Moderators log in with their hall-specific credentials and update menus in real time. The whole system runs on Firebase with no custom server needed.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user types. Students browse freely — no login required. Dining Moderators manage breakfast, lunch, and dinner menus. Canteen Moderators manage canteen items. Each hall has exactly one moderator per role, so there's no concurrent write conflict. Moderators log in using the format: role dot hallId at rudining dot com.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ten major features. The most technically interesting ones are: the live serve count with automatic status transitions, the notice expiry system that filters at read time, the timezone fix using Asia Dhaka locale, and the onSnapshot real-time listener used for food reviews.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23 screens in total covering two main journeys. Students go from Splash to Hall List to Food Detail without any login. Moderators authenticate via email-password Firebase Auth, land on the Dashboard, and can access 7 features from there. The navigation uses expo-router's file-based routing.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Splash Screen is the first thing users see. It displays the RU logo, app name, and animated dots for 2 seconds. There is no user interaction — after 2 seconds, a setTimeout automatically navigates to the Onboarding screen. This is purely a branding screen.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Onboarding screen shows 3 introduction slides. Users can swipe through with Next and Back buttons, or skip entirely. FlatList with pagingEnabled handles the horizontal scroll. The AsyncStorage flag to skip onboarding on repeat visits is commented out during development for easy testing.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Screen is the app's main entry point after onboarding. There are two cards: Student and Moderator. Students go directly to the Hall List with no login required. Moderators are routed to the Moderator Role screen to select dining or canteen before logging 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Hall List screen loads 17 hall cards and checks which ones have today's menu using Promise.all with 17 parallel Firestore reads. Halls with data show a green 'Updated today' badge. Students can search by name and filter by gender. Two quick-link cards jump to Feast and Notice screens.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Hall Details screen uses an accordion pattern — tap Hall Dining or Hall Canteen to expand. Inside Dining, three meal tabs let students switch between Breakfast, Lunch, and Dinner. Each food item is tappable and routes to the Food Detail screen. If no menu exists, a 'NOT UPDATED' badge is shown.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 uses Firebase's onSnapshot for real-time review updates. When any student submits a review, it appears instantly for all other viewers. The average rating is recalculated client-side every time reviews update. An important technical note: this query needs a composite Firestore index — hallId + dateKey + itemName + orderBy createdAt.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Notices screen fetches active notices using Promise.all for both dining and canteen. The expiry logic runs at read time — each notice's createdAt plus its expiresIn hours is compared to the current time. Expired notices are silently filtered out. Students only see currently valid notices.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Feast screen loads dining and canteen feasts in parallel using Promise.all. Only upcoming and today's feasts are shown — past ones are filtered by comparing the feast date to today's date key. Each card shows a countdown badge: Today!, Tomorrow, or In N days, calculated by the daysUntil() function.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 has an important security feature: if a moderator is already logged in, instead of going straight to the dashboard, we show a password re-confirmation modal. This prevents someone from accessing the dashboard just by picking up an unlocked phone. The modal re-authenticates using Firebase Auth.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Moderators can log in using either their full email or just their username — the app automatically appends @rudining.com. After Firebase authentication, the app fetches the moderator's data and checks that the role matches. A dining moderator trying to log into canteen gets a 'Wrong Role' error. On success, hall data is passed as route params to the Dashboard.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Moderator Dashboard acts as the command center. It receives all hall data as navigation params from the login screen — no extra Firestore read needed here. The accent color changes dynamically: green for dining moderators, purple for canteen. The isDining flag controls which set of 7 features is displayed.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Menu Editor uses immutable React state updates — each item change creates a new array and object reference so React detects the change and re-renders. On save, items are cleaned: empty names are filtered out, prices and counts are converted to numbers. Then saveDiningMenu calls upsertMenu, followed by logUpdate to record the action.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Status is designed for speed. When stock runs low mid-service, the moderator doesn't need to open the full menu editor. They can set all items to Finished in one tap using the bulk action buttons, or adjust individual items. The quickUpdateDining function only updates the dining field in Firestore.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 is the real-time serving interface. When a student is served, the moderator taps minus. The count decrements locally first, then syncs to Firestore. At count 0, an alert fires and the status becomes finished. A known limitation is a potential race condition if two devices serve simultaneously — the fix would be Firestore's atomic increment(-1) operation.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Canteen Menu Editor works similarly to the Dining editor but without meal tabs — all canteen items are in one list. The preview renders the student-facing view before saving. On confirm, saveCanteenMenu calls upsertMenu with the canteen field, preserving any existing dining data in the same document.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Canteen Quick Status screen mirrors the Dining Quick Status but for canteen items. Since canteen items don't have meal categories, there are no tabs — all items appear in one block. The bulk actions are especially useful when closing the canteen at end of day.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Notice Editor lets moderators post structured notices. The 5 types each have their own icon and color in the student-facing Notice screen. The expiresIn field controls how long the notice stays visible. The Edit Notice button takes the moderator to the most recent notice for that hall to edit or delete.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Edit Notice screen always loads the most recent notice for that hall. It's a quick edit flow — not a full list. If the moderator needs to manage multiple notices, that would be a future improvement. Both Save and Delete navigate back to the Dashboard with an alert confirmation on delete.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Feast Editor stores feast data in the feasts collection with the hall's role (dining or canteen). Menu items are split from the comma-separated input into an array. The date field is stored as YYYY-MM-DD string, which makes the date comparison in FeastScreen straightforward: just compare strings.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 Feast follows the same pattern as Edit Notice — loads the most recent feast for that hall. The menu array is joined with commas for display in the textarea, and split back on save. Delete asks for confirmation before removing from Firestore.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Daily Reset uses the timezone-correct getYesterdayKey function to find yesterday's menu. If yesterday's menu exists, it's copied as today's starting point, which the moderator can then adjust. If no yesterday menu is found, the function returns false and alerts the moderator. The clear action wipes all meal items but keeps the document structure.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Verification screen is an audit trail. Every time a moderator saves a menu or quick update, logUpdate() writes a record to the updateHistory collection. This screen reads those records sorted by timestamp descending with a limit of 50. The Current Record section reads directly from the menu document's diningUpdatedBy and diningUpdatedAt fields.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Success Screen is a simple confirmation gate. It uses router.replace so pressing the device back button doesn't return to the success screen — it goes to the dashboard instead. All necessary hall params are passed through so the Dashboard can load correctly without a new Firestore fetch.</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uses Firebase BaaS — there is no custom backend server. The frontend is layered: screens handle UI, expo-router handles navigation, and repository.js centralizes all Firebase calls. The most important design decision is the composite document ID: hallId underscore dateKey. This gives O(1) lookup for any hall's menu on any date — no query needed.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Firestore has 6 collections. The menus collection is the most critical — its document ID is hallId underscore dateKey, giving O(1) lookup. Each document contains both dining and canteen data for that day. The foodReviews collection requires a composite index in the Firebase console because it uses multiple where clauses and an orderBy. All other lookups are simple single-document or single-where reads.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F75C6-8613-8A08-A68F-35FE818A5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B2B6E-0795-F89F-E978-5A028BDD69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0CFE8A-A618-4336-D774-EE5572F7EB4B}"/>
              </a:ext>
            </a:extLst>
          </p:cNvPr>
          <p:cNvSpPr>
            <a:spLocks noGrp="1"/>
          </p:cNvSpPr>
          <p:nvPr>
            <p:ph type="body" idx="1"/>
          </p:nvPr>
        </p:nvSpPr>
        <p:spPr/>
        <p:txBody>
          <a:bodyPr/>
          <a:lstStyle/>
          <a:p>
            <a:r>
              <a:rPr lang="en-US" dirty="0"/>
              <a:t>Firestore has 6 collections. The menus collection is the most critical — its document ID is hallId underscore dateKey, giving O(1) lookup. Each document contains both dining and canteen data for that day. The foodReviews collection requires a composite index in the Firebase console because it uses multiple where clauses and an orderBy. All other lookups are simple single-document or single-where reads.</a:t>
            </a:r>
          </a:p>
        </p:txBody>
      </p:sp>
      <p:sp>
        <p:nvSpPr>
          <p:cNvPr id="4" name="Slide Number Placeholder 3">
            <a:extLst>
              <a:ext uri="{FF2B5EF4-FFF2-40B4-BE49-F238E27FC236}">
                <a16:creationId xmlns:a16="http://schemas.microsoft.com/office/drawing/2014/main" id="{96366C1E-5C96-3BA2-1F8D-21FCD5007844}"/>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9399066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EFAEE-F847-D8A6-2574-99AD41A20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81151-FDDA-7AE8-D068-5FC21C800B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BED44-60B4-C26C-05B0-EAFC2098D882}"/>
              </a:ext>
            </a:extLst>
          </p:cNvPr>
          <p:cNvSpPr>
            <a:spLocks noGrp="1"/>
          </p:cNvSpPr>
          <p:nvPr>
            <p:ph type="body" idx="1"/>
          </p:nvPr>
        </p:nvSpPr>
        <p:spPr/>
        <p:txBody>
          <a:bodyPr/>
          <a:lstStyle/>
          <a:p>
            <a:r>
              <a:rPr lang="en-US" dirty="0"/>
              <a:t>Firestore has 6 collections. The menus collection is the most critical — its document ID is hallId underscore dateKey, giving O(1) lookup. Each document contains both dining and canteen data for that day. The foodReviews collection requires a composite index in the Firebase console because it uses multiple where clauses and an orderBy. All other lookups are simple single-document or single-where reads.</a:t>
            </a:r>
          </a:p>
        </p:txBody>
      </p:sp>
      <p:sp>
        <p:nvSpPr>
          <p:cNvPr id="4" name="Slide Number Placeholder 3">
            <a:extLst>
              <a:ext uri="{FF2B5EF4-FFF2-40B4-BE49-F238E27FC236}">
                <a16:creationId xmlns:a16="http://schemas.microsoft.com/office/drawing/2014/main" id="{6548D98E-36A8-2FA5-B15B-5BC0BA097DE3}"/>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1744736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six security measures. Firebase handles bcrypt password hashing and JWT token management automatically. The role mismatch check on login prevents cross-role access. The re-authentication modal on the Role screen prevents dashboard access on shared devices. Firestore Security Rules enforce server-side access control. The main known limitation is that food reviews are unauthenticated.</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eight planned improvements span different categories. The most impactful for users would be push notifications and offline support. The most critical technically is fixing the race condition in the serve count using Firestore's atomic increment. Student authentication for reviews would prevent abuse. An admin panel would give university management a bird's-eye view of all 17 halls.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HallMenu RU successfully digitizes dining management for all 17 Rajshahi University residential halls. It is a full-stack cross-platform app built with React Native, Expo, and Firebase. The key technical achievements are the O(1) menu lookup via composite document IDs, the repository pattern for clean architecture, the timezone-correct date key, and the real-time serve count with automatic status transitions. We are honest about our limitations and have a clear roadmap for improvements.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5A3D"/>
        </a:solidFill>
        <a:effectLst/>
      </p:bgPr>
    </p:bg>
    <p:spTree>
      <p:nvGrpSpPr>
        <p:cNvPr id="1" name=""/>
        <p:cNvGrpSpPr/>
        <p:nvPr/>
      </p:nvGrpSpPr>
      <p:grpSpPr>
        <a:xfrm>
          <a:off x="0" y="0"/>
          <a:ext cx="0" cy="0"/>
          <a:chOff x="0" y="0"/>
          <a:chExt cx="0" cy="0"/>
        </a:xfrm>
      </p:grpSpPr>
      <p:sp>
        <p:nvSpPr>
          <p:cNvPr id="2" name="Shape 0"/>
          <p:cNvSpPr/>
          <p:nvPr/>
        </p:nvSpPr>
        <p:spPr>
          <a:xfrm>
            <a:off x="502920" y="548640"/>
            <a:ext cx="777240" cy="777240"/>
          </a:xfrm>
          <a:prstGeom prst="roundRect">
            <a:avLst>
              <a:gd name="adj" fmla="val 16471"/>
            </a:avLst>
          </a:prstGeom>
          <a:solidFill>
            <a:srgbClr val="1B4332"/>
          </a:solidFill>
          <a:ln/>
        </p:spPr>
      </p:sp>
      <p:sp>
        <p:nvSpPr>
          <p:cNvPr id="3" name="Text 1"/>
          <p:cNvSpPr/>
          <p:nvPr/>
        </p:nvSpPr>
        <p:spPr>
          <a:xfrm>
            <a:off x="502920" y="548640"/>
            <a:ext cx="777240" cy="77724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RU</a:t>
            </a:r>
            <a:endParaRPr lang="en-US" sz="2600" dirty="0"/>
          </a:p>
        </p:txBody>
      </p:sp>
      <p:sp>
        <p:nvSpPr>
          <p:cNvPr id="4" name="Text 2"/>
          <p:cNvSpPr/>
          <p:nvPr/>
        </p:nvSpPr>
        <p:spPr>
          <a:xfrm>
            <a:off x="502920" y="1417320"/>
            <a:ext cx="5029200" cy="77724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HallMenu RU</a:t>
            </a:r>
            <a:endParaRPr lang="en-US" sz="4200" dirty="0"/>
          </a:p>
        </p:txBody>
      </p:sp>
      <p:sp>
        <p:nvSpPr>
          <p:cNvPr id="5" name="Text 3"/>
          <p:cNvSpPr/>
          <p:nvPr/>
        </p:nvSpPr>
        <p:spPr>
          <a:xfrm>
            <a:off x="502920" y="2148840"/>
            <a:ext cx="5029200" cy="411480"/>
          </a:xfrm>
          <a:prstGeom prst="rect">
            <a:avLst/>
          </a:prstGeom>
          <a:noFill/>
          <a:ln/>
        </p:spPr>
        <p:txBody>
          <a:bodyPr wrap="square" lIns="0" tIns="0" rIns="0" bIns="0" rtlCol="0" anchor="ctr"/>
          <a:lstStyle/>
          <a:p>
            <a:pPr marL="0" indent="0">
              <a:buNone/>
            </a:pPr>
            <a:r>
              <a:rPr lang="en-US" sz="1600" dirty="0">
                <a:solidFill>
                  <a:srgbClr val="A8D5B5"/>
                </a:solidFill>
                <a:latin typeface="Calibri" pitchFamily="34" charset="0"/>
                <a:ea typeface="Calibri" pitchFamily="34" charset="-122"/>
                <a:cs typeface="Calibri" pitchFamily="34" charset="-120"/>
              </a:rPr>
              <a:t>Rajshahi University Hall Dining Management App</a:t>
            </a:r>
            <a:endParaRPr lang="en-US" sz="1600" dirty="0"/>
          </a:p>
        </p:txBody>
      </p:sp>
      <p:sp>
        <p:nvSpPr>
          <p:cNvPr id="6" name="Shape 4"/>
          <p:cNvSpPr/>
          <p:nvPr/>
        </p:nvSpPr>
        <p:spPr>
          <a:xfrm>
            <a:off x="502920" y="2633472"/>
            <a:ext cx="1828800" cy="36576"/>
          </a:xfrm>
          <a:prstGeom prst="rect">
            <a:avLst/>
          </a:prstGeom>
          <a:solidFill>
            <a:srgbClr val="40916C"/>
          </a:solidFill>
          <a:ln/>
        </p:spPr>
      </p:sp>
      <p:sp>
        <p:nvSpPr>
          <p:cNvPr id="7" name="Text 5"/>
          <p:cNvSpPr/>
          <p:nvPr/>
        </p:nvSpPr>
        <p:spPr>
          <a:xfrm>
            <a:off x="502920" y="2788920"/>
            <a:ext cx="5029200" cy="274320"/>
          </a:xfrm>
          <a:prstGeom prst="rect">
            <a:avLst/>
          </a:prstGeom>
          <a:noFill/>
          <a:ln/>
        </p:spPr>
        <p:txBody>
          <a:bodyPr wrap="square" lIns="0" tIns="0" rIns="0" bIns="0" rtlCol="0" anchor="ctr"/>
          <a:lstStyle/>
          <a:p>
            <a:pPr marL="0" indent="0">
              <a:buNone/>
            </a:pPr>
            <a:r>
              <a:rPr lang="en-US" sz="1100" b="1" dirty="0">
                <a:solidFill>
                  <a:srgbClr val="A8D5B5"/>
                </a:solidFill>
                <a:latin typeface="Calibri" pitchFamily="34" charset="0"/>
                <a:ea typeface="Calibri" pitchFamily="34" charset="-122"/>
                <a:cs typeface="Calibri" pitchFamily="34" charset="-120"/>
              </a:rPr>
              <a:t>Technology: </a:t>
            </a:r>
            <a:r>
              <a:rPr lang="en-US" sz="1100" dirty="0">
                <a:solidFill>
                  <a:srgbClr val="FFFFFF"/>
                </a:solidFill>
                <a:latin typeface="Calibri" pitchFamily="34" charset="0"/>
                <a:ea typeface="Calibri" pitchFamily="34" charset="-122"/>
                <a:cs typeface="Calibri" pitchFamily="34" charset="-120"/>
              </a:rPr>
              <a:t>React Native • Expo • Firebase</a:t>
            </a:r>
            <a:endParaRPr lang="en-US" sz="1100" dirty="0"/>
          </a:p>
        </p:txBody>
      </p:sp>
      <p:sp>
        <p:nvSpPr>
          <p:cNvPr id="8" name="Text 6"/>
          <p:cNvSpPr/>
          <p:nvPr/>
        </p:nvSpPr>
        <p:spPr>
          <a:xfrm>
            <a:off x="502920" y="3063240"/>
            <a:ext cx="5029200" cy="274320"/>
          </a:xfrm>
          <a:prstGeom prst="rect">
            <a:avLst/>
          </a:prstGeom>
          <a:noFill/>
          <a:ln/>
        </p:spPr>
        <p:txBody>
          <a:bodyPr wrap="square" lIns="0" tIns="0" rIns="0" bIns="0" rtlCol="0" anchor="ctr"/>
          <a:lstStyle/>
          <a:p>
            <a:pPr marL="0" indent="0">
              <a:buNone/>
            </a:pPr>
            <a:r>
              <a:rPr lang="en-US" sz="1100" b="1" dirty="0">
                <a:solidFill>
                  <a:srgbClr val="A8D5B5"/>
                </a:solidFill>
                <a:latin typeface="Calibri" pitchFamily="34" charset="0"/>
                <a:ea typeface="Calibri" pitchFamily="34" charset="-122"/>
                <a:cs typeface="Calibri" pitchFamily="34" charset="-120"/>
              </a:rPr>
              <a:t>Platform: </a:t>
            </a:r>
            <a:r>
              <a:rPr lang="en-US" sz="1100" dirty="0">
                <a:solidFill>
                  <a:srgbClr val="FFFFFF"/>
                </a:solidFill>
                <a:latin typeface="Calibri" pitchFamily="34" charset="0"/>
                <a:ea typeface="Calibri" pitchFamily="34" charset="-122"/>
                <a:cs typeface="Calibri" pitchFamily="34" charset="-120"/>
              </a:rPr>
              <a:t>Android &amp; iOS (Cross-platform)</a:t>
            </a:r>
            <a:endParaRPr lang="en-US" sz="1100" dirty="0"/>
          </a:p>
        </p:txBody>
      </p:sp>
      <p:sp>
        <p:nvSpPr>
          <p:cNvPr id="9" name="Text 7"/>
          <p:cNvSpPr/>
          <p:nvPr/>
        </p:nvSpPr>
        <p:spPr>
          <a:xfrm>
            <a:off x="502920" y="3337560"/>
            <a:ext cx="5029200" cy="274320"/>
          </a:xfrm>
          <a:prstGeom prst="rect">
            <a:avLst/>
          </a:prstGeom>
          <a:noFill/>
          <a:ln/>
        </p:spPr>
        <p:txBody>
          <a:bodyPr wrap="square" lIns="0" tIns="0" rIns="0" bIns="0" rtlCol="0" anchor="ctr"/>
          <a:lstStyle/>
          <a:p>
            <a:pPr marL="0" indent="0">
              <a:buNone/>
            </a:pPr>
            <a:r>
              <a:rPr lang="en-US" sz="1100" b="1" dirty="0">
                <a:solidFill>
                  <a:srgbClr val="A8D5B5"/>
                </a:solidFill>
                <a:latin typeface="Calibri" pitchFamily="34" charset="0"/>
                <a:ea typeface="Calibri" pitchFamily="34" charset="-122"/>
                <a:cs typeface="Calibri" pitchFamily="34" charset="-120"/>
              </a:rPr>
              <a:t>Database: </a:t>
            </a:r>
            <a:r>
              <a:rPr lang="en-US" sz="1100" dirty="0">
                <a:solidFill>
                  <a:srgbClr val="FFFFFF"/>
                </a:solidFill>
                <a:latin typeface="Calibri" pitchFamily="34" charset="0"/>
                <a:ea typeface="Calibri" pitchFamily="34" charset="-122"/>
                <a:cs typeface="Calibri" pitchFamily="34" charset="-120"/>
              </a:rPr>
              <a:t>Firebase Firestore (NoSQL Cloud)</a:t>
            </a:r>
            <a:endParaRPr lang="en-US" sz="1100" dirty="0"/>
          </a:p>
        </p:txBody>
      </p:sp>
      <p:sp>
        <p:nvSpPr>
          <p:cNvPr id="10" name="Text 8"/>
          <p:cNvSpPr/>
          <p:nvPr/>
        </p:nvSpPr>
        <p:spPr>
          <a:xfrm>
            <a:off x="502920" y="3611880"/>
            <a:ext cx="5029200" cy="274320"/>
          </a:xfrm>
          <a:prstGeom prst="rect">
            <a:avLst/>
          </a:prstGeom>
          <a:noFill/>
          <a:ln/>
        </p:spPr>
        <p:txBody>
          <a:bodyPr wrap="square" lIns="0" tIns="0" rIns="0" bIns="0" rtlCol="0" anchor="ctr"/>
          <a:lstStyle/>
          <a:p>
            <a:pPr marL="0" indent="0">
              <a:buNone/>
            </a:pPr>
            <a:r>
              <a:rPr lang="en-US" sz="1100" b="1" dirty="0">
                <a:solidFill>
                  <a:srgbClr val="A8D5B5"/>
                </a:solidFill>
                <a:latin typeface="Calibri" pitchFamily="34" charset="0"/>
                <a:ea typeface="Calibri" pitchFamily="34" charset="-122"/>
                <a:cs typeface="Calibri" pitchFamily="34" charset="-120"/>
              </a:rPr>
              <a:t>Auth: </a:t>
            </a:r>
            <a:r>
              <a:rPr lang="en-US" sz="1100" dirty="0">
                <a:solidFill>
                  <a:srgbClr val="FFFFFF"/>
                </a:solidFill>
                <a:latin typeface="Calibri" pitchFamily="34" charset="0"/>
                <a:ea typeface="Calibri" pitchFamily="34" charset="-122"/>
                <a:cs typeface="Calibri" pitchFamily="34" charset="-120"/>
              </a:rPr>
              <a:t>Firebase Authentication (JWT)</a:t>
            </a:r>
            <a:endParaRPr lang="en-US" sz="1100" dirty="0"/>
          </a:p>
        </p:txBody>
      </p:sp>
      <p:sp>
        <p:nvSpPr>
          <p:cNvPr id="11" name="Text 9"/>
          <p:cNvSpPr/>
          <p:nvPr/>
        </p:nvSpPr>
        <p:spPr>
          <a:xfrm>
            <a:off x="502920" y="4663440"/>
            <a:ext cx="5029200" cy="274320"/>
          </a:xfrm>
          <a:prstGeom prst="rect">
            <a:avLst/>
          </a:prstGeom>
          <a:noFill/>
          <a:ln/>
        </p:spPr>
        <p:txBody>
          <a:bodyPr wrap="square" lIns="0" tIns="0" rIns="0" bIns="0" rtlCol="0" anchor="ctr"/>
          <a:lstStyle/>
          <a:p>
            <a:pPr marL="0" indent="0">
              <a:buNone/>
            </a:pPr>
            <a:r>
              <a:rPr lang="en-US" sz="1000" i="1" dirty="0">
                <a:solidFill>
                  <a:srgbClr val="A8D5B5"/>
                </a:solidFill>
              </a:rPr>
              <a:t>University of Rajshahi  •  Computer Science &amp; Engineering</a:t>
            </a:r>
            <a:endParaRPr lang="en-US" sz="1000" dirty="0"/>
          </a:p>
        </p:txBody>
      </p:sp>
      <p:sp>
        <p:nvSpPr>
          <p:cNvPr id="12" name="Shape 10"/>
          <p:cNvSpPr/>
          <p:nvPr/>
        </p:nvSpPr>
        <p:spPr>
          <a:xfrm>
            <a:off x="5760720" y="365760"/>
            <a:ext cx="1508760" cy="2926080"/>
          </a:xfrm>
          <a:prstGeom prst="roundRect">
            <a:avLst>
              <a:gd name="adj" fmla="val 10909"/>
            </a:avLst>
          </a:prstGeom>
          <a:solidFill>
            <a:srgbClr val="222222"/>
          </a:solidFill>
          <a:ln/>
          <a:effectLst>
            <a:outerShdw blurRad="152400" dist="50800" dir="2700000" algn="bl" rotWithShape="0">
              <a:srgbClr val="000000">
                <a:alpha val="25000"/>
              </a:srgbClr>
            </a:outerShdw>
          </a:effectLst>
        </p:spPr>
      </p:sp>
      <p:sp>
        <p:nvSpPr>
          <p:cNvPr id="13" name="Shape 11"/>
          <p:cNvSpPr/>
          <p:nvPr/>
        </p:nvSpPr>
        <p:spPr>
          <a:xfrm>
            <a:off x="5833872" y="457200"/>
            <a:ext cx="1362456" cy="2761488"/>
          </a:xfrm>
          <a:prstGeom prst="rect">
            <a:avLst/>
          </a:prstGeom>
          <a:solidFill>
            <a:srgbClr val="EDEAE3"/>
          </a:solidFill>
          <a:ln/>
        </p:spPr>
      </p:sp>
      <p:sp>
        <p:nvSpPr>
          <p:cNvPr id="14" name="Shape 12"/>
          <p:cNvSpPr/>
          <p:nvPr/>
        </p:nvSpPr>
        <p:spPr>
          <a:xfrm>
            <a:off x="6286500" y="429768"/>
            <a:ext cx="457200" cy="91440"/>
          </a:xfrm>
          <a:prstGeom prst="roundRect">
            <a:avLst>
              <a:gd name="adj" fmla="val 40000"/>
            </a:avLst>
          </a:prstGeom>
          <a:solidFill>
            <a:srgbClr val="111111"/>
          </a:solidFill>
          <a:ln/>
        </p:spPr>
      </p:sp>
      <p:sp>
        <p:nvSpPr>
          <p:cNvPr id="15" name="Shape 13"/>
          <p:cNvSpPr/>
          <p:nvPr/>
        </p:nvSpPr>
        <p:spPr>
          <a:xfrm>
            <a:off x="5833872" y="457200"/>
            <a:ext cx="1362456" cy="201168"/>
          </a:xfrm>
          <a:prstGeom prst="rect">
            <a:avLst/>
          </a:prstGeom>
          <a:solidFill>
            <a:srgbClr val="2D5A3D"/>
          </a:solidFill>
          <a:ln/>
        </p:spPr>
      </p:sp>
      <p:sp>
        <p:nvSpPr>
          <p:cNvPr id="16" name="Text 14"/>
          <p:cNvSpPr/>
          <p:nvPr/>
        </p:nvSpPr>
        <p:spPr>
          <a:xfrm>
            <a:off x="5833872" y="457200"/>
            <a:ext cx="1362456" cy="201168"/>
          </a:xfrm>
          <a:prstGeom prst="rect">
            <a:avLst/>
          </a:prstGeom>
          <a:noFill/>
          <a:ln/>
        </p:spPr>
        <p:txBody>
          <a:bodyPr wrap="square" lIns="0" tIns="0" rIns="0" bIns="0" rtlCol="0" anchor="ctr"/>
          <a:lstStyle/>
          <a:p>
            <a:pPr marL="0" indent="0" algn="ctr">
              <a:buNone/>
            </a:pPr>
            <a:r>
              <a:rPr lang="en-US" sz="500" b="1" dirty="0">
                <a:solidFill>
                  <a:srgbClr val="FFFFFF"/>
                </a:solidFill>
              </a:rPr>
              <a:t>HallMenu RU</a:t>
            </a:r>
            <a:endParaRPr lang="en-US" sz="500" dirty="0"/>
          </a:p>
        </p:txBody>
      </p:sp>
      <p:sp>
        <p:nvSpPr>
          <p:cNvPr id="17" name="Shape 15"/>
          <p:cNvSpPr/>
          <p:nvPr/>
        </p:nvSpPr>
        <p:spPr>
          <a:xfrm>
            <a:off x="5852160" y="713232"/>
            <a:ext cx="132588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18" name="Text 16"/>
          <p:cNvSpPr/>
          <p:nvPr/>
        </p:nvSpPr>
        <p:spPr>
          <a:xfrm>
            <a:off x="5879592" y="713232"/>
            <a:ext cx="1271016" cy="210312"/>
          </a:xfrm>
          <a:prstGeom prst="rect">
            <a:avLst/>
          </a:prstGeom>
          <a:noFill/>
          <a:ln/>
        </p:spPr>
        <p:txBody>
          <a:bodyPr wrap="square" lIns="0" tIns="0" rIns="0" bIns="0" rtlCol="0" anchor="ctr"/>
          <a:lstStyle/>
          <a:p>
            <a:pPr marL="0" indent="0">
              <a:buNone/>
            </a:pPr>
            <a:r>
              <a:rPr lang="en-US" sz="450" dirty="0">
                <a:solidFill>
                  <a:srgbClr val="1A1A1A"/>
                </a:solidFill>
              </a:rPr>
              <a:t>🔍 Search hall name...</a:t>
            </a:r>
            <a:endParaRPr lang="en-US" sz="450" dirty="0"/>
          </a:p>
        </p:txBody>
      </p:sp>
      <p:sp>
        <p:nvSpPr>
          <p:cNvPr id="19" name="Shape 17"/>
          <p:cNvSpPr/>
          <p:nvPr/>
        </p:nvSpPr>
        <p:spPr>
          <a:xfrm>
            <a:off x="5852160" y="969264"/>
            <a:ext cx="132588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0" name="Text 18"/>
          <p:cNvSpPr/>
          <p:nvPr/>
        </p:nvSpPr>
        <p:spPr>
          <a:xfrm>
            <a:off x="5879592" y="969264"/>
            <a:ext cx="1271016" cy="210312"/>
          </a:xfrm>
          <a:prstGeom prst="rect">
            <a:avLst/>
          </a:prstGeom>
          <a:noFill/>
          <a:ln/>
        </p:spPr>
        <p:txBody>
          <a:bodyPr wrap="square" lIns="0" tIns="0" rIns="0" bIns="0" rtlCol="0" anchor="ctr"/>
          <a:lstStyle/>
          <a:p>
            <a:pPr marL="0" indent="0">
              <a:buNone/>
            </a:pPr>
            <a:r>
              <a:rPr lang="en-US" sz="450" dirty="0">
                <a:solidFill>
                  <a:srgbClr val="1A1A1A"/>
                </a:solidFill>
              </a:rPr>
              <a:t>📋 All  |  Male  |  Female</a:t>
            </a:r>
            <a:endParaRPr lang="en-US" sz="450" dirty="0"/>
          </a:p>
        </p:txBody>
      </p:sp>
      <p:sp>
        <p:nvSpPr>
          <p:cNvPr id="21" name="Shape 19"/>
          <p:cNvSpPr/>
          <p:nvPr/>
        </p:nvSpPr>
        <p:spPr>
          <a:xfrm>
            <a:off x="5852160" y="1225296"/>
            <a:ext cx="132588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2" name="Text 20"/>
          <p:cNvSpPr/>
          <p:nvPr/>
        </p:nvSpPr>
        <p:spPr>
          <a:xfrm>
            <a:off x="5879592" y="1225296"/>
            <a:ext cx="1271016" cy="210312"/>
          </a:xfrm>
          <a:prstGeom prst="rect">
            <a:avLst/>
          </a:prstGeom>
          <a:noFill/>
          <a:ln/>
        </p:spPr>
        <p:txBody>
          <a:bodyPr wrap="square" lIns="0" tIns="0" rIns="0" bIns="0" rtlCol="0" anchor="ctr"/>
          <a:lstStyle/>
          <a:p>
            <a:pPr marL="0" indent="0">
              <a:buNone/>
            </a:pPr>
            <a:r>
              <a:rPr lang="en-US" sz="450" dirty="0">
                <a:solidFill>
                  <a:srgbClr val="1A1A1A"/>
                </a:solidFill>
              </a:rPr>
              <a:t>🏠 Shaheed Habibur Hall</a:t>
            </a:r>
            <a:endParaRPr lang="en-US" sz="450" dirty="0"/>
          </a:p>
        </p:txBody>
      </p:sp>
      <p:sp>
        <p:nvSpPr>
          <p:cNvPr id="23" name="Shape 21"/>
          <p:cNvSpPr/>
          <p:nvPr/>
        </p:nvSpPr>
        <p:spPr>
          <a:xfrm>
            <a:off x="5852160" y="1481328"/>
            <a:ext cx="132588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4" name="Text 22"/>
          <p:cNvSpPr/>
          <p:nvPr/>
        </p:nvSpPr>
        <p:spPr>
          <a:xfrm>
            <a:off x="5879592" y="1481328"/>
            <a:ext cx="1271016" cy="210312"/>
          </a:xfrm>
          <a:prstGeom prst="rect">
            <a:avLst/>
          </a:prstGeom>
          <a:noFill/>
          <a:ln/>
        </p:spPr>
        <p:txBody>
          <a:bodyPr wrap="square" lIns="0" tIns="0" rIns="0" bIns="0" rtlCol="0" anchor="ctr"/>
          <a:lstStyle/>
          <a:p>
            <a:pPr marL="0" indent="0">
              <a:buNone/>
            </a:pPr>
            <a:r>
              <a:rPr lang="en-US" sz="450" dirty="0">
                <a:solidFill>
                  <a:srgbClr val="1A1A1A"/>
                </a:solidFill>
              </a:rPr>
              <a:t>🏠 Begum Rokeya Hall</a:t>
            </a:r>
            <a:endParaRPr lang="en-US" sz="450" dirty="0"/>
          </a:p>
        </p:txBody>
      </p:sp>
      <p:sp>
        <p:nvSpPr>
          <p:cNvPr id="25" name="Shape 23"/>
          <p:cNvSpPr/>
          <p:nvPr/>
        </p:nvSpPr>
        <p:spPr>
          <a:xfrm>
            <a:off x="5852160" y="1737360"/>
            <a:ext cx="132588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6" name="Text 24"/>
          <p:cNvSpPr/>
          <p:nvPr/>
        </p:nvSpPr>
        <p:spPr>
          <a:xfrm>
            <a:off x="5879592" y="1737360"/>
            <a:ext cx="1271016" cy="210312"/>
          </a:xfrm>
          <a:prstGeom prst="rect">
            <a:avLst/>
          </a:prstGeom>
          <a:noFill/>
          <a:ln/>
        </p:spPr>
        <p:txBody>
          <a:bodyPr wrap="square" lIns="0" tIns="0" rIns="0" bIns="0" rtlCol="0" anchor="ctr"/>
          <a:lstStyle/>
          <a:p>
            <a:pPr marL="0" indent="0">
              <a:buNone/>
            </a:pPr>
            <a:r>
              <a:rPr lang="en-US" sz="450" dirty="0">
                <a:solidFill>
                  <a:srgbClr val="1A1A1A"/>
                </a:solidFill>
              </a:rPr>
              <a:t>🏠 Sher-e-Bangla Hall</a:t>
            </a:r>
            <a:endParaRPr lang="en-US" sz="450" dirty="0"/>
          </a:p>
        </p:txBody>
      </p:sp>
      <p:sp>
        <p:nvSpPr>
          <p:cNvPr id="27" name="Shape 25"/>
          <p:cNvSpPr/>
          <p:nvPr/>
        </p:nvSpPr>
        <p:spPr>
          <a:xfrm>
            <a:off x="7406640" y="822960"/>
            <a:ext cx="1508760" cy="2926080"/>
          </a:xfrm>
          <a:prstGeom prst="roundRect">
            <a:avLst>
              <a:gd name="adj" fmla="val 10909"/>
            </a:avLst>
          </a:prstGeom>
          <a:solidFill>
            <a:srgbClr val="222222"/>
          </a:solidFill>
          <a:ln/>
          <a:effectLst>
            <a:outerShdw blurRad="152400" dist="50800" dir="2700000" algn="bl" rotWithShape="0">
              <a:srgbClr val="000000">
                <a:alpha val="25000"/>
              </a:srgbClr>
            </a:outerShdw>
          </a:effectLst>
        </p:spPr>
      </p:sp>
      <p:sp>
        <p:nvSpPr>
          <p:cNvPr id="28" name="Shape 26"/>
          <p:cNvSpPr/>
          <p:nvPr/>
        </p:nvSpPr>
        <p:spPr>
          <a:xfrm>
            <a:off x="7479792" y="914400"/>
            <a:ext cx="1362456" cy="2761488"/>
          </a:xfrm>
          <a:prstGeom prst="rect">
            <a:avLst/>
          </a:prstGeom>
          <a:solidFill>
            <a:srgbClr val="EDEAE3"/>
          </a:solidFill>
          <a:ln/>
        </p:spPr>
      </p:sp>
      <p:sp>
        <p:nvSpPr>
          <p:cNvPr id="29" name="Shape 27"/>
          <p:cNvSpPr/>
          <p:nvPr/>
        </p:nvSpPr>
        <p:spPr>
          <a:xfrm>
            <a:off x="7932420" y="886968"/>
            <a:ext cx="457200" cy="91440"/>
          </a:xfrm>
          <a:prstGeom prst="roundRect">
            <a:avLst>
              <a:gd name="adj" fmla="val 40000"/>
            </a:avLst>
          </a:prstGeom>
          <a:solidFill>
            <a:srgbClr val="111111"/>
          </a:solidFill>
          <a:ln/>
        </p:spPr>
      </p:sp>
      <p:sp>
        <p:nvSpPr>
          <p:cNvPr id="30" name="Shape 28"/>
          <p:cNvSpPr/>
          <p:nvPr/>
        </p:nvSpPr>
        <p:spPr>
          <a:xfrm>
            <a:off x="7479792" y="914400"/>
            <a:ext cx="1362456" cy="201168"/>
          </a:xfrm>
          <a:prstGeom prst="rect">
            <a:avLst/>
          </a:prstGeom>
          <a:solidFill>
            <a:srgbClr val="2D5A3D"/>
          </a:solidFill>
          <a:ln/>
        </p:spPr>
      </p:sp>
      <p:sp>
        <p:nvSpPr>
          <p:cNvPr id="31" name="Text 29"/>
          <p:cNvSpPr/>
          <p:nvPr/>
        </p:nvSpPr>
        <p:spPr>
          <a:xfrm>
            <a:off x="7479792" y="914400"/>
            <a:ext cx="1362456" cy="201168"/>
          </a:xfrm>
          <a:prstGeom prst="rect">
            <a:avLst/>
          </a:prstGeom>
          <a:noFill/>
          <a:ln/>
        </p:spPr>
        <p:txBody>
          <a:bodyPr wrap="square" lIns="0" tIns="0" rIns="0" bIns="0" rtlCol="0" anchor="ctr"/>
          <a:lstStyle/>
          <a:p>
            <a:pPr marL="0" indent="0" algn="ctr">
              <a:buNone/>
            </a:pPr>
            <a:r>
              <a:rPr lang="en-US" sz="500" b="1" dirty="0">
                <a:solidFill>
                  <a:srgbClr val="FFFFFF"/>
                </a:solidFill>
              </a:rPr>
              <a:t>Today's Menu</a:t>
            </a:r>
            <a:endParaRPr lang="en-US" sz="500" dirty="0"/>
          </a:p>
        </p:txBody>
      </p:sp>
      <p:sp>
        <p:nvSpPr>
          <p:cNvPr id="32" name="Shape 30"/>
          <p:cNvSpPr/>
          <p:nvPr/>
        </p:nvSpPr>
        <p:spPr>
          <a:xfrm>
            <a:off x="7498080" y="1170432"/>
            <a:ext cx="132588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7525512" y="1170432"/>
            <a:ext cx="1271016" cy="210312"/>
          </a:xfrm>
          <a:prstGeom prst="rect">
            <a:avLst/>
          </a:prstGeom>
          <a:noFill/>
          <a:ln/>
        </p:spPr>
        <p:txBody>
          <a:bodyPr wrap="square" lIns="0" tIns="0" rIns="0" bIns="0" rtlCol="0" anchor="ctr"/>
          <a:lstStyle/>
          <a:p>
            <a:pPr marL="0" indent="0">
              <a:buNone/>
            </a:pPr>
            <a:r>
              <a:rPr lang="en-US" sz="450" dirty="0">
                <a:solidFill>
                  <a:srgbClr val="1A1A1A"/>
                </a:solidFill>
              </a:rPr>
              <a:t>Breakfast  |  Lunch  |  Dinner</a:t>
            </a:r>
            <a:endParaRPr lang="en-US" sz="450" dirty="0"/>
          </a:p>
        </p:txBody>
      </p:sp>
      <p:sp>
        <p:nvSpPr>
          <p:cNvPr id="34" name="Shape 32"/>
          <p:cNvSpPr/>
          <p:nvPr/>
        </p:nvSpPr>
        <p:spPr>
          <a:xfrm>
            <a:off x="7498080" y="1426464"/>
            <a:ext cx="132588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5" name="Text 33"/>
          <p:cNvSpPr/>
          <p:nvPr/>
        </p:nvSpPr>
        <p:spPr>
          <a:xfrm>
            <a:off x="7525512" y="1426464"/>
            <a:ext cx="1271016" cy="210312"/>
          </a:xfrm>
          <a:prstGeom prst="rect">
            <a:avLst/>
          </a:prstGeom>
          <a:noFill/>
          <a:ln/>
        </p:spPr>
        <p:txBody>
          <a:bodyPr wrap="square" lIns="0" tIns="0" rIns="0" bIns="0" rtlCol="0" anchor="ctr"/>
          <a:lstStyle/>
          <a:p>
            <a:pPr marL="0" indent="0">
              <a:buNone/>
            </a:pPr>
            <a:r>
              <a:rPr lang="en-US" sz="450" dirty="0">
                <a:solidFill>
                  <a:srgbClr val="1A1A1A"/>
                </a:solidFill>
              </a:rPr>
              <a:t>🍚 Vat  ৳10  ✅ AVAILABLE</a:t>
            </a:r>
            <a:endParaRPr lang="en-US" sz="450" dirty="0"/>
          </a:p>
        </p:txBody>
      </p:sp>
      <p:sp>
        <p:nvSpPr>
          <p:cNvPr id="36" name="Shape 34"/>
          <p:cNvSpPr/>
          <p:nvPr/>
        </p:nvSpPr>
        <p:spPr>
          <a:xfrm>
            <a:off x="7498080" y="1682496"/>
            <a:ext cx="132588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7" name="Text 35"/>
          <p:cNvSpPr/>
          <p:nvPr/>
        </p:nvSpPr>
        <p:spPr>
          <a:xfrm>
            <a:off x="7525512" y="1682496"/>
            <a:ext cx="1271016" cy="210312"/>
          </a:xfrm>
          <a:prstGeom prst="rect">
            <a:avLst/>
          </a:prstGeom>
          <a:noFill/>
          <a:ln/>
        </p:spPr>
        <p:txBody>
          <a:bodyPr wrap="square" lIns="0" tIns="0" rIns="0" bIns="0" rtlCol="0" anchor="ctr"/>
          <a:lstStyle/>
          <a:p>
            <a:pPr marL="0" indent="0">
              <a:buNone/>
            </a:pPr>
            <a:r>
              <a:rPr lang="en-US" sz="450" dirty="0">
                <a:solidFill>
                  <a:srgbClr val="1A1A1A"/>
                </a:solidFill>
              </a:rPr>
              <a:t>🥚 Dim  ৳20  ⚠️ LOW</a:t>
            </a:r>
            <a:endParaRPr lang="en-US" sz="450" dirty="0"/>
          </a:p>
        </p:txBody>
      </p:sp>
      <p:sp>
        <p:nvSpPr>
          <p:cNvPr id="38" name="Shape 36"/>
          <p:cNvSpPr/>
          <p:nvPr/>
        </p:nvSpPr>
        <p:spPr>
          <a:xfrm>
            <a:off x="7498080" y="1938528"/>
            <a:ext cx="132588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9" name="Text 37"/>
          <p:cNvSpPr/>
          <p:nvPr/>
        </p:nvSpPr>
        <p:spPr>
          <a:xfrm>
            <a:off x="7525512" y="1938528"/>
            <a:ext cx="1271016" cy="210312"/>
          </a:xfrm>
          <a:prstGeom prst="rect">
            <a:avLst/>
          </a:prstGeom>
          <a:noFill/>
          <a:ln/>
        </p:spPr>
        <p:txBody>
          <a:bodyPr wrap="square" lIns="0" tIns="0" rIns="0" bIns="0" rtlCol="0" anchor="ctr"/>
          <a:lstStyle/>
          <a:p>
            <a:pPr marL="0" indent="0">
              <a:buNone/>
            </a:pPr>
            <a:r>
              <a:rPr lang="en-US" sz="450" dirty="0">
                <a:solidFill>
                  <a:srgbClr val="1A1A1A"/>
                </a:solidFill>
              </a:rPr>
              <a:t>🫕 Dal  ৳15  ✅ AVAILABLE</a:t>
            </a:r>
            <a:endParaRPr lang="en-US" sz="450" dirty="0"/>
          </a:p>
        </p:txBody>
      </p:sp>
      <p:sp>
        <p:nvSpPr>
          <p:cNvPr id="40" name="Shape 38"/>
          <p:cNvSpPr/>
          <p:nvPr/>
        </p:nvSpPr>
        <p:spPr>
          <a:xfrm>
            <a:off x="7498080" y="2194560"/>
            <a:ext cx="132588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41" name="Text 39"/>
          <p:cNvSpPr/>
          <p:nvPr/>
        </p:nvSpPr>
        <p:spPr>
          <a:xfrm>
            <a:off x="7525512" y="2194560"/>
            <a:ext cx="1271016" cy="210312"/>
          </a:xfrm>
          <a:prstGeom prst="rect">
            <a:avLst/>
          </a:prstGeom>
          <a:noFill/>
          <a:ln/>
        </p:spPr>
        <p:txBody>
          <a:bodyPr wrap="square" lIns="0" tIns="0" rIns="0" bIns="0" rtlCol="0" anchor="ctr"/>
          <a:lstStyle/>
          <a:p>
            <a:pPr marL="0" indent="0">
              <a:buNone/>
            </a:pPr>
            <a:r>
              <a:rPr lang="en-US" sz="450" dirty="0">
                <a:solidFill>
                  <a:srgbClr val="1A1A1A"/>
                </a:solidFill>
              </a:rPr>
              <a:t>🍗 Chicken ৳50  ✅ AVAILABLE</a:t>
            </a:r>
            <a:endParaRPr lang="en-US" sz="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7449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D5A3D"/>
          </a:solidFill>
          <a:ln/>
        </p:spPr>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Presentation Outline</a:t>
            </a:r>
            <a:endParaRPr lang="en-US" sz="2800" dirty="0"/>
          </a:p>
        </p:txBody>
      </p:sp>
      <p:sp>
        <p:nvSpPr>
          <p:cNvPr id="4" name="Shape 2"/>
          <p:cNvSpPr/>
          <p:nvPr/>
        </p:nvSpPr>
        <p:spPr>
          <a:xfrm>
            <a:off x="365760" y="1005840"/>
            <a:ext cx="4114800" cy="502920"/>
          </a:xfrm>
          <a:prstGeom prst="roundRect">
            <a:avLst>
              <a:gd name="adj" fmla="val 18182"/>
            </a:avLst>
          </a:prstGeom>
          <a:solidFill>
            <a:srgbClr val="F8F8F8"/>
          </a:solidFill>
          <a:ln/>
          <a:effectLst>
            <a:outerShdw blurRad="76200" dist="25400" dir="2700000" algn="bl" rotWithShape="0">
              <a:srgbClr val="000000">
                <a:alpha val="10000"/>
              </a:srgbClr>
            </a:outerShdw>
          </a:effectLst>
        </p:spPr>
      </p:sp>
      <p:sp>
        <p:nvSpPr>
          <p:cNvPr id="5" name="Shape 3"/>
          <p:cNvSpPr/>
          <p:nvPr/>
        </p:nvSpPr>
        <p:spPr>
          <a:xfrm>
            <a:off x="457200" y="1078992"/>
            <a:ext cx="347472" cy="347472"/>
          </a:xfrm>
          <a:prstGeom prst="roundRect">
            <a:avLst>
              <a:gd name="adj" fmla="val 13158"/>
            </a:avLst>
          </a:prstGeom>
          <a:solidFill>
            <a:srgbClr val="2D5A3D"/>
          </a:solidFill>
          <a:ln/>
        </p:spPr>
      </p:sp>
      <p:sp>
        <p:nvSpPr>
          <p:cNvPr id="6" name="Text 4"/>
          <p:cNvSpPr/>
          <p:nvPr/>
        </p:nvSpPr>
        <p:spPr>
          <a:xfrm>
            <a:off x="457200" y="1078992"/>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rPr>
              <a:t>01</a:t>
            </a:r>
            <a:endParaRPr lang="en-US" sz="1000" dirty="0"/>
          </a:p>
        </p:txBody>
      </p:sp>
      <p:sp>
        <p:nvSpPr>
          <p:cNvPr id="7" name="Text 5"/>
          <p:cNvSpPr/>
          <p:nvPr/>
        </p:nvSpPr>
        <p:spPr>
          <a:xfrm>
            <a:off x="914400" y="1060704"/>
            <a:ext cx="3200400" cy="219456"/>
          </a:xfrm>
          <a:prstGeom prst="rect">
            <a:avLst/>
          </a:prstGeom>
          <a:noFill/>
          <a:ln/>
        </p:spPr>
        <p:txBody>
          <a:bodyPr wrap="square" lIns="0" tIns="0" rIns="0" bIns="0" rtlCol="0" anchor="ctr"/>
          <a:lstStyle/>
          <a:p>
            <a:pPr marL="0" indent="0">
              <a:buNone/>
            </a:pPr>
            <a:r>
              <a:rPr lang="en-US" sz="1200" b="1" dirty="0">
                <a:solidFill>
                  <a:srgbClr val="1A1A1A"/>
                </a:solidFill>
              </a:rPr>
              <a:t>Problem Statement</a:t>
            </a:r>
            <a:endParaRPr lang="en-US" sz="1200" dirty="0"/>
          </a:p>
        </p:txBody>
      </p:sp>
      <p:sp>
        <p:nvSpPr>
          <p:cNvPr id="8" name="Text 6"/>
          <p:cNvSpPr/>
          <p:nvPr/>
        </p:nvSpPr>
        <p:spPr>
          <a:xfrm>
            <a:off x="914400" y="1261872"/>
            <a:ext cx="3200400" cy="182880"/>
          </a:xfrm>
          <a:prstGeom prst="rect">
            <a:avLst/>
          </a:prstGeom>
          <a:noFill/>
          <a:ln/>
        </p:spPr>
        <p:txBody>
          <a:bodyPr wrap="square" lIns="0" tIns="0" rIns="0" bIns="0" rtlCol="0" anchor="ctr"/>
          <a:lstStyle/>
          <a:p>
            <a:pPr marL="0" indent="0">
              <a:buNone/>
            </a:pPr>
            <a:r>
              <a:rPr lang="en-US" sz="900" dirty="0">
                <a:solidFill>
                  <a:srgbClr val="6B6B60"/>
                </a:solidFill>
              </a:rPr>
              <a:t>Why this app was needed</a:t>
            </a:r>
            <a:endParaRPr lang="en-US" sz="900" dirty="0"/>
          </a:p>
        </p:txBody>
      </p:sp>
      <p:sp>
        <p:nvSpPr>
          <p:cNvPr id="9" name="Shape 7"/>
          <p:cNvSpPr/>
          <p:nvPr/>
        </p:nvSpPr>
        <p:spPr>
          <a:xfrm>
            <a:off x="365760" y="1609344"/>
            <a:ext cx="4114800" cy="502920"/>
          </a:xfrm>
          <a:prstGeom prst="roundRect">
            <a:avLst>
              <a:gd name="adj" fmla="val 18182"/>
            </a:avLst>
          </a:prstGeom>
          <a:solidFill>
            <a:srgbClr val="F8F8F8"/>
          </a:solidFill>
          <a:ln/>
          <a:effectLst>
            <a:outerShdw blurRad="76200" dist="25400" dir="2700000" algn="bl" rotWithShape="0">
              <a:srgbClr val="000000">
                <a:alpha val="10000"/>
              </a:srgbClr>
            </a:outerShdw>
          </a:effectLst>
        </p:spPr>
      </p:sp>
      <p:sp>
        <p:nvSpPr>
          <p:cNvPr id="10" name="Shape 8"/>
          <p:cNvSpPr/>
          <p:nvPr/>
        </p:nvSpPr>
        <p:spPr>
          <a:xfrm>
            <a:off x="457200" y="1682496"/>
            <a:ext cx="347472" cy="347472"/>
          </a:xfrm>
          <a:prstGeom prst="roundRect">
            <a:avLst>
              <a:gd name="adj" fmla="val 13158"/>
            </a:avLst>
          </a:prstGeom>
          <a:solidFill>
            <a:srgbClr val="2D5A3D"/>
          </a:solidFill>
          <a:ln/>
        </p:spPr>
      </p:sp>
      <p:sp>
        <p:nvSpPr>
          <p:cNvPr id="11" name="Text 9"/>
          <p:cNvSpPr/>
          <p:nvPr/>
        </p:nvSpPr>
        <p:spPr>
          <a:xfrm>
            <a:off x="457200" y="1682496"/>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rPr>
              <a:t>02</a:t>
            </a:r>
            <a:endParaRPr lang="en-US" sz="1000" dirty="0"/>
          </a:p>
        </p:txBody>
      </p:sp>
      <p:sp>
        <p:nvSpPr>
          <p:cNvPr id="12" name="Text 10"/>
          <p:cNvSpPr/>
          <p:nvPr/>
        </p:nvSpPr>
        <p:spPr>
          <a:xfrm>
            <a:off x="914400" y="1664208"/>
            <a:ext cx="3200400" cy="219456"/>
          </a:xfrm>
          <a:prstGeom prst="rect">
            <a:avLst/>
          </a:prstGeom>
          <a:noFill/>
          <a:ln/>
        </p:spPr>
        <p:txBody>
          <a:bodyPr wrap="square" lIns="0" tIns="0" rIns="0" bIns="0" rtlCol="0" anchor="ctr"/>
          <a:lstStyle/>
          <a:p>
            <a:pPr marL="0" indent="0">
              <a:buNone/>
            </a:pPr>
            <a:r>
              <a:rPr lang="en-US" sz="1200" b="1" dirty="0">
                <a:solidFill>
                  <a:srgbClr val="1A1A1A"/>
                </a:solidFill>
              </a:rPr>
              <a:t>Proposed Solution</a:t>
            </a:r>
            <a:endParaRPr lang="en-US" sz="1200" dirty="0"/>
          </a:p>
        </p:txBody>
      </p:sp>
      <p:sp>
        <p:nvSpPr>
          <p:cNvPr id="13" name="Text 11"/>
          <p:cNvSpPr/>
          <p:nvPr/>
        </p:nvSpPr>
        <p:spPr>
          <a:xfrm>
            <a:off x="914400" y="1865376"/>
            <a:ext cx="3200400" cy="182880"/>
          </a:xfrm>
          <a:prstGeom prst="rect">
            <a:avLst/>
          </a:prstGeom>
          <a:noFill/>
          <a:ln/>
        </p:spPr>
        <p:txBody>
          <a:bodyPr wrap="square" lIns="0" tIns="0" rIns="0" bIns="0" rtlCol="0" anchor="ctr"/>
          <a:lstStyle/>
          <a:p>
            <a:pPr marL="0" indent="0">
              <a:buNone/>
            </a:pPr>
            <a:r>
              <a:rPr lang="en-US" sz="900" dirty="0">
                <a:solidFill>
                  <a:srgbClr val="6B6B60"/>
                </a:solidFill>
              </a:rPr>
              <a:t>What HallMenu RU does</a:t>
            </a:r>
            <a:endParaRPr lang="en-US" sz="900" dirty="0"/>
          </a:p>
        </p:txBody>
      </p:sp>
      <p:sp>
        <p:nvSpPr>
          <p:cNvPr id="14" name="Shape 12"/>
          <p:cNvSpPr/>
          <p:nvPr/>
        </p:nvSpPr>
        <p:spPr>
          <a:xfrm>
            <a:off x="365760" y="2212848"/>
            <a:ext cx="4114800" cy="502920"/>
          </a:xfrm>
          <a:prstGeom prst="roundRect">
            <a:avLst>
              <a:gd name="adj" fmla="val 18182"/>
            </a:avLst>
          </a:prstGeom>
          <a:solidFill>
            <a:srgbClr val="F8F8F8"/>
          </a:solidFill>
          <a:ln/>
          <a:effectLst>
            <a:outerShdw blurRad="76200" dist="25400" dir="2700000" algn="bl" rotWithShape="0">
              <a:srgbClr val="000000">
                <a:alpha val="10000"/>
              </a:srgbClr>
            </a:outerShdw>
          </a:effectLst>
        </p:spPr>
      </p:sp>
      <p:sp>
        <p:nvSpPr>
          <p:cNvPr id="15" name="Shape 13"/>
          <p:cNvSpPr/>
          <p:nvPr/>
        </p:nvSpPr>
        <p:spPr>
          <a:xfrm>
            <a:off x="457200" y="2286000"/>
            <a:ext cx="347472" cy="347472"/>
          </a:xfrm>
          <a:prstGeom prst="roundRect">
            <a:avLst>
              <a:gd name="adj" fmla="val 13158"/>
            </a:avLst>
          </a:prstGeom>
          <a:solidFill>
            <a:srgbClr val="2D5A3D"/>
          </a:solidFill>
          <a:ln/>
        </p:spPr>
      </p:sp>
      <p:sp>
        <p:nvSpPr>
          <p:cNvPr id="16" name="Text 14"/>
          <p:cNvSpPr/>
          <p:nvPr/>
        </p:nvSpPr>
        <p:spPr>
          <a:xfrm>
            <a:off x="457200" y="2286000"/>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rPr>
              <a:t>03</a:t>
            </a:r>
            <a:endParaRPr lang="en-US" sz="1000" dirty="0"/>
          </a:p>
        </p:txBody>
      </p:sp>
      <p:sp>
        <p:nvSpPr>
          <p:cNvPr id="17" name="Text 15"/>
          <p:cNvSpPr/>
          <p:nvPr/>
        </p:nvSpPr>
        <p:spPr>
          <a:xfrm>
            <a:off x="914400" y="2267712"/>
            <a:ext cx="3200400" cy="219456"/>
          </a:xfrm>
          <a:prstGeom prst="rect">
            <a:avLst/>
          </a:prstGeom>
          <a:noFill/>
          <a:ln/>
        </p:spPr>
        <p:txBody>
          <a:bodyPr wrap="square" lIns="0" tIns="0" rIns="0" bIns="0" rtlCol="0" anchor="ctr"/>
          <a:lstStyle/>
          <a:p>
            <a:pPr marL="0" indent="0">
              <a:buNone/>
            </a:pPr>
            <a:r>
              <a:rPr lang="en-US" sz="1200" b="1" dirty="0">
                <a:solidFill>
                  <a:srgbClr val="1A1A1A"/>
                </a:solidFill>
              </a:rPr>
              <a:t>Target Users</a:t>
            </a:r>
            <a:endParaRPr lang="en-US" sz="1200" dirty="0"/>
          </a:p>
        </p:txBody>
      </p:sp>
      <p:sp>
        <p:nvSpPr>
          <p:cNvPr id="18" name="Text 16"/>
          <p:cNvSpPr/>
          <p:nvPr/>
        </p:nvSpPr>
        <p:spPr>
          <a:xfrm>
            <a:off x="914400" y="2468880"/>
            <a:ext cx="3200400" cy="182880"/>
          </a:xfrm>
          <a:prstGeom prst="rect">
            <a:avLst/>
          </a:prstGeom>
          <a:noFill/>
          <a:ln/>
        </p:spPr>
        <p:txBody>
          <a:bodyPr wrap="square" lIns="0" tIns="0" rIns="0" bIns="0" rtlCol="0" anchor="ctr"/>
          <a:lstStyle/>
          <a:p>
            <a:pPr marL="0" indent="0">
              <a:buNone/>
            </a:pPr>
            <a:r>
              <a:rPr lang="en-US" sz="900" dirty="0">
                <a:solidFill>
                  <a:srgbClr val="6B6B60"/>
                </a:solidFill>
              </a:rPr>
              <a:t>Who uses it and how</a:t>
            </a:r>
            <a:endParaRPr lang="en-US" sz="900" dirty="0"/>
          </a:p>
        </p:txBody>
      </p:sp>
      <p:sp>
        <p:nvSpPr>
          <p:cNvPr id="19" name="Shape 17"/>
          <p:cNvSpPr/>
          <p:nvPr/>
        </p:nvSpPr>
        <p:spPr>
          <a:xfrm>
            <a:off x="365760" y="2816352"/>
            <a:ext cx="4114800" cy="502920"/>
          </a:xfrm>
          <a:prstGeom prst="roundRect">
            <a:avLst>
              <a:gd name="adj" fmla="val 18182"/>
            </a:avLst>
          </a:prstGeom>
          <a:solidFill>
            <a:srgbClr val="F8F8F8"/>
          </a:solidFill>
          <a:ln/>
          <a:effectLst>
            <a:outerShdw blurRad="76200" dist="25400" dir="2700000" algn="bl" rotWithShape="0">
              <a:srgbClr val="000000">
                <a:alpha val="10000"/>
              </a:srgbClr>
            </a:outerShdw>
          </a:effectLst>
        </p:spPr>
      </p:sp>
      <p:sp>
        <p:nvSpPr>
          <p:cNvPr id="20" name="Shape 18"/>
          <p:cNvSpPr/>
          <p:nvPr/>
        </p:nvSpPr>
        <p:spPr>
          <a:xfrm>
            <a:off x="457200" y="2889504"/>
            <a:ext cx="347472" cy="347472"/>
          </a:xfrm>
          <a:prstGeom prst="roundRect">
            <a:avLst>
              <a:gd name="adj" fmla="val 13158"/>
            </a:avLst>
          </a:prstGeom>
          <a:solidFill>
            <a:srgbClr val="2D5A3D"/>
          </a:solidFill>
          <a:ln/>
        </p:spPr>
      </p:sp>
      <p:sp>
        <p:nvSpPr>
          <p:cNvPr id="21" name="Text 19"/>
          <p:cNvSpPr/>
          <p:nvPr/>
        </p:nvSpPr>
        <p:spPr>
          <a:xfrm>
            <a:off x="457200" y="2889504"/>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rPr>
              <a:t>04</a:t>
            </a:r>
            <a:endParaRPr lang="en-US" sz="1000" dirty="0"/>
          </a:p>
        </p:txBody>
      </p:sp>
      <p:sp>
        <p:nvSpPr>
          <p:cNvPr id="22" name="Text 20"/>
          <p:cNvSpPr/>
          <p:nvPr/>
        </p:nvSpPr>
        <p:spPr>
          <a:xfrm>
            <a:off x="914400" y="2871216"/>
            <a:ext cx="3200400" cy="219456"/>
          </a:xfrm>
          <a:prstGeom prst="rect">
            <a:avLst/>
          </a:prstGeom>
          <a:noFill/>
          <a:ln/>
        </p:spPr>
        <p:txBody>
          <a:bodyPr wrap="square" lIns="0" tIns="0" rIns="0" bIns="0" rtlCol="0" anchor="ctr"/>
          <a:lstStyle/>
          <a:p>
            <a:pPr marL="0" indent="0">
              <a:buNone/>
            </a:pPr>
            <a:r>
              <a:rPr lang="en-US" sz="1200" b="1" dirty="0">
                <a:solidFill>
                  <a:srgbClr val="1A1A1A"/>
                </a:solidFill>
              </a:rPr>
              <a:t>Key Features</a:t>
            </a:r>
            <a:endParaRPr lang="en-US" sz="1200" dirty="0"/>
          </a:p>
        </p:txBody>
      </p:sp>
      <p:sp>
        <p:nvSpPr>
          <p:cNvPr id="23" name="Text 21"/>
          <p:cNvSpPr/>
          <p:nvPr/>
        </p:nvSpPr>
        <p:spPr>
          <a:xfrm>
            <a:off x="914400" y="3072384"/>
            <a:ext cx="3200400" cy="182880"/>
          </a:xfrm>
          <a:prstGeom prst="rect">
            <a:avLst/>
          </a:prstGeom>
          <a:noFill/>
          <a:ln/>
        </p:spPr>
        <p:txBody>
          <a:bodyPr wrap="square" lIns="0" tIns="0" rIns="0" bIns="0" rtlCol="0" anchor="ctr"/>
          <a:lstStyle/>
          <a:p>
            <a:pPr marL="0" indent="0">
              <a:buNone/>
            </a:pPr>
            <a:r>
              <a:rPr lang="en-US" sz="900" dirty="0">
                <a:solidFill>
                  <a:srgbClr val="6B6B60"/>
                </a:solidFill>
              </a:rPr>
              <a:t>Core capabilities</a:t>
            </a:r>
            <a:endParaRPr lang="en-US" sz="900" dirty="0"/>
          </a:p>
        </p:txBody>
      </p:sp>
      <p:sp>
        <p:nvSpPr>
          <p:cNvPr id="24" name="Shape 22"/>
          <p:cNvSpPr/>
          <p:nvPr/>
        </p:nvSpPr>
        <p:spPr>
          <a:xfrm>
            <a:off x="365760" y="3419856"/>
            <a:ext cx="4114800" cy="502920"/>
          </a:xfrm>
          <a:prstGeom prst="roundRect">
            <a:avLst>
              <a:gd name="adj" fmla="val 18182"/>
            </a:avLst>
          </a:prstGeom>
          <a:solidFill>
            <a:srgbClr val="F8F8F8"/>
          </a:solidFill>
          <a:ln/>
          <a:effectLst>
            <a:outerShdw blurRad="76200" dist="25400" dir="2700000" algn="bl" rotWithShape="0">
              <a:srgbClr val="000000">
                <a:alpha val="10000"/>
              </a:srgbClr>
            </a:outerShdw>
          </a:effectLst>
        </p:spPr>
      </p:sp>
      <p:sp>
        <p:nvSpPr>
          <p:cNvPr id="25" name="Shape 23"/>
          <p:cNvSpPr/>
          <p:nvPr/>
        </p:nvSpPr>
        <p:spPr>
          <a:xfrm>
            <a:off x="457200" y="3493008"/>
            <a:ext cx="347472" cy="347472"/>
          </a:xfrm>
          <a:prstGeom prst="roundRect">
            <a:avLst>
              <a:gd name="adj" fmla="val 13158"/>
            </a:avLst>
          </a:prstGeom>
          <a:solidFill>
            <a:srgbClr val="2D5A3D"/>
          </a:solidFill>
          <a:ln/>
        </p:spPr>
      </p:sp>
      <p:sp>
        <p:nvSpPr>
          <p:cNvPr id="26" name="Text 24"/>
          <p:cNvSpPr/>
          <p:nvPr/>
        </p:nvSpPr>
        <p:spPr>
          <a:xfrm>
            <a:off x="457200" y="3493008"/>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rPr>
              <a:t>05</a:t>
            </a:r>
            <a:endParaRPr lang="en-US" sz="1000" dirty="0"/>
          </a:p>
        </p:txBody>
      </p:sp>
      <p:sp>
        <p:nvSpPr>
          <p:cNvPr id="27" name="Text 25"/>
          <p:cNvSpPr/>
          <p:nvPr/>
        </p:nvSpPr>
        <p:spPr>
          <a:xfrm>
            <a:off x="914400" y="3474720"/>
            <a:ext cx="3200400" cy="219456"/>
          </a:xfrm>
          <a:prstGeom prst="rect">
            <a:avLst/>
          </a:prstGeom>
          <a:noFill/>
          <a:ln/>
        </p:spPr>
        <p:txBody>
          <a:bodyPr wrap="square" lIns="0" tIns="0" rIns="0" bIns="0" rtlCol="0" anchor="ctr"/>
          <a:lstStyle/>
          <a:p>
            <a:pPr marL="0" indent="0">
              <a:buNone/>
            </a:pPr>
            <a:r>
              <a:rPr lang="en-US" sz="1200" b="1" dirty="0">
                <a:solidFill>
                  <a:srgbClr val="1A1A1A"/>
                </a:solidFill>
              </a:rPr>
              <a:t>User Flow</a:t>
            </a:r>
            <a:endParaRPr lang="en-US" sz="1200" dirty="0"/>
          </a:p>
        </p:txBody>
      </p:sp>
      <p:sp>
        <p:nvSpPr>
          <p:cNvPr id="28" name="Text 26"/>
          <p:cNvSpPr/>
          <p:nvPr/>
        </p:nvSpPr>
        <p:spPr>
          <a:xfrm>
            <a:off x="914400" y="3675888"/>
            <a:ext cx="3200400" cy="182880"/>
          </a:xfrm>
          <a:prstGeom prst="rect">
            <a:avLst/>
          </a:prstGeom>
          <a:noFill/>
          <a:ln/>
        </p:spPr>
        <p:txBody>
          <a:bodyPr wrap="square" lIns="0" tIns="0" rIns="0" bIns="0" rtlCol="0" anchor="ctr"/>
          <a:lstStyle/>
          <a:p>
            <a:pPr marL="0" indent="0">
              <a:buNone/>
            </a:pPr>
            <a:r>
              <a:rPr lang="en-US" sz="900" dirty="0">
                <a:solidFill>
                  <a:srgbClr val="6B6B60"/>
                </a:solidFill>
              </a:rPr>
              <a:t>End-to-end journey</a:t>
            </a:r>
            <a:endParaRPr lang="en-US" sz="900" dirty="0"/>
          </a:p>
        </p:txBody>
      </p:sp>
      <p:sp>
        <p:nvSpPr>
          <p:cNvPr id="29" name="Shape 27"/>
          <p:cNvSpPr/>
          <p:nvPr/>
        </p:nvSpPr>
        <p:spPr>
          <a:xfrm>
            <a:off x="365760" y="4023360"/>
            <a:ext cx="4114800" cy="502920"/>
          </a:xfrm>
          <a:prstGeom prst="roundRect">
            <a:avLst>
              <a:gd name="adj" fmla="val 18182"/>
            </a:avLst>
          </a:prstGeom>
          <a:solidFill>
            <a:srgbClr val="F8F8F8"/>
          </a:solidFill>
          <a:ln/>
          <a:effectLst>
            <a:outerShdw blurRad="76200" dist="25400" dir="2700000" algn="bl" rotWithShape="0">
              <a:srgbClr val="000000">
                <a:alpha val="10000"/>
              </a:srgbClr>
            </a:outerShdw>
          </a:effectLst>
        </p:spPr>
      </p:sp>
      <p:sp>
        <p:nvSpPr>
          <p:cNvPr id="30" name="Shape 28"/>
          <p:cNvSpPr/>
          <p:nvPr/>
        </p:nvSpPr>
        <p:spPr>
          <a:xfrm>
            <a:off x="457200" y="4096512"/>
            <a:ext cx="347472" cy="347472"/>
          </a:xfrm>
          <a:prstGeom prst="roundRect">
            <a:avLst>
              <a:gd name="adj" fmla="val 13158"/>
            </a:avLst>
          </a:prstGeom>
          <a:solidFill>
            <a:srgbClr val="2D5A3D"/>
          </a:solidFill>
          <a:ln/>
        </p:spPr>
      </p:sp>
      <p:sp>
        <p:nvSpPr>
          <p:cNvPr id="31" name="Text 29"/>
          <p:cNvSpPr/>
          <p:nvPr/>
        </p:nvSpPr>
        <p:spPr>
          <a:xfrm>
            <a:off x="457200" y="4096512"/>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rPr>
              <a:t>06</a:t>
            </a:r>
            <a:endParaRPr lang="en-US" sz="1000" dirty="0"/>
          </a:p>
        </p:txBody>
      </p:sp>
      <p:sp>
        <p:nvSpPr>
          <p:cNvPr id="32" name="Text 30"/>
          <p:cNvSpPr/>
          <p:nvPr/>
        </p:nvSpPr>
        <p:spPr>
          <a:xfrm>
            <a:off x="914400" y="4078224"/>
            <a:ext cx="3200400" cy="219456"/>
          </a:xfrm>
          <a:prstGeom prst="rect">
            <a:avLst/>
          </a:prstGeom>
          <a:noFill/>
          <a:ln/>
        </p:spPr>
        <p:txBody>
          <a:bodyPr wrap="square" lIns="0" tIns="0" rIns="0" bIns="0" rtlCol="0" anchor="ctr"/>
          <a:lstStyle/>
          <a:p>
            <a:pPr marL="0" indent="0">
              <a:buNone/>
            </a:pPr>
            <a:r>
              <a:rPr lang="en-US" sz="1200" b="1" dirty="0">
                <a:solidFill>
                  <a:srgbClr val="1A1A1A"/>
                </a:solidFill>
              </a:rPr>
              <a:t>Screen-by-Screen</a:t>
            </a:r>
            <a:endParaRPr lang="en-US" sz="1200" dirty="0"/>
          </a:p>
        </p:txBody>
      </p:sp>
      <p:sp>
        <p:nvSpPr>
          <p:cNvPr id="33" name="Text 31"/>
          <p:cNvSpPr/>
          <p:nvPr/>
        </p:nvSpPr>
        <p:spPr>
          <a:xfrm>
            <a:off x="914400" y="4279392"/>
            <a:ext cx="3200400" cy="182880"/>
          </a:xfrm>
          <a:prstGeom prst="rect">
            <a:avLst/>
          </a:prstGeom>
          <a:noFill/>
          <a:ln/>
        </p:spPr>
        <p:txBody>
          <a:bodyPr wrap="square" lIns="0" tIns="0" rIns="0" bIns="0" rtlCol="0" anchor="ctr"/>
          <a:lstStyle/>
          <a:p>
            <a:pPr marL="0" indent="0">
              <a:buNone/>
            </a:pPr>
            <a:r>
              <a:rPr lang="en-US" sz="900" dirty="0">
                <a:solidFill>
                  <a:srgbClr val="6B6B60"/>
                </a:solidFill>
              </a:rPr>
              <a:t>Every UI screen explained</a:t>
            </a:r>
            <a:endParaRPr lang="en-US" sz="900" dirty="0"/>
          </a:p>
        </p:txBody>
      </p:sp>
      <p:sp>
        <p:nvSpPr>
          <p:cNvPr id="34" name="Shape 32"/>
          <p:cNvSpPr/>
          <p:nvPr/>
        </p:nvSpPr>
        <p:spPr>
          <a:xfrm>
            <a:off x="4754880" y="1005840"/>
            <a:ext cx="4114800" cy="502920"/>
          </a:xfrm>
          <a:prstGeom prst="roundRect">
            <a:avLst>
              <a:gd name="adj" fmla="val 18182"/>
            </a:avLst>
          </a:prstGeom>
          <a:solidFill>
            <a:srgbClr val="F8F8F8"/>
          </a:solidFill>
          <a:ln/>
          <a:effectLst>
            <a:outerShdw blurRad="76200" dist="25400" dir="2700000" algn="bl" rotWithShape="0">
              <a:srgbClr val="000000">
                <a:alpha val="10000"/>
              </a:srgbClr>
            </a:outerShdw>
          </a:effectLst>
        </p:spPr>
      </p:sp>
      <p:sp>
        <p:nvSpPr>
          <p:cNvPr id="35" name="Shape 33"/>
          <p:cNvSpPr/>
          <p:nvPr/>
        </p:nvSpPr>
        <p:spPr>
          <a:xfrm>
            <a:off x="4846320" y="1078992"/>
            <a:ext cx="347472" cy="347472"/>
          </a:xfrm>
          <a:prstGeom prst="roundRect">
            <a:avLst>
              <a:gd name="adj" fmla="val 13158"/>
            </a:avLst>
          </a:prstGeom>
          <a:solidFill>
            <a:srgbClr val="2D5A3D"/>
          </a:solidFill>
          <a:ln/>
        </p:spPr>
      </p:sp>
      <p:sp>
        <p:nvSpPr>
          <p:cNvPr id="36" name="Text 34"/>
          <p:cNvSpPr/>
          <p:nvPr/>
        </p:nvSpPr>
        <p:spPr>
          <a:xfrm>
            <a:off x="4846320" y="1078992"/>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rPr>
              <a:t>07</a:t>
            </a:r>
            <a:endParaRPr lang="en-US" sz="1000" dirty="0"/>
          </a:p>
        </p:txBody>
      </p:sp>
      <p:sp>
        <p:nvSpPr>
          <p:cNvPr id="37" name="Text 35"/>
          <p:cNvSpPr/>
          <p:nvPr/>
        </p:nvSpPr>
        <p:spPr>
          <a:xfrm>
            <a:off x="5303520" y="1060704"/>
            <a:ext cx="3200400" cy="219456"/>
          </a:xfrm>
          <a:prstGeom prst="rect">
            <a:avLst/>
          </a:prstGeom>
          <a:noFill/>
          <a:ln/>
        </p:spPr>
        <p:txBody>
          <a:bodyPr wrap="square" lIns="0" tIns="0" rIns="0" bIns="0" rtlCol="0" anchor="ctr"/>
          <a:lstStyle/>
          <a:p>
            <a:pPr marL="0" indent="0">
              <a:buNone/>
            </a:pPr>
            <a:r>
              <a:rPr lang="en-US" sz="1200" b="1" dirty="0">
                <a:solidFill>
                  <a:srgbClr val="1A1A1A"/>
                </a:solidFill>
              </a:rPr>
              <a:t>Architecture &amp; Backend</a:t>
            </a:r>
            <a:endParaRPr lang="en-US" sz="1200" dirty="0"/>
          </a:p>
        </p:txBody>
      </p:sp>
      <p:sp>
        <p:nvSpPr>
          <p:cNvPr id="38" name="Text 36"/>
          <p:cNvSpPr/>
          <p:nvPr/>
        </p:nvSpPr>
        <p:spPr>
          <a:xfrm>
            <a:off x="5303520" y="1261872"/>
            <a:ext cx="3200400" cy="182880"/>
          </a:xfrm>
          <a:prstGeom prst="rect">
            <a:avLst/>
          </a:prstGeom>
          <a:noFill/>
          <a:ln/>
        </p:spPr>
        <p:txBody>
          <a:bodyPr wrap="square" lIns="0" tIns="0" rIns="0" bIns="0" rtlCol="0" anchor="ctr"/>
          <a:lstStyle/>
          <a:p>
            <a:pPr marL="0" indent="0">
              <a:buNone/>
            </a:pPr>
            <a:r>
              <a:rPr lang="en-US" sz="900" dirty="0">
                <a:solidFill>
                  <a:srgbClr val="6B6B60"/>
                </a:solidFill>
              </a:rPr>
              <a:t>Firebase BaaS design</a:t>
            </a:r>
            <a:endParaRPr lang="en-US" sz="900" dirty="0"/>
          </a:p>
        </p:txBody>
      </p:sp>
      <p:sp>
        <p:nvSpPr>
          <p:cNvPr id="39" name="Shape 37"/>
          <p:cNvSpPr/>
          <p:nvPr/>
        </p:nvSpPr>
        <p:spPr>
          <a:xfrm>
            <a:off x="4754880" y="1609344"/>
            <a:ext cx="4114800" cy="502920"/>
          </a:xfrm>
          <a:prstGeom prst="roundRect">
            <a:avLst>
              <a:gd name="adj" fmla="val 18182"/>
            </a:avLst>
          </a:prstGeom>
          <a:solidFill>
            <a:srgbClr val="F8F8F8"/>
          </a:solidFill>
          <a:ln/>
          <a:effectLst>
            <a:outerShdw blurRad="76200" dist="25400" dir="2700000" algn="bl" rotWithShape="0">
              <a:srgbClr val="000000">
                <a:alpha val="10000"/>
              </a:srgbClr>
            </a:outerShdw>
          </a:effectLst>
        </p:spPr>
      </p:sp>
      <p:sp>
        <p:nvSpPr>
          <p:cNvPr id="40" name="Shape 38"/>
          <p:cNvSpPr/>
          <p:nvPr/>
        </p:nvSpPr>
        <p:spPr>
          <a:xfrm>
            <a:off x="4846320" y="1682496"/>
            <a:ext cx="347472" cy="347472"/>
          </a:xfrm>
          <a:prstGeom prst="roundRect">
            <a:avLst>
              <a:gd name="adj" fmla="val 13158"/>
            </a:avLst>
          </a:prstGeom>
          <a:solidFill>
            <a:srgbClr val="2D5A3D"/>
          </a:solidFill>
          <a:ln/>
        </p:spPr>
      </p:sp>
      <p:sp>
        <p:nvSpPr>
          <p:cNvPr id="41" name="Text 39"/>
          <p:cNvSpPr/>
          <p:nvPr/>
        </p:nvSpPr>
        <p:spPr>
          <a:xfrm>
            <a:off x="4846320" y="1682496"/>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rPr>
              <a:t>08</a:t>
            </a:r>
            <a:endParaRPr lang="en-US" sz="1000" dirty="0"/>
          </a:p>
        </p:txBody>
      </p:sp>
      <p:sp>
        <p:nvSpPr>
          <p:cNvPr id="42" name="Text 40"/>
          <p:cNvSpPr/>
          <p:nvPr/>
        </p:nvSpPr>
        <p:spPr>
          <a:xfrm>
            <a:off x="5303520" y="1664208"/>
            <a:ext cx="3200400" cy="219456"/>
          </a:xfrm>
          <a:prstGeom prst="rect">
            <a:avLst/>
          </a:prstGeom>
          <a:noFill/>
          <a:ln/>
        </p:spPr>
        <p:txBody>
          <a:bodyPr wrap="square" lIns="0" tIns="0" rIns="0" bIns="0" rtlCol="0" anchor="ctr"/>
          <a:lstStyle/>
          <a:p>
            <a:pPr marL="0" indent="0">
              <a:buNone/>
            </a:pPr>
            <a:r>
              <a:rPr lang="en-US" sz="1200" b="1" dirty="0">
                <a:solidFill>
                  <a:srgbClr val="1A1A1A"/>
                </a:solidFill>
              </a:rPr>
              <a:t>Database Overview</a:t>
            </a:r>
            <a:endParaRPr lang="en-US" sz="1200" dirty="0"/>
          </a:p>
        </p:txBody>
      </p:sp>
      <p:sp>
        <p:nvSpPr>
          <p:cNvPr id="43" name="Text 41"/>
          <p:cNvSpPr/>
          <p:nvPr/>
        </p:nvSpPr>
        <p:spPr>
          <a:xfrm>
            <a:off x="5303520" y="1865376"/>
            <a:ext cx="3200400" cy="182880"/>
          </a:xfrm>
          <a:prstGeom prst="rect">
            <a:avLst/>
          </a:prstGeom>
          <a:noFill/>
          <a:ln/>
        </p:spPr>
        <p:txBody>
          <a:bodyPr wrap="square" lIns="0" tIns="0" rIns="0" bIns="0" rtlCol="0" anchor="ctr"/>
          <a:lstStyle/>
          <a:p>
            <a:pPr marL="0" indent="0">
              <a:buNone/>
            </a:pPr>
            <a:r>
              <a:rPr lang="en-US" sz="900" dirty="0">
                <a:solidFill>
                  <a:srgbClr val="6B6B60"/>
                </a:solidFill>
              </a:rPr>
              <a:t>Collections &amp; structure</a:t>
            </a:r>
            <a:endParaRPr lang="en-US" sz="900" dirty="0"/>
          </a:p>
        </p:txBody>
      </p:sp>
      <p:sp>
        <p:nvSpPr>
          <p:cNvPr id="44" name="Shape 42"/>
          <p:cNvSpPr/>
          <p:nvPr/>
        </p:nvSpPr>
        <p:spPr>
          <a:xfrm>
            <a:off x="4754880" y="2212848"/>
            <a:ext cx="4114800" cy="502920"/>
          </a:xfrm>
          <a:prstGeom prst="roundRect">
            <a:avLst>
              <a:gd name="adj" fmla="val 18182"/>
            </a:avLst>
          </a:prstGeom>
          <a:solidFill>
            <a:srgbClr val="F8F8F8"/>
          </a:solidFill>
          <a:ln/>
          <a:effectLst>
            <a:outerShdw blurRad="76200" dist="25400" dir="2700000" algn="bl" rotWithShape="0">
              <a:srgbClr val="000000">
                <a:alpha val="10000"/>
              </a:srgbClr>
            </a:outerShdw>
          </a:effectLst>
        </p:spPr>
      </p:sp>
      <p:sp>
        <p:nvSpPr>
          <p:cNvPr id="45" name="Shape 43"/>
          <p:cNvSpPr/>
          <p:nvPr/>
        </p:nvSpPr>
        <p:spPr>
          <a:xfrm>
            <a:off x="4846320" y="2286000"/>
            <a:ext cx="347472" cy="347472"/>
          </a:xfrm>
          <a:prstGeom prst="roundRect">
            <a:avLst>
              <a:gd name="adj" fmla="val 13158"/>
            </a:avLst>
          </a:prstGeom>
          <a:solidFill>
            <a:srgbClr val="2D5A3D"/>
          </a:solidFill>
          <a:ln/>
        </p:spPr>
      </p:sp>
      <p:sp>
        <p:nvSpPr>
          <p:cNvPr id="46" name="Text 44"/>
          <p:cNvSpPr/>
          <p:nvPr/>
        </p:nvSpPr>
        <p:spPr>
          <a:xfrm>
            <a:off x="4846320" y="2286000"/>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rPr>
              <a:t>09</a:t>
            </a:r>
            <a:endParaRPr lang="en-US" sz="1000" dirty="0"/>
          </a:p>
        </p:txBody>
      </p:sp>
      <p:sp>
        <p:nvSpPr>
          <p:cNvPr id="47" name="Text 45"/>
          <p:cNvSpPr/>
          <p:nvPr/>
        </p:nvSpPr>
        <p:spPr>
          <a:xfrm>
            <a:off x="5303520" y="2267712"/>
            <a:ext cx="3200400" cy="219456"/>
          </a:xfrm>
          <a:prstGeom prst="rect">
            <a:avLst/>
          </a:prstGeom>
          <a:noFill/>
          <a:ln/>
        </p:spPr>
        <p:txBody>
          <a:bodyPr wrap="square" lIns="0" tIns="0" rIns="0" bIns="0" rtlCol="0" anchor="ctr"/>
          <a:lstStyle/>
          <a:p>
            <a:pPr marL="0" indent="0">
              <a:buNone/>
            </a:pPr>
            <a:r>
              <a:rPr lang="en-US" sz="1200" b="1" dirty="0">
                <a:solidFill>
                  <a:srgbClr val="1A1A1A"/>
                </a:solidFill>
              </a:rPr>
              <a:t>Security Features</a:t>
            </a:r>
            <a:endParaRPr lang="en-US" sz="1200" dirty="0"/>
          </a:p>
        </p:txBody>
      </p:sp>
      <p:sp>
        <p:nvSpPr>
          <p:cNvPr id="48" name="Text 46"/>
          <p:cNvSpPr/>
          <p:nvPr/>
        </p:nvSpPr>
        <p:spPr>
          <a:xfrm>
            <a:off x="5303520" y="2468880"/>
            <a:ext cx="3200400" cy="182880"/>
          </a:xfrm>
          <a:prstGeom prst="rect">
            <a:avLst/>
          </a:prstGeom>
          <a:noFill/>
          <a:ln/>
        </p:spPr>
        <p:txBody>
          <a:bodyPr wrap="square" lIns="0" tIns="0" rIns="0" bIns="0" rtlCol="0" anchor="ctr"/>
          <a:lstStyle/>
          <a:p>
            <a:pPr marL="0" indent="0">
              <a:buNone/>
            </a:pPr>
            <a:r>
              <a:rPr lang="en-US" sz="900" dirty="0">
                <a:solidFill>
                  <a:srgbClr val="6B6B60"/>
                </a:solidFill>
              </a:rPr>
              <a:t>Auth &amp; data protection</a:t>
            </a:r>
            <a:endParaRPr lang="en-US" sz="900" dirty="0"/>
          </a:p>
        </p:txBody>
      </p:sp>
      <p:sp>
        <p:nvSpPr>
          <p:cNvPr id="49" name="Shape 47"/>
          <p:cNvSpPr/>
          <p:nvPr/>
        </p:nvSpPr>
        <p:spPr>
          <a:xfrm>
            <a:off x="4754880" y="2816352"/>
            <a:ext cx="4114800" cy="502920"/>
          </a:xfrm>
          <a:prstGeom prst="roundRect">
            <a:avLst>
              <a:gd name="adj" fmla="val 18182"/>
            </a:avLst>
          </a:prstGeom>
          <a:solidFill>
            <a:srgbClr val="F8F8F8"/>
          </a:solidFill>
          <a:ln/>
          <a:effectLst>
            <a:outerShdw blurRad="76200" dist="25400" dir="2700000" algn="bl" rotWithShape="0">
              <a:srgbClr val="000000">
                <a:alpha val="10000"/>
              </a:srgbClr>
            </a:outerShdw>
          </a:effectLst>
        </p:spPr>
      </p:sp>
      <p:sp>
        <p:nvSpPr>
          <p:cNvPr id="50" name="Shape 48"/>
          <p:cNvSpPr/>
          <p:nvPr/>
        </p:nvSpPr>
        <p:spPr>
          <a:xfrm>
            <a:off x="4846320" y="2889504"/>
            <a:ext cx="347472" cy="347472"/>
          </a:xfrm>
          <a:prstGeom prst="roundRect">
            <a:avLst>
              <a:gd name="adj" fmla="val 13158"/>
            </a:avLst>
          </a:prstGeom>
          <a:solidFill>
            <a:srgbClr val="2D5A3D"/>
          </a:solidFill>
          <a:ln/>
        </p:spPr>
      </p:sp>
      <p:sp>
        <p:nvSpPr>
          <p:cNvPr id="51" name="Text 49"/>
          <p:cNvSpPr/>
          <p:nvPr/>
        </p:nvSpPr>
        <p:spPr>
          <a:xfrm>
            <a:off x="4846320" y="2889504"/>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rPr>
              <a:t>10</a:t>
            </a:r>
            <a:endParaRPr lang="en-US" sz="1000" dirty="0"/>
          </a:p>
        </p:txBody>
      </p:sp>
      <p:sp>
        <p:nvSpPr>
          <p:cNvPr id="52" name="Text 50"/>
          <p:cNvSpPr/>
          <p:nvPr/>
        </p:nvSpPr>
        <p:spPr>
          <a:xfrm>
            <a:off x="5303520" y="2871216"/>
            <a:ext cx="3200400" cy="219456"/>
          </a:xfrm>
          <a:prstGeom prst="rect">
            <a:avLst/>
          </a:prstGeom>
          <a:noFill/>
          <a:ln/>
        </p:spPr>
        <p:txBody>
          <a:bodyPr wrap="square" lIns="0" tIns="0" rIns="0" bIns="0" rtlCol="0" anchor="ctr"/>
          <a:lstStyle/>
          <a:p>
            <a:pPr marL="0" indent="0">
              <a:buNone/>
            </a:pPr>
            <a:r>
              <a:rPr lang="en-US" sz="1200" b="1" dirty="0">
                <a:solidFill>
                  <a:srgbClr val="1A1A1A"/>
                </a:solidFill>
              </a:rPr>
              <a:t>Future Improvements</a:t>
            </a:r>
            <a:endParaRPr lang="en-US" sz="1200" dirty="0"/>
          </a:p>
        </p:txBody>
      </p:sp>
      <p:sp>
        <p:nvSpPr>
          <p:cNvPr id="53" name="Text 51"/>
          <p:cNvSpPr/>
          <p:nvPr/>
        </p:nvSpPr>
        <p:spPr>
          <a:xfrm>
            <a:off x="5303520" y="3072384"/>
            <a:ext cx="3200400" cy="182880"/>
          </a:xfrm>
          <a:prstGeom prst="rect">
            <a:avLst/>
          </a:prstGeom>
          <a:noFill/>
          <a:ln/>
        </p:spPr>
        <p:txBody>
          <a:bodyPr wrap="square" lIns="0" tIns="0" rIns="0" bIns="0" rtlCol="0" anchor="ctr"/>
          <a:lstStyle/>
          <a:p>
            <a:pPr marL="0" indent="0">
              <a:buNone/>
            </a:pPr>
            <a:r>
              <a:rPr lang="en-US" sz="900" dirty="0">
                <a:solidFill>
                  <a:srgbClr val="6B6B60"/>
                </a:solidFill>
              </a:rPr>
              <a:t>What comes next</a:t>
            </a:r>
            <a:endParaRPr lang="en-US" sz="900" dirty="0"/>
          </a:p>
        </p:txBody>
      </p:sp>
      <p:sp>
        <p:nvSpPr>
          <p:cNvPr id="54" name="Shape 52"/>
          <p:cNvSpPr/>
          <p:nvPr/>
        </p:nvSpPr>
        <p:spPr>
          <a:xfrm>
            <a:off x="4754880" y="3419856"/>
            <a:ext cx="4114800" cy="502920"/>
          </a:xfrm>
          <a:prstGeom prst="roundRect">
            <a:avLst>
              <a:gd name="adj" fmla="val 18182"/>
            </a:avLst>
          </a:prstGeom>
          <a:solidFill>
            <a:srgbClr val="F8F8F8"/>
          </a:solidFill>
          <a:ln/>
          <a:effectLst>
            <a:outerShdw blurRad="76200" dist="25400" dir="2700000" algn="bl" rotWithShape="0">
              <a:srgbClr val="000000">
                <a:alpha val="10000"/>
              </a:srgbClr>
            </a:outerShdw>
          </a:effectLst>
        </p:spPr>
      </p:sp>
      <p:sp>
        <p:nvSpPr>
          <p:cNvPr id="55" name="Shape 53"/>
          <p:cNvSpPr/>
          <p:nvPr/>
        </p:nvSpPr>
        <p:spPr>
          <a:xfrm>
            <a:off x="4846320" y="3493008"/>
            <a:ext cx="347472" cy="347472"/>
          </a:xfrm>
          <a:prstGeom prst="roundRect">
            <a:avLst>
              <a:gd name="adj" fmla="val 13158"/>
            </a:avLst>
          </a:prstGeom>
          <a:solidFill>
            <a:srgbClr val="2D5A3D"/>
          </a:solidFill>
          <a:ln/>
        </p:spPr>
      </p:sp>
      <p:sp>
        <p:nvSpPr>
          <p:cNvPr id="56" name="Text 54"/>
          <p:cNvSpPr/>
          <p:nvPr/>
        </p:nvSpPr>
        <p:spPr>
          <a:xfrm>
            <a:off x="4846320" y="3493008"/>
            <a:ext cx="347472" cy="347472"/>
          </a:xfrm>
          <a:prstGeom prst="rect">
            <a:avLst/>
          </a:prstGeom>
          <a:noFill/>
          <a:ln/>
        </p:spPr>
        <p:txBody>
          <a:bodyPr wrap="square" lIns="0" tIns="0" rIns="0" bIns="0" rtlCol="0" anchor="ctr"/>
          <a:lstStyle/>
          <a:p>
            <a:pPr marL="0" indent="0" algn="ctr">
              <a:buNone/>
            </a:pPr>
            <a:r>
              <a:rPr lang="en-US" sz="1000" b="1" dirty="0">
                <a:solidFill>
                  <a:srgbClr val="FFFFFF"/>
                </a:solidFill>
              </a:rPr>
              <a:t>11</a:t>
            </a:r>
            <a:endParaRPr lang="en-US" sz="1000" dirty="0"/>
          </a:p>
        </p:txBody>
      </p:sp>
      <p:sp>
        <p:nvSpPr>
          <p:cNvPr id="57" name="Text 55"/>
          <p:cNvSpPr/>
          <p:nvPr/>
        </p:nvSpPr>
        <p:spPr>
          <a:xfrm>
            <a:off x="5303520" y="3474720"/>
            <a:ext cx="3200400" cy="219456"/>
          </a:xfrm>
          <a:prstGeom prst="rect">
            <a:avLst/>
          </a:prstGeom>
          <a:noFill/>
          <a:ln/>
        </p:spPr>
        <p:txBody>
          <a:bodyPr wrap="square" lIns="0" tIns="0" rIns="0" bIns="0" rtlCol="0" anchor="ctr"/>
          <a:lstStyle/>
          <a:p>
            <a:pPr marL="0" indent="0">
              <a:buNone/>
            </a:pPr>
            <a:r>
              <a:rPr lang="en-US" sz="1200" b="1" dirty="0">
                <a:solidFill>
                  <a:srgbClr val="1A1A1A"/>
                </a:solidFill>
              </a:rPr>
              <a:t>Conclusion</a:t>
            </a:r>
            <a:endParaRPr lang="en-US" sz="1200" dirty="0"/>
          </a:p>
        </p:txBody>
      </p:sp>
      <p:sp>
        <p:nvSpPr>
          <p:cNvPr id="58" name="Text 56"/>
          <p:cNvSpPr/>
          <p:nvPr/>
        </p:nvSpPr>
        <p:spPr>
          <a:xfrm>
            <a:off x="5303520" y="3675888"/>
            <a:ext cx="3200400" cy="182880"/>
          </a:xfrm>
          <a:prstGeom prst="rect">
            <a:avLst/>
          </a:prstGeom>
          <a:noFill/>
          <a:ln/>
        </p:spPr>
        <p:txBody>
          <a:bodyPr wrap="square" lIns="0" tIns="0" rIns="0" bIns="0" rtlCol="0" anchor="ctr"/>
          <a:lstStyle/>
          <a:p>
            <a:pPr marL="0" indent="0">
              <a:buNone/>
            </a:pPr>
            <a:r>
              <a:rPr lang="en-US" sz="900" dirty="0">
                <a:solidFill>
                  <a:srgbClr val="6B6B60"/>
                </a:solidFill>
              </a:rPr>
              <a:t>Summary &amp; impact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6F2"/>
        </a:solidFill>
        <a:effectLst/>
      </p:bgPr>
    </p:bg>
    <p:spTree>
      <p:nvGrpSpPr>
        <p:cNvPr id="1" name=""/>
        <p:cNvGrpSpPr/>
        <p:nvPr/>
      </p:nvGrpSpPr>
      <p:grpSpPr>
        <a:xfrm>
          <a:off x="0" y="0"/>
          <a:ext cx="0" cy="0"/>
          <a:chOff x="0" y="0"/>
          <a:chExt cx="0" cy="0"/>
        </a:xfrm>
      </p:grpSpPr>
      <p:sp>
        <p:nvSpPr>
          <p:cNvPr id="2" name="Shape 0"/>
          <p:cNvSpPr/>
          <p:nvPr/>
        </p:nvSpPr>
        <p:spPr>
          <a:xfrm>
            <a:off x="365760" y="137160"/>
            <a:ext cx="1463040" cy="256032"/>
          </a:xfrm>
          <a:prstGeom prst="roundRect">
            <a:avLst>
              <a:gd name="adj" fmla="val 21429"/>
            </a:avLst>
          </a:prstGeom>
          <a:solidFill>
            <a:srgbClr val="D4E6D8"/>
          </a:solidFill>
          <a:ln/>
        </p:spPr>
      </p:sp>
      <p:sp>
        <p:nvSpPr>
          <p:cNvPr id="3" name="Text 1"/>
          <p:cNvSpPr/>
          <p:nvPr/>
        </p:nvSpPr>
        <p:spPr>
          <a:xfrm>
            <a:off x="365760" y="137160"/>
            <a:ext cx="1463040" cy="256032"/>
          </a:xfrm>
          <a:prstGeom prst="rect">
            <a:avLst/>
          </a:prstGeom>
          <a:noFill/>
          <a:ln/>
        </p:spPr>
        <p:txBody>
          <a:bodyPr wrap="square" lIns="0" tIns="0" rIns="0" bIns="0" rtlCol="0" anchor="ctr"/>
          <a:lstStyle/>
          <a:p>
            <a:pPr marL="0" indent="0" algn="ctr">
              <a:buNone/>
            </a:pPr>
            <a:r>
              <a:rPr lang="en-US" sz="800" b="1" dirty="0">
                <a:solidFill>
                  <a:srgbClr val="2D5A3D"/>
                </a:solidFill>
              </a:rPr>
              <a:t>01 · Problem</a:t>
            </a:r>
            <a:endParaRPr lang="en-US" sz="800" dirty="0"/>
          </a:p>
        </p:txBody>
      </p:sp>
      <p:sp>
        <p:nvSpPr>
          <p:cNvPr id="4" name="Text 2"/>
          <p:cNvSpPr/>
          <p:nvPr/>
        </p:nvSpPr>
        <p:spPr>
          <a:xfrm>
            <a:off x="365760" y="502920"/>
            <a:ext cx="5303520" cy="50292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The Problem We Solved</a:t>
            </a:r>
            <a:endParaRPr lang="en-US" sz="3000" dirty="0"/>
          </a:p>
        </p:txBody>
      </p:sp>
      <p:sp>
        <p:nvSpPr>
          <p:cNvPr id="5" name="Shape 3"/>
          <p:cNvSpPr/>
          <p:nvPr/>
        </p:nvSpPr>
        <p:spPr>
          <a:xfrm>
            <a:off x="365760" y="1188720"/>
            <a:ext cx="4937760" cy="749808"/>
          </a:xfrm>
          <a:prstGeom prst="roundRect">
            <a:avLst>
              <a:gd name="adj" fmla="val 12195"/>
            </a:avLst>
          </a:prstGeom>
          <a:solidFill>
            <a:srgbClr val="FFFFFF"/>
          </a:solidFill>
          <a:ln/>
          <a:effectLst>
            <a:outerShdw blurRad="76200" dist="25400" dir="2700000" algn="bl" rotWithShape="0">
              <a:srgbClr val="000000">
                <a:alpha val="10000"/>
              </a:srgbClr>
            </a:outerShdw>
          </a:effectLst>
        </p:spPr>
      </p:sp>
      <p:sp>
        <p:nvSpPr>
          <p:cNvPr id="6" name="Text 4"/>
          <p:cNvSpPr/>
          <p:nvPr/>
        </p:nvSpPr>
        <p:spPr>
          <a:xfrm>
            <a:off x="502920" y="1344168"/>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7" name="Text 5"/>
          <p:cNvSpPr/>
          <p:nvPr/>
        </p:nvSpPr>
        <p:spPr>
          <a:xfrm>
            <a:off x="1051560" y="1261872"/>
            <a:ext cx="4114800" cy="256032"/>
          </a:xfrm>
          <a:prstGeom prst="rect">
            <a:avLst/>
          </a:prstGeom>
          <a:noFill/>
          <a:ln/>
        </p:spPr>
        <p:txBody>
          <a:bodyPr wrap="square" lIns="0" tIns="0" rIns="0" bIns="0" rtlCol="0" anchor="ctr"/>
          <a:lstStyle/>
          <a:p>
            <a:pPr marL="0" indent="0">
              <a:buNone/>
            </a:pPr>
            <a:r>
              <a:rPr lang="en-US" sz="1300" b="1" dirty="0">
                <a:solidFill>
                  <a:srgbClr val="1A1A1A"/>
                </a:solidFill>
              </a:rPr>
              <a:t>Wasted Trips</a:t>
            </a:r>
            <a:endParaRPr lang="en-US" sz="1300" dirty="0"/>
          </a:p>
        </p:txBody>
      </p:sp>
      <p:sp>
        <p:nvSpPr>
          <p:cNvPr id="8" name="Text 6"/>
          <p:cNvSpPr/>
          <p:nvPr/>
        </p:nvSpPr>
        <p:spPr>
          <a:xfrm>
            <a:off x="1051560" y="1508760"/>
            <a:ext cx="4114800" cy="347472"/>
          </a:xfrm>
          <a:prstGeom prst="rect">
            <a:avLst/>
          </a:prstGeom>
          <a:noFill/>
          <a:ln/>
        </p:spPr>
        <p:txBody>
          <a:bodyPr wrap="square" lIns="0" tIns="0" rIns="0" bIns="0" rtlCol="0" anchor="ctr"/>
          <a:lstStyle/>
          <a:p>
            <a:pPr marL="0" indent="0">
              <a:buNone/>
            </a:pPr>
            <a:r>
              <a:rPr lang="en-US" sz="1000" dirty="0">
                <a:solidFill>
                  <a:srgbClr val="6B6B60"/>
                </a:solidFill>
              </a:rPr>
              <a:t>Students had to physically visit dining halls to find out what food was available that day.</a:t>
            </a:r>
            <a:endParaRPr lang="en-US" sz="1000" dirty="0"/>
          </a:p>
        </p:txBody>
      </p:sp>
      <p:sp>
        <p:nvSpPr>
          <p:cNvPr id="9" name="Shape 7"/>
          <p:cNvSpPr/>
          <p:nvPr/>
        </p:nvSpPr>
        <p:spPr>
          <a:xfrm>
            <a:off x="365760" y="2103120"/>
            <a:ext cx="4937760" cy="749808"/>
          </a:xfrm>
          <a:prstGeom prst="roundRect">
            <a:avLst>
              <a:gd name="adj" fmla="val 12195"/>
            </a:avLst>
          </a:prstGeom>
          <a:solidFill>
            <a:srgbClr val="FFFFFF"/>
          </a:solidFill>
          <a:ln/>
          <a:effectLst>
            <a:outerShdw blurRad="76200" dist="25400" dir="2700000" algn="bl" rotWithShape="0">
              <a:srgbClr val="000000">
                <a:alpha val="10000"/>
              </a:srgbClr>
            </a:outerShdw>
          </a:effectLst>
        </p:spPr>
      </p:sp>
      <p:sp>
        <p:nvSpPr>
          <p:cNvPr id="10" name="Text 8"/>
          <p:cNvSpPr/>
          <p:nvPr/>
        </p:nvSpPr>
        <p:spPr>
          <a:xfrm>
            <a:off x="502920" y="2258568"/>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1" name="Text 9"/>
          <p:cNvSpPr/>
          <p:nvPr/>
        </p:nvSpPr>
        <p:spPr>
          <a:xfrm>
            <a:off x="1051560" y="2176272"/>
            <a:ext cx="4114800" cy="256032"/>
          </a:xfrm>
          <a:prstGeom prst="rect">
            <a:avLst/>
          </a:prstGeom>
          <a:noFill/>
          <a:ln/>
        </p:spPr>
        <p:txBody>
          <a:bodyPr wrap="square" lIns="0" tIns="0" rIns="0" bIns="0" rtlCol="0" anchor="ctr"/>
          <a:lstStyle/>
          <a:p>
            <a:pPr marL="0" indent="0">
              <a:buNone/>
            </a:pPr>
            <a:r>
              <a:rPr lang="en-US" sz="1300" b="1" dirty="0">
                <a:solidFill>
                  <a:srgbClr val="1A1A1A"/>
                </a:solidFill>
              </a:rPr>
              <a:t>No Real-Time Info</a:t>
            </a:r>
            <a:endParaRPr lang="en-US" sz="1300" dirty="0"/>
          </a:p>
        </p:txBody>
      </p:sp>
      <p:sp>
        <p:nvSpPr>
          <p:cNvPr id="12" name="Text 10"/>
          <p:cNvSpPr/>
          <p:nvPr/>
        </p:nvSpPr>
        <p:spPr>
          <a:xfrm>
            <a:off x="1051560" y="2423160"/>
            <a:ext cx="4114800" cy="347472"/>
          </a:xfrm>
          <a:prstGeom prst="rect">
            <a:avLst/>
          </a:prstGeom>
          <a:noFill/>
          <a:ln/>
        </p:spPr>
        <p:txBody>
          <a:bodyPr wrap="square" lIns="0" tIns="0" rIns="0" bIns="0" rtlCol="0" anchor="ctr"/>
          <a:lstStyle/>
          <a:p>
            <a:pPr marL="0" indent="0">
              <a:buNone/>
            </a:pPr>
            <a:r>
              <a:rPr lang="en-US" sz="1000" dirty="0">
                <a:solidFill>
                  <a:srgbClr val="6B6B60"/>
                </a:solidFill>
              </a:rPr>
              <a:t>No system existed to know whether a favorite dish was finished before going.</a:t>
            </a:r>
            <a:endParaRPr lang="en-US" sz="1000" dirty="0"/>
          </a:p>
        </p:txBody>
      </p:sp>
      <p:sp>
        <p:nvSpPr>
          <p:cNvPr id="13" name="Shape 11"/>
          <p:cNvSpPr/>
          <p:nvPr/>
        </p:nvSpPr>
        <p:spPr>
          <a:xfrm>
            <a:off x="365760" y="3017520"/>
            <a:ext cx="4937760" cy="749808"/>
          </a:xfrm>
          <a:prstGeom prst="roundRect">
            <a:avLst>
              <a:gd name="adj" fmla="val 12195"/>
            </a:avLst>
          </a:prstGeom>
          <a:solidFill>
            <a:srgbClr val="FFFFFF"/>
          </a:solidFill>
          <a:ln/>
          <a:effectLst>
            <a:outerShdw blurRad="76200" dist="25400" dir="2700000" algn="bl" rotWithShape="0">
              <a:srgbClr val="000000">
                <a:alpha val="10000"/>
              </a:srgbClr>
            </a:outerShdw>
          </a:effectLst>
        </p:spPr>
      </p:sp>
      <p:sp>
        <p:nvSpPr>
          <p:cNvPr id="14" name="Text 12"/>
          <p:cNvSpPr/>
          <p:nvPr/>
        </p:nvSpPr>
        <p:spPr>
          <a:xfrm>
            <a:off x="502920" y="3172968"/>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5" name="Text 13"/>
          <p:cNvSpPr/>
          <p:nvPr/>
        </p:nvSpPr>
        <p:spPr>
          <a:xfrm>
            <a:off x="1051560" y="3090672"/>
            <a:ext cx="4114800" cy="256032"/>
          </a:xfrm>
          <a:prstGeom prst="rect">
            <a:avLst/>
          </a:prstGeom>
          <a:noFill/>
          <a:ln/>
        </p:spPr>
        <p:txBody>
          <a:bodyPr wrap="square" lIns="0" tIns="0" rIns="0" bIns="0" rtlCol="0" anchor="ctr"/>
          <a:lstStyle/>
          <a:p>
            <a:pPr marL="0" indent="0">
              <a:buNone/>
            </a:pPr>
            <a:r>
              <a:rPr lang="en-US" sz="1300" b="1" dirty="0">
                <a:solidFill>
                  <a:srgbClr val="1A1A1A"/>
                </a:solidFill>
              </a:rPr>
              <a:t>Hidden Notices</a:t>
            </a:r>
            <a:endParaRPr lang="en-US" sz="1300" dirty="0"/>
          </a:p>
        </p:txBody>
      </p:sp>
      <p:sp>
        <p:nvSpPr>
          <p:cNvPr id="16" name="Text 14"/>
          <p:cNvSpPr/>
          <p:nvPr/>
        </p:nvSpPr>
        <p:spPr>
          <a:xfrm>
            <a:off x="1051560" y="3337560"/>
            <a:ext cx="4114800" cy="347472"/>
          </a:xfrm>
          <a:prstGeom prst="rect">
            <a:avLst/>
          </a:prstGeom>
          <a:noFill/>
          <a:ln/>
        </p:spPr>
        <p:txBody>
          <a:bodyPr wrap="square" lIns="0" tIns="0" rIns="0" bIns="0" rtlCol="0" anchor="ctr"/>
          <a:lstStyle/>
          <a:p>
            <a:pPr marL="0" indent="0">
              <a:buNone/>
            </a:pPr>
            <a:r>
              <a:rPr lang="en-US" sz="1000" dirty="0">
                <a:solidFill>
                  <a:srgbClr val="6B6B60"/>
                </a:solidFill>
              </a:rPr>
              <a:t>Feast dates and important notices were only posted on physical notice boards.</a:t>
            </a:r>
            <a:endParaRPr lang="en-US" sz="1000" dirty="0"/>
          </a:p>
        </p:txBody>
      </p:sp>
      <p:sp>
        <p:nvSpPr>
          <p:cNvPr id="17" name="Shape 15"/>
          <p:cNvSpPr/>
          <p:nvPr/>
        </p:nvSpPr>
        <p:spPr>
          <a:xfrm>
            <a:off x="365760" y="3931920"/>
            <a:ext cx="4937760" cy="749808"/>
          </a:xfrm>
          <a:prstGeom prst="roundRect">
            <a:avLst>
              <a:gd name="adj" fmla="val 12195"/>
            </a:avLst>
          </a:prstGeom>
          <a:solidFill>
            <a:srgbClr val="FFFFFF"/>
          </a:solidFill>
          <a:ln/>
          <a:effectLst>
            <a:outerShdw blurRad="76200" dist="25400" dir="2700000" algn="bl" rotWithShape="0">
              <a:srgbClr val="000000">
                <a:alpha val="10000"/>
              </a:srgbClr>
            </a:outerShdw>
          </a:effectLst>
        </p:spPr>
      </p:sp>
      <p:sp>
        <p:nvSpPr>
          <p:cNvPr id="18" name="Text 16"/>
          <p:cNvSpPr/>
          <p:nvPr/>
        </p:nvSpPr>
        <p:spPr>
          <a:xfrm>
            <a:off x="502920" y="4087368"/>
            <a:ext cx="457200" cy="45720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9" name="Text 17"/>
          <p:cNvSpPr/>
          <p:nvPr/>
        </p:nvSpPr>
        <p:spPr>
          <a:xfrm>
            <a:off x="1051560" y="4005072"/>
            <a:ext cx="4114800" cy="256032"/>
          </a:xfrm>
          <a:prstGeom prst="rect">
            <a:avLst/>
          </a:prstGeom>
          <a:noFill/>
          <a:ln/>
        </p:spPr>
        <p:txBody>
          <a:bodyPr wrap="square" lIns="0" tIns="0" rIns="0" bIns="0" rtlCol="0" anchor="ctr"/>
          <a:lstStyle/>
          <a:p>
            <a:pPr marL="0" indent="0">
              <a:buNone/>
            </a:pPr>
            <a:r>
              <a:rPr lang="en-US" sz="1300" b="1" dirty="0">
                <a:solidFill>
                  <a:srgbClr val="1A1A1A"/>
                </a:solidFill>
              </a:rPr>
              <a:t>Zero Transparency</a:t>
            </a:r>
            <a:endParaRPr lang="en-US" sz="1300" dirty="0"/>
          </a:p>
        </p:txBody>
      </p:sp>
      <p:sp>
        <p:nvSpPr>
          <p:cNvPr id="20" name="Text 18"/>
          <p:cNvSpPr/>
          <p:nvPr/>
        </p:nvSpPr>
        <p:spPr>
          <a:xfrm>
            <a:off x="1051560" y="4251960"/>
            <a:ext cx="4114800" cy="347472"/>
          </a:xfrm>
          <a:prstGeom prst="rect">
            <a:avLst/>
          </a:prstGeom>
          <a:noFill/>
          <a:ln/>
        </p:spPr>
        <p:txBody>
          <a:bodyPr wrap="square" lIns="0" tIns="0" rIns="0" bIns="0" rtlCol="0" anchor="ctr"/>
          <a:lstStyle/>
          <a:p>
            <a:pPr marL="0" indent="0">
              <a:buNone/>
            </a:pPr>
            <a:r>
              <a:rPr lang="en-US" sz="1000" dirty="0">
                <a:solidFill>
                  <a:srgbClr val="6B6B60"/>
                </a:solidFill>
              </a:rPr>
              <a:t>No way to track food stock levels, prices, or meal times without asking staff.</a:t>
            </a:r>
            <a:endParaRPr lang="en-US" sz="1000" dirty="0"/>
          </a:p>
        </p:txBody>
      </p:sp>
      <p:sp>
        <p:nvSpPr>
          <p:cNvPr id="21" name="Shape 19"/>
          <p:cNvSpPr/>
          <p:nvPr/>
        </p:nvSpPr>
        <p:spPr>
          <a:xfrm>
            <a:off x="5852160" y="1097280"/>
            <a:ext cx="2926080" cy="3474720"/>
          </a:xfrm>
          <a:prstGeom prst="roundRect">
            <a:avLst>
              <a:gd name="adj" fmla="val 3125"/>
            </a:avLst>
          </a:prstGeom>
          <a:solidFill>
            <a:srgbClr val="2D5A3D"/>
          </a:solidFill>
          <a:ln/>
          <a:effectLst>
            <a:outerShdw blurRad="76200" dist="25400" dir="2700000" algn="bl" rotWithShape="0">
              <a:srgbClr val="000000">
                <a:alpha val="10000"/>
              </a:srgbClr>
            </a:outerShdw>
          </a:effectLst>
        </p:spPr>
      </p:sp>
      <p:sp>
        <p:nvSpPr>
          <p:cNvPr id="22" name="Text 20"/>
          <p:cNvSpPr/>
          <p:nvPr/>
        </p:nvSpPr>
        <p:spPr>
          <a:xfrm>
            <a:off x="5852160" y="1371600"/>
            <a:ext cx="2926080" cy="914400"/>
          </a:xfrm>
          <a:prstGeom prst="rect">
            <a:avLst/>
          </a:prstGeom>
          <a:noFill/>
          <a:ln/>
        </p:spPr>
        <p:txBody>
          <a:bodyPr wrap="square" lIns="0" tIns="0" rIns="0" bIns="0" rtlCol="0" anchor="ctr"/>
          <a:lstStyle/>
          <a:p>
            <a:pPr marL="0" indent="0" algn="ctr">
              <a:buNone/>
            </a:pPr>
            <a:r>
              <a:rPr lang="en-US" sz="7200" b="1" dirty="0">
                <a:solidFill>
                  <a:srgbClr val="FFFFFF"/>
                </a:solidFill>
              </a:rPr>
              <a:t>17</a:t>
            </a:r>
            <a:endParaRPr lang="en-US" sz="7200" dirty="0"/>
          </a:p>
        </p:txBody>
      </p:sp>
      <p:sp>
        <p:nvSpPr>
          <p:cNvPr id="23" name="Text 21"/>
          <p:cNvSpPr/>
          <p:nvPr/>
        </p:nvSpPr>
        <p:spPr>
          <a:xfrm>
            <a:off x="5852160" y="2194560"/>
            <a:ext cx="2926080" cy="320040"/>
          </a:xfrm>
          <a:prstGeom prst="rect">
            <a:avLst/>
          </a:prstGeom>
          <a:noFill/>
          <a:ln/>
        </p:spPr>
        <p:txBody>
          <a:bodyPr wrap="square" lIns="0" tIns="0" rIns="0" bIns="0" rtlCol="0" anchor="ctr"/>
          <a:lstStyle/>
          <a:p>
            <a:pPr marL="0" indent="0" algn="ctr">
              <a:buNone/>
            </a:pPr>
            <a:r>
              <a:rPr lang="en-US" sz="1400" dirty="0">
                <a:solidFill>
                  <a:srgbClr val="A8D5B5"/>
                </a:solidFill>
              </a:rPr>
              <a:t>Residential Halls</a:t>
            </a:r>
            <a:endParaRPr lang="en-US" sz="1400" dirty="0"/>
          </a:p>
        </p:txBody>
      </p:sp>
      <p:sp>
        <p:nvSpPr>
          <p:cNvPr id="24" name="Shape 22"/>
          <p:cNvSpPr/>
          <p:nvPr/>
        </p:nvSpPr>
        <p:spPr>
          <a:xfrm>
            <a:off x="6400800" y="2578608"/>
            <a:ext cx="1828800" cy="27432"/>
          </a:xfrm>
          <a:prstGeom prst="rect">
            <a:avLst/>
          </a:prstGeom>
          <a:solidFill>
            <a:srgbClr val="40916C"/>
          </a:solidFill>
          <a:ln/>
        </p:spPr>
      </p:sp>
      <p:sp>
        <p:nvSpPr>
          <p:cNvPr id="25" name="Text 23"/>
          <p:cNvSpPr/>
          <p:nvPr/>
        </p:nvSpPr>
        <p:spPr>
          <a:xfrm>
            <a:off x="5852160" y="2651760"/>
            <a:ext cx="2926080" cy="822960"/>
          </a:xfrm>
          <a:prstGeom prst="rect">
            <a:avLst/>
          </a:prstGeom>
          <a:noFill/>
          <a:ln/>
        </p:spPr>
        <p:txBody>
          <a:bodyPr wrap="square" lIns="0" tIns="0" rIns="0" bIns="0" rtlCol="0" anchor="ctr"/>
          <a:lstStyle/>
          <a:p>
            <a:pPr marL="0" indent="0" algn="ctr">
              <a:buNone/>
            </a:pPr>
            <a:r>
              <a:rPr lang="en-US" sz="1100" dirty="0">
                <a:solidFill>
                  <a:srgbClr val="C8E6C9"/>
                </a:solidFill>
              </a:rPr>
              <a:t>at Rajshahi University</a:t>
            </a:r>
            <a:endParaRPr lang="en-US" sz="1100" dirty="0"/>
          </a:p>
          <a:p>
            <a:pPr marL="0" indent="0" algn="ctr">
              <a:buNone/>
            </a:pPr>
            <a:r>
              <a:rPr lang="en-US" sz="1100" dirty="0">
                <a:solidFill>
                  <a:srgbClr val="C8E6C9"/>
                </a:solidFill>
              </a:rPr>
              <a:t>all lacking a digital</a:t>
            </a:r>
            <a:endParaRPr lang="en-US" sz="1100" dirty="0"/>
          </a:p>
          <a:p>
            <a:pPr marL="0" indent="0" algn="ctr">
              <a:buNone/>
            </a:pPr>
            <a:r>
              <a:rPr lang="en-US" sz="1100" dirty="0">
                <a:solidFill>
                  <a:srgbClr val="C8E6C9"/>
                </a:solidFill>
              </a:rPr>
              <a:t>dining information system</a:t>
            </a:r>
            <a:endParaRPr lang="en-US" sz="1100" dirty="0"/>
          </a:p>
        </p:txBody>
      </p:sp>
      <p:sp>
        <p:nvSpPr>
          <p:cNvPr id="26" name="Text 24"/>
          <p:cNvSpPr/>
          <p:nvPr/>
        </p:nvSpPr>
        <p:spPr>
          <a:xfrm>
            <a:off x="5852160" y="3840480"/>
            <a:ext cx="2926080" cy="502920"/>
          </a:xfrm>
          <a:prstGeom prst="rect">
            <a:avLst/>
          </a:prstGeom>
          <a:noFill/>
          <a:ln/>
        </p:spPr>
        <p:txBody>
          <a:bodyPr wrap="square" lIns="0" tIns="0" rIns="0" bIns="0" rtlCol="0" anchor="ctr"/>
          <a:lstStyle/>
          <a:p>
            <a:pPr marL="0" indent="0" algn="ctr">
              <a:buNone/>
            </a:pPr>
            <a:r>
              <a:rPr lang="en-US" sz="1100" i="1" dirty="0">
                <a:solidFill>
                  <a:srgbClr val="A8D5B5"/>
                </a:solidFill>
              </a:rPr>
              <a:t>Thousands of students</a:t>
            </a:r>
            <a:endParaRPr lang="en-US" sz="1100" dirty="0"/>
          </a:p>
          <a:p>
            <a:pPr marL="0" indent="0" algn="ctr">
              <a:buNone/>
            </a:pPr>
            <a:r>
              <a:rPr lang="en-US" sz="1100" i="1" dirty="0">
                <a:solidFill>
                  <a:srgbClr val="A8D5B5"/>
                </a:solidFill>
              </a:rPr>
              <a:t>affected daily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2D5A3D"/>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oundRect">
            <a:avLst>
              <a:gd name="adj" fmla="val 13333"/>
            </a:avLst>
          </a:prstGeom>
          <a:solidFill>
            <a:srgbClr val="2D5A3D"/>
          </a:solidFill>
          <a:ln/>
          <a:effectLst>
            <a:outerShdw blurRad="76200" dist="25400" dir="2700000" algn="bl" rotWithShape="0">
              <a:srgbClr val="000000">
                <a:alpha val="10000"/>
              </a:srgbClr>
            </a:outerShdw>
          </a:effectLst>
        </p:spPr>
      </p:sp>
      <p:sp>
        <p:nvSpPr>
          <p:cNvPr id="3" name="Text 1"/>
          <p:cNvSpPr/>
          <p:nvPr/>
        </p:nvSpPr>
        <p:spPr>
          <a:xfrm>
            <a:off x="457200" y="0"/>
            <a:ext cx="8229600" cy="6858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Proposed Solution</a:t>
            </a:r>
            <a:endParaRPr lang="en-US" sz="2800" dirty="0"/>
          </a:p>
        </p:txBody>
      </p:sp>
      <p:sp>
        <p:nvSpPr>
          <p:cNvPr id="4" name="Text 2"/>
          <p:cNvSpPr/>
          <p:nvPr/>
        </p:nvSpPr>
        <p:spPr>
          <a:xfrm>
            <a:off x="457200" y="0"/>
            <a:ext cx="8229600" cy="320040"/>
          </a:xfrm>
          <a:prstGeom prst="rect">
            <a:avLst/>
          </a:prstGeom>
          <a:noFill/>
          <a:ln/>
        </p:spPr>
        <p:txBody>
          <a:bodyPr wrap="square" lIns="50800" tIns="50800" rIns="50800" bIns="50800" rtlCol="0" anchor="t"/>
          <a:lstStyle/>
          <a:p>
            <a:pPr marL="0" indent="0">
              <a:buNone/>
            </a:pPr>
            <a:r>
              <a:rPr lang="en-US" sz="900" dirty="0">
                <a:solidFill>
                  <a:srgbClr val="A8D5B5"/>
                </a:solidFill>
              </a:rPr>
              <a:t>02 · Solution</a:t>
            </a:r>
            <a:endParaRPr lang="en-US" sz="900" dirty="0"/>
          </a:p>
        </p:txBody>
      </p:sp>
      <p:sp>
        <p:nvSpPr>
          <p:cNvPr id="5" name="Shape 3"/>
          <p:cNvSpPr/>
          <p:nvPr/>
        </p:nvSpPr>
        <p:spPr>
          <a:xfrm>
            <a:off x="365760" y="868680"/>
            <a:ext cx="4114800" cy="1207008"/>
          </a:xfrm>
          <a:prstGeom prst="roundRect">
            <a:avLst>
              <a:gd name="adj" fmla="val 7576"/>
            </a:avLst>
          </a:prstGeom>
          <a:solidFill>
            <a:srgbClr val="1B4332"/>
          </a:solidFill>
          <a:ln/>
          <a:effectLst>
            <a:outerShdw blurRad="76200" dist="25400" dir="2700000" algn="bl" rotWithShape="0">
              <a:srgbClr val="000000">
                <a:alpha val="10000"/>
              </a:srgbClr>
            </a:outerShdw>
          </a:effectLst>
        </p:spPr>
      </p:sp>
      <p:sp>
        <p:nvSpPr>
          <p:cNvPr id="6" name="Text 4"/>
          <p:cNvSpPr/>
          <p:nvPr/>
        </p:nvSpPr>
        <p:spPr>
          <a:xfrm>
            <a:off x="502920" y="1143000"/>
            <a:ext cx="548640" cy="59436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7" name="Text 5"/>
          <p:cNvSpPr/>
          <p:nvPr/>
        </p:nvSpPr>
        <p:spPr>
          <a:xfrm>
            <a:off x="1143000" y="978408"/>
            <a:ext cx="3200400" cy="320040"/>
          </a:xfrm>
          <a:prstGeom prst="rect">
            <a:avLst/>
          </a:prstGeom>
          <a:noFill/>
          <a:ln/>
        </p:spPr>
        <p:txBody>
          <a:bodyPr wrap="square" lIns="0" tIns="0" rIns="0" bIns="0" rtlCol="0" anchor="ctr"/>
          <a:lstStyle/>
          <a:p>
            <a:pPr marL="0" indent="0">
              <a:buNone/>
            </a:pPr>
            <a:r>
              <a:rPr lang="en-US" sz="1300" b="1" dirty="0">
                <a:solidFill>
                  <a:srgbClr val="FFFFFF"/>
                </a:solidFill>
              </a:rPr>
              <a:t>Real-Time Menu</a:t>
            </a:r>
            <a:endParaRPr lang="en-US" sz="1300" dirty="0"/>
          </a:p>
        </p:txBody>
      </p:sp>
      <p:sp>
        <p:nvSpPr>
          <p:cNvPr id="8" name="Text 6"/>
          <p:cNvSpPr/>
          <p:nvPr/>
        </p:nvSpPr>
        <p:spPr>
          <a:xfrm>
            <a:off x="1143000" y="1307592"/>
            <a:ext cx="3200400" cy="658368"/>
          </a:xfrm>
          <a:prstGeom prst="rect">
            <a:avLst/>
          </a:prstGeom>
          <a:noFill/>
          <a:ln/>
        </p:spPr>
        <p:txBody>
          <a:bodyPr wrap="square" lIns="0" tIns="0" rIns="0" bIns="0" rtlCol="0" anchor="ctr"/>
          <a:lstStyle/>
          <a:p>
            <a:pPr marL="0" indent="0">
              <a:buNone/>
            </a:pPr>
            <a:r>
              <a:rPr lang="en-US" sz="1000" dirty="0">
                <a:solidFill>
                  <a:srgbClr val="A8D5B5"/>
                </a:solidFill>
              </a:rPr>
              <a:t>Moderators update dining menus instantly. Students see Breakfast, Lunch &amp; Dinner for any of the 17 halls, live.</a:t>
            </a:r>
            <a:endParaRPr lang="en-US" sz="1000" dirty="0"/>
          </a:p>
        </p:txBody>
      </p:sp>
      <p:sp>
        <p:nvSpPr>
          <p:cNvPr id="9" name="Shape 7"/>
          <p:cNvSpPr/>
          <p:nvPr/>
        </p:nvSpPr>
        <p:spPr>
          <a:xfrm>
            <a:off x="4754880" y="868680"/>
            <a:ext cx="4114800" cy="1207008"/>
          </a:xfrm>
          <a:prstGeom prst="roundRect">
            <a:avLst>
              <a:gd name="adj" fmla="val 7576"/>
            </a:avLst>
          </a:prstGeom>
          <a:solidFill>
            <a:srgbClr val="1B4332"/>
          </a:solidFill>
          <a:ln/>
          <a:effectLst>
            <a:outerShdw blurRad="76200" dist="25400" dir="2700000" algn="bl" rotWithShape="0">
              <a:srgbClr val="000000">
                <a:alpha val="10000"/>
              </a:srgbClr>
            </a:outerShdw>
          </a:effectLst>
        </p:spPr>
      </p:sp>
      <p:sp>
        <p:nvSpPr>
          <p:cNvPr id="10" name="Text 8"/>
          <p:cNvSpPr/>
          <p:nvPr/>
        </p:nvSpPr>
        <p:spPr>
          <a:xfrm>
            <a:off x="4892040" y="1143000"/>
            <a:ext cx="548640" cy="59436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11" name="Text 9"/>
          <p:cNvSpPr/>
          <p:nvPr/>
        </p:nvSpPr>
        <p:spPr>
          <a:xfrm>
            <a:off x="5532120" y="978408"/>
            <a:ext cx="3200400" cy="320040"/>
          </a:xfrm>
          <a:prstGeom prst="rect">
            <a:avLst/>
          </a:prstGeom>
          <a:noFill/>
          <a:ln/>
        </p:spPr>
        <p:txBody>
          <a:bodyPr wrap="square" lIns="0" tIns="0" rIns="0" bIns="0" rtlCol="0" anchor="ctr"/>
          <a:lstStyle/>
          <a:p>
            <a:pPr marL="0" indent="0">
              <a:buNone/>
            </a:pPr>
            <a:r>
              <a:rPr lang="en-US" sz="1300" b="1" dirty="0">
                <a:solidFill>
                  <a:srgbClr val="FFFFFF"/>
                </a:solidFill>
              </a:rPr>
              <a:t>Live Stock Count</a:t>
            </a:r>
            <a:endParaRPr lang="en-US" sz="1300" dirty="0"/>
          </a:p>
        </p:txBody>
      </p:sp>
      <p:sp>
        <p:nvSpPr>
          <p:cNvPr id="12" name="Text 10"/>
          <p:cNvSpPr/>
          <p:nvPr/>
        </p:nvSpPr>
        <p:spPr>
          <a:xfrm>
            <a:off x="5532120" y="1307592"/>
            <a:ext cx="3200400" cy="658368"/>
          </a:xfrm>
          <a:prstGeom prst="rect">
            <a:avLst/>
          </a:prstGeom>
          <a:noFill/>
          <a:ln/>
        </p:spPr>
        <p:txBody>
          <a:bodyPr wrap="square" lIns="0" tIns="0" rIns="0" bIns="0" rtlCol="0" anchor="ctr"/>
          <a:lstStyle/>
          <a:p>
            <a:pPr marL="0" indent="0">
              <a:buNone/>
            </a:pPr>
            <a:r>
              <a:rPr lang="en-US" sz="1000" dirty="0">
                <a:solidFill>
                  <a:srgbClr val="A8D5B5"/>
                </a:solidFill>
              </a:rPr>
              <a:t>Every food item has a live remaining count. Status auto-updates: Available → Low → Finished.</a:t>
            </a:r>
            <a:endParaRPr lang="en-US" sz="1000" dirty="0"/>
          </a:p>
        </p:txBody>
      </p:sp>
      <p:sp>
        <p:nvSpPr>
          <p:cNvPr id="13" name="Shape 11"/>
          <p:cNvSpPr/>
          <p:nvPr/>
        </p:nvSpPr>
        <p:spPr>
          <a:xfrm>
            <a:off x="365760" y="2240280"/>
            <a:ext cx="4114800" cy="1207008"/>
          </a:xfrm>
          <a:prstGeom prst="roundRect">
            <a:avLst>
              <a:gd name="adj" fmla="val 7576"/>
            </a:avLst>
          </a:prstGeom>
          <a:solidFill>
            <a:srgbClr val="1B4332"/>
          </a:solidFill>
          <a:ln/>
          <a:effectLst>
            <a:outerShdw blurRad="76200" dist="25400" dir="2700000" algn="bl" rotWithShape="0">
              <a:srgbClr val="000000">
                <a:alpha val="10000"/>
              </a:srgbClr>
            </a:outerShdw>
          </a:effectLst>
        </p:spPr>
      </p:sp>
      <p:sp>
        <p:nvSpPr>
          <p:cNvPr id="14" name="Text 12"/>
          <p:cNvSpPr/>
          <p:nvPr/>
        </p:nvSpPr>
        <p:spPr>
          <a:xfrm>
            <a:off x="502920" y="2514600"/>
            <a:ext cx="548640" cy="59436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15" name="Text 13"/>
          <p:cNvSpPr/>
          <p:nvPr/>
        </p:nvSpPr>
        <p:spPr>
          <a:xfrm>
            <a:off x="1143000" y="2350008"/>
            <a:ext cx="3200400" cy="320040"/>
          </a:xfrm>
          <a:prstGeom prst="rect">
            <a:avLst/>
          </a:prstGeom>
          <a:noFill/>
          <a:ln/>
        </p:spPr>
        <p:txBody>
          <a:bodyPr wrap="square" lIns="0" tIns="0" rIns="0" bIns="0" rtlCol="0" anchor="ctr"/>
          <a:lstStyle/>
          <a:p>
            <a:pPr marL="0" indent="0">
              <a:buNone/>
            </a:pPr>
            <a:r>
              <a:rPr lang="en-US" sz="1300" b="1" dirty="0">
                <a:solidFill>
                  <a:srgbClr val="FFFFFF"/>
                </a:solidFill>
              </a:rPr>
              <a:t>Digital Notices</a:t>
            </a:r>
            <a:endParaRPr lang="en-US" sz="1300" dirty="0"/>
          </a:p>
        </p:txBody>
      </p:sp>
      <p:sp>
        <p:nvSpPr>
          <p:cNvPr id="16" name="Text 14"/>
          <p:cNvSpPr/>
          <p:nvPr/>
        </p:nvSpPr>
        <p:spPr>
          <a:xfrm>
            <a:off x="1143000" y="2679192"/>
            <a:ext cx="3200400" cy="658368"/>
          </a:xfrm>
          <a:prstGeom prst="rect">
            <a:avLst/>
          </a:prstGeom>
          <a:noFill/>
          <a:ln/>
        </p:spPr>
        <p:txBody>
          <a:bodyPr wrap="square" lIns="0" tIns="0" rIns="0" bIns="0" rtlCol="0" anchor="ctr"/>
          <a:lstStyle/>
          <a:p>
            <a:pPr marL="0" indent="0">
              <a:buNone/>
            </a:pPr>
            <a:r>
              <a:rPr lang="en-US" sz="1000" dirty="0">
                <a:solidFill>
                  <a:srgbClr val="A8D5B5"/>
                </a:solidFill>
              </a:rPr>
              <a:t>Moderators post notices with expiry timers. Only active, non-expired notices are shown to students.</a:t>
            </a:r>
            <a:endParaRPr lang="en-US" sz="1000" dirty="0"/>
          </a:p>
        </p:txBody>
      </p:sp>
      <p:sp>
        <p:nvSpPr>
          <p:cNvPr id="17" name="Shape 15"/>
          <p:cNvSpPr/>
          <p:nvPr/>
        </p:nvSpPr>
        <p:spPr>
          <a:xfrm>
            <a:off x="4754880" y="2240280"/>
            <a:ext cx="4114800" cy="1207008"/>
          </a:xfrm>
          <a:prstGeom prst="roundRect">
            <a:avLst>
              <a:gd name="adj" fmla="val 7576"/>
            </a:avLst>
          </a:prstGeom>
          <a:solidFill>
            <a:srgbClr val="1B4332"/>
          </a:solidFill>
          <a:ln/>
          <a:effectLst>
            <a:outerShdw blurRad="76200" dist="25400" dir="2700000" algn="bl" rotWithShape="0">
              <a:srgbClr val="000000">
                <a:alpha val="10000"/>
              </a:srgbClr>
            </a:outerShdw>
          </a:effectLst>
        </p:spPr>
      </p:sp>
      <p:sp>
        <p:nvSpPr>
          <p:cNvPr id="18" name="Text 16"/>
          <p:cNvSpPr/>
          <p:nvPr/>
        </p:nvSpPr>
        <p:spPr>
          <a:xfrm>
            <a:off x="4892040" y="2514600"/>
            <a:ext cx="548640" cy="59436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19" name="Text 17"/>
          <p:cNvSpPr/>
          <p:nvPr/>
        </p:nvSpPr>
        <p:spPr>
          <a:xfrm>
            <a:off x="5532120" y="2350008"/>
            <a:ext cx="3200400" cy="320040"/>
          </a:xfrm>
          <a:prstGeom prst="rect">
            <a:avLst/>
          </a:prstGeom>
          <a:noFill/>
          <a:ln/>
        </p:spPr>
        <p:txBody>
          <a:bodyPr wrap="square" lIns="0" tIns="0" rIns="0" bIns="0" rtlCol="0" anchor="ctr"/>
          <a:lstStyle/>
          <a:p>
            <a:pPr marL="0" indent="0">
              <a:buNone/>
            </a:pPr>
            <a:r>
              <a:rPr lang="en-US" sz="1300" b="1" dirty="0">
                <a:solidFill>
                  <a:srgbClr val="FFFFFF"/>
                </a:solidFill>
              </a:rPr>
              <a:t>Feast Scheduling</a:t>
            </a:r>
            <a:endParaRPr lang="en-US" sz="1300" dirty="0"/>
          </a:p>
        </p:txBody>
      </p:sp>
      <p:sp>
        <p:nvSpPr>
          <p:cNvPr id="20" name="Text 18"/>
          <p:cNvSpPr/>
          <p:nvPr/>
        </p:nvSpPr>
        <p:spPr>
          <a:xfrm>
            <a:off x="5532120" y="2679192"/>
            <a:ext cx="3200400" cy="658368"/>
          </a:xfrm>
          <a:prstGeom prst="rect">
            <a:avLst/>
          </a:prstGeom>
          <a:noFill/>
          <a:ln/>
        </p:spPr>
        <p:txBody>
          <a:bodyPr wrap="square" lIns="0" tIns="0" rIns="0" bIns="0" rtlCol="0" anchor="ctr"/>
          <a:lstStyle/>
          <a:p>
            <a:pPr marL="0" indent="0">
              <a:buNone/>
            </a:pPr>
            <a:r>
              <a:rPr lang="en-US" sz="1000" dirty="0">
                <a:solidFill>
                  <a:srgbClr val="A8D5B5"/>
                </a:solidFill>
              </a:rPr>
              <a:t>Upcoming feast events with full menu, price, and date — filterd to show only future feasts.</a:t>
            </a:r>
            <a:endParaRPr lang="en-US" sz="1000" dirty="0"/>
          </a:p>
        </p:txBody>
      </p:sp>
      <p:sp>
        <p:nvSpPr>
          <p:cNvPr id="21" name="Shape 19"/>
          <p:cNvSpPr/>
          <p:nvPr/>
        </p:nvSpPr>
        <p:spPr>
          <a:xfrm>
            <a:off x="365760" y="3611880"/>
            <a:ext cx="4114800" cy="1207008"/>
          </a:xfrm>
          <a:prstGeom prst="roundRect">
            <a:avLst>
              <a:gd name="adj" fmla="val 7576"/>
            </a:avLst>
          </a:prstGeom>
          <a:solidFill>
            <a:srgbClr val="1B4332"/>
          </a:solidFill>
          <a:ln/>
          <a:effectLst>
            <a:outerShdw blurRad="76200" dist="25400" dir="2700000" algn="bl" rotWithShape="0">
              <a:srgbClr val="000000">
                <a:alpha val="10000"/>
              </a:srgbClr>
            </a:outerShdw>
          </a:effectLst>
        </p:spPr>
      </p:sp>
      <p:sp>
        <p:nvSpPr>
          <p:cNvPr id="22" name="Text 20"/>
          <p:cNvSpPr/>
          <p:nvPr/>
        </p:nvSpPr>
        <p:spPr>
          <a:xfrm>
            <a:off x="502920" y="3886200"/>
            <a:ext cx="548640" cy="59436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23" name="Text 21"/>
          <p:cNvSpPr/>
          <p:nvPr/>
        </p:nvSpPr>
        <p:spPr>
          <a:xfrm>
            <a:off x="1143000" y="3721608"/>
            <a:ext cx="3200400" cy="320040"/>
          </a:xfrm>
          <a:prstGeom prst="rect">
            <a:avLst/>
          </a:prstGeom>
          <a:noFill/>
          <a:ln/>
        </p:spPr>
        <p:txBody>
          <a:bodyPr wrap="square" lIns="0" tIns="0" rIns="0" bIns="0" rtlCol="0" anchor="ctr"/>
          <a:lstStyle/>
          <a:p>
            <a:pPr marL="0" indent="0">
              <a:buNone/>
            </a:pPr>
            <a:r>
              <a:rPr lang="en-US" sz="1300" b="1" dirty="0">
                <a:solidFill>
                  <a:srgbClr val="FFFFFF"/>
                </a:solidFill>
              </a:rPr>
              <a:t>Food Reviews</a:t>
            </a:r>
            <a:endParaRPr lang="en-US" sz="1300" dirty="0"/>
          </a:p>
        </p:txBody>
      </p:sp>
      <p:sp>
        <p:nvSpPr>
          <p:cNvPr id="24" name="Text 22"/>
          <p:cNvSpPr/>
          <p:nvPr/>
        </p:nvSpPr>
        <p:spPr>
          <a:xfrm>
            <a:off x="1143000" y="4050792"/>
            <a:ext cx="3200400" cy="658368"/>
          </a:xfrm>
          <a:prstGeom prst="rect">
            <a:avLst/>
          </a:prstGeom>
          <a:noFill/>
          <a:ln/>
        </p:spPr>
        <p:txBody>
          <a:bodyPr wrap="square" lIns="0" tIns="0" rIns="0" bIns="0" rtlCol="0" anchor="ctr"/>
          <a:lstStyle/>
          <a:p>
            <a:pPr marL="0" indent="0">
              <a:buNone/>
            </a:pPr>
            <a:r>
              <a:rPr lang="en-US" sz="1000" dirty="0">
                <a:solidFill>
                  <a:srgbClr val="A8D5B5"/>
                </a:solidFill>
              </a:rPr>
              <a:t>Students rate and review food items. Average rating shown on each food item in real time.</a:t>
            </a:r>
            <a:endParaRPr lang="en-US" sz="1000" dirty="0"/>
          </a:p>
        </p:txBody>
      </p:sp>
      <p:sp>
        <p:nvSpPr>
          <p:cNvPr id="25" name="Shape 23"/>
          <p:cNvSpPr/>
          <p:nvPr/>
        </p:nvSpPr>
        <p:spPr>
          <a:xfrm>
            <a:off x="4754880" y="3611880"/>
            <a:ext cx="4114800" cy="1207008"/>
          </a:xfrm>
          <a:prstGeom prst="roundRect">
            <a:avLst>
              <a:gd name="adj" fmla="val 7576"/>
            </a:avLst>
          </a:prstGeom>
          <a:solidFill>
            <a:srgbClr val="1B4332"/>
          </a:solidFill>
          <a:ln/>
          <a:effectLst>
            <a:outerShdw blurRad="76200" dist="25400" dir="2700000" algn="bl" rotWithShape="0">
              <a:srgbClr val="000000">
                <a:alpha val="10000"/>
              </a:srgbClr>
            </a:outerShdw>
          </a:effectLst>
        </p:spPr>
      </p:sp>
      <p:sp>
        <p:nvSpPr>
          <p:cNvPr id="26" name="Text 24"/>
          <p:cNvSpPr/>
          <p:nvPr/>
        </p:nvSpPr>
        <p:spPr>
          <a:xfrm>
            <a:off x="4892040" y="3886200"/>
            <a:ext cx="548640" cy="594360"/>
          </a:xfrm>
          <a:prstGeom prst="rect">
            <a:avLst/>
          </a:prstGeom>
          <a:noFill/>
          <a:ln/>
        </p:spPr>
        <p:txBody>
          <a:bodyPr wrap="square" lIns="0" tIns="0" rIns="0" bIns="0" rtlCol="0" anchor="ctr"/>
          <a:lstStyle/>
          <a:p>
            <a:pPr marL="0" indent="0">
              <a:buNone/>
            </a:pPr>
            <a:r>
              <a:rPr lang="en-US" sz="2200" dirty="0">
                <a:solidFill>
                  <a:srgbClr val="000000"/>
                </a:solidFill>
              </a:rPr>
              <a:t>🔄</a:t>
            </a:r>
            <a:endParaRPr lang="en-US" sz="2200" dirty="0"/>
          </a:p>
        </p:txBody>
      </p:sp>
      <p:sp>
        <p:nvSpPr>
          <p:cNvPr id="27" name="Text 25"/>
          <p:cNvSpPr/>
          <p:nvPr/>
        </p:nvSpPr>
        <p:spPr>
          <a:xfrm>
            <a:off x="5532120" y="3721608"/>
            <a:ext cx="3200400" cy="320040"/>
          </a:xfrm>
          <a:prstGeom prst="rect">
            <a:avLst/>
          </a:prstGeom>
          <a:noFill/>
          <a:ln/>
        </p:spPr>
        <p:txBody>
          <a:bodyPr wrap="square" lIns="0" tIns="0" rIns="0" bIns="0" rtlCol="0" anchor="ctr"/>
          <a:lstStyle/>
          <a:p>
            <a:pPr marL="0" indent="0">
              <a:buNone/>
            </a:pPr>
            <a:r>
              <a:rPr lang="en-US" sz="1300" b="1" dirty="0">
                <a:solidFill>
                  <a:srgbClr val="FFFFFF"/>
                </a:solidFill>
              </a:rPr>
              <a:t>Daily Reset</a:t>
            </a:r>
            <a:endParaRPr lang="en-US" sz="1300" dirty="0"/>
          </a:p>
        </p:txBody>
      </p:sp>
      <p:sp>
        <p:nvSpPr>
          <p:cNvPr id="28" name="Text 26"/>
          <p:cNvSpPr/>
          <p:nvPr/>
        </p:nvSpPr>
        <p:spPr>
          <a:xfrm>
            <a:off x="5532120" y="4050792"/>
            <a:ext cx="3200400" cy="658368"/>
          </a:xfrm>
          <a:prstGeom prst="rect">
            <a:avLst/>
          </a:prstGeom>
          <a:noFill/>
          <a:ln/>
        </p:spPr>
        <p:txBody>
          <a:bodyPr wrap="square" lIns="0" tIns="0" rIns="0" bIns="0" rtlCol="0" anchor="ctr"/>
          <a:lstStyle/>
          <a:p>
            <a:pPr marL="0" indent="0">
              <a:buNone/>
            </a:pPr>
            <a:r>
              <a:rPr lang="en-US" sz="1000" dirty="0">
                <a:solidFill>
                  <a:srgbClr val="A8D5B5"/>
                </a:solidFill>
              </a:rPr>
              <a:t>Moderators can duplicate yesterday's menu or clear everything — one tap to start a new day.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37160"/>
            <a:ext cx="1463040" cy="256032"/>
          </a:xfrm>
          <a:prstGeom prst="roundRect">
            <a:avLst>
              <a:gd name="adj" fmla="val 21429"/>
            </a:avLst>
          </a:prstGeom>
          <a:solidFill>
            <a:srgbClr val="D4E6D8"/>
          </a:solidFill>
          <a:ln/>
        </p:spPr>
      </p:sp>
      <p:sp>
        <p:nvSpPr>
          <p:cNvPr id="3" name="Text 1"/>
          <p:cNvSpPr/>
          <p:nvPr/>
        </p:nvSpPr>
        <p:spPr>
          <a:xfrm>
            <a:off x="365760" y="137160"/>
            <a:ext cx="1463040" cy="256032"/>
          </a:xfrm>
          <a:prstGeom prst="rect">
            <a:avLst/>
          </a:prstGeom>
          <a:noFill/>
          <a:ln/>
        </p:spPr>
        <p:txBody>
          <a:bodyPr wrap="square" lIns="0" tIns="0" rIns="0" bIns="0" rtlCol="0" anchor="ctr"/>
          <a:lstStyle/>
          <a:p>
            <a:pPr marL="0" indent="0" algn="ctr">
              <a:buNone/>
            </a:pPr>
            <a:r>
              <a:rPr lang="en-US" sz="800" b="1" dirty="0">
                <a:solidFill>
                  <a:srgbClr val="2D5A3D"/>
                </a:solidFill>
              </a:rPr>
              <a:t>03 · Users</a:t>
            </a:r>
            <a:endParaRPr lang="en-US" sz="800" dirty="0"/>
          </a:p>
        </p:txBody>
      </p:sp>
      <p:sp>
        <p:nvSpPr>
          <p:cNvPr id="4" name="Text 2"/>
          <p:cNvSpPr/>
          <p:nvPr/>
        </p:nvSpPr>
        <p:spPr>
          <a:xfrm>
            <a:off x="365760" y="502920"/>
            <a:ext cx="8229600" cy="50292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Target Users</a:t>
            </a:r>
            <a:endParaRPr lang="en-US" sz="3000" dirty="0"/>
          </a:p>
        </p:txBody>
      </p:sp>
      <p:sp>
        <p:nvSpPr>
          <p:cNvPr id="5" name="Shape 3"/>
          <p:cNvSpPr/>
          <p:nvPr/>
        </p:nvSpPr>
        <p:spPr>
          <a:xfrm>
            <a:off x="365760" y="1143000"/>
            <a:ext cx="2651760" cy="3474720"/>
          </a:xfrm>
          <a:prstGeom prst="roundRect">
            <a:avLst>
              <a:gd name="adj" fmla="val 3448"/>
            </a:avLst>
          </a:prstGeom>
          <a:solidFill>
            <a:srgbClr val="EDF7F0"/>
          </a:solidFill>
          <a:ln/>
          <a:effectLst>
            <a:outerShdw blurRad="76200" dist="25400" dir="2700000" algn="bl" rotWithShape="0">
              <a:srgbClr val="000000">
                <a:alpha val="10000"/>
              </a:srgbClr>
            </a:outerShdw>
          </a:effectLst>
        </p:spPr>
      </p:sp>
      <p:sp>
        <p:nvSpPr>
          <p:cNvPr id="6" name="Shape 4"/>
          <p:cNvSpPr/>
          <p:nvPr/>
        </p:nvSpPr>
        <p:spPr>
          <a:xfrm>
            <a:off x="1325880" y="1280160"/>
            <a:ext cx="731520" cy="731520"/>
          </a:xfrm>
          <a:prstGeom prst="ellipse">
            <a:avLst/>
          </a:prstGeom>
          <a:solidFill>
            <a:srgbClr val="D4E6D8"/>
          </a:solidFill>
          <a:ln/>
        </p:spPr>
      </p:sp>
      <p:sp>
        <p:nvSpPr>
          <p:cNvPr id="7" name="Text 5"/>
          <p:cNvSpPr/>
          <p:nvPr/>
        </p:nvSpPr>
        <p:spPr>
          <a:xfrm>
            <a:off x="1325880" y="1280160"/>
            <a:ext cx="731520" cy="7315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365760" y="2148840"/>
            <a:ext cx="2651760" cy="365760"/>
          </a:xfrm>
          <a:prstGeom prst="rect">
            <a:avLst/>
          </a:prstGeom>
          <a:noFill/>
          <a:ln/>
        </p:spPr>
        <p:txBody>
          <a:bodyPr wrap="square" lIns="0" tIns="0" rIns="0" bIns="0" rtlCol="0" anchor="ctr"/>
          <a:lstStyle/>
          <a:p>
            <a:pPr marL="0" indent="0" algn="ctr">
              <a:buNone/>
            </a:pPr>
            <a:r>
              <a:rPr lang="en-US" sz="1800" b="1" dirty="0">
                <a:solidFill>
                  <a:srgbClr val="2D5A3D"/>
                </a:solidFill>
              </a:rPr>
              <a:t>Student</a:t>
            </a:r>
            <a:endParaRPr lang="en-US" sz="1800" dirty="0"/>
          </a:p>
        </p:txBody>
      </p:sp>
      <p:sp>
        <p:nvSpPr>
          <p:cNvPr id="9" name="Text 7"/>
          <p:cNvSpPr/>
          <p:nvPr/>
        </p:nvSpPr>
        <p:spPr>
          <a:xfrm>
            <a:off x="502920" y="2606040"/>
            <a:ext cx="2377440" cy="237744"/>
          </a:xfrm>
          <a:prstGeom prst="rect">
            <a:avLst/>
          </a:prstGeom>
          <a:noFill/>
          <a:ln/>
        </p:spPr>
        <p:txBody>
          <a:bodyPr wrap="square" lIns="0" tIns="0" rIns="0" bIns="0" rtlCol="0" anchor="ctr"/>
          <a:lstStyle/>
          <a:p>
            <a:pPr marL="0" indent="0">
              <a:buNone/>
            </a:pPr>
            <a:r>
              <a:rPr lang="en-US" sz="1000" dirty="0">
                <a:solidFill>
                  <a:srgbClr val="1A1A1A"/>
                </a:solidFill>
              </a:rPr>
              <a:t>✓  Browse 17 hall menus</a:t>
            </a:r>
            <a:endParaRPr lang="en-US" sz="1000" dirty="0"/>
          </a:p>
        </p:txBody>
      </p:sp>
      <p:sp>
        <p:nvSpPr>
          <p:cNvPr id="10" name="Text 8"/>
          <p:cNvSpPr/>
          <p:nvPr/>
        </p:nvSpPr>
        <p:spPr>
          <a:xfrm>
            <a:off x="502920" y="2862072"/>
            <a:ext cx="2377440" cy="237744"/>
          </a:xfrm>
          <a:prstGeom prst="rect">
            <a:avLst/>
          </a:prstGeom>
          <a:noFill/>
          <a:ln/>
        </p:spPr>
        <p:txBody>
          <a:bodyPr wrap="square" lIns="0" tIns="0" rIns="0" bIns="0" rtlCol="0" anchor="ctr"/>
          <a:lstStyle/>
          <a:p>
            <a:pPr marL="0" indent="0">
              <a:buNone/>
            </a:pPr>
            <a:r>
              <a:rPr lang="en-US" sz="1000" dirty="0">
                <a:solidFill>
                  <a:srgbClr val="1A1A1A"/>
                </a:solidFill>
              </a:rPr>
              <a:t>✓  Filter by Boys / Girls halls</a:t>
            </a:r>
            <a:endParaRPr lang="en-US" sz="1000" dirty="0"/>
          </a:p>
        </p:txBody>
      </p:sp>
      <p:sp>
        <p:nvSpPr>
          <p:cNvPr id="11" name="Text 9"/>
          <p:cNvSpPr/>
          <p:nvPr/>
        </p:nvSpPr>
        <p:spPr>
          <a:xfrm>
            <a:off x="502920" y="3118104"/>
            <a:ext cx="2377440" cy="237744"/>
          </a:xfrm>
          <a:prstGeom prst="rect">
            <a:avLst/>
          </a:prstGeom>
          <a:noFill/>
          <a:ln/>
        </p:spPr>
        <p:txBody>
          <a:bodyPr wrap="square" lIns="0" tIns="0" rIns="0" bIns="0" rtlCol="0" anchor="ctr"/>
          <a:lstStyle/>
          <a:p>
            <a:pPr marL="0" indent="0">
              <a:buNone/>
            </a:pPr>
            <a:r>
              <a:rPr lang="en-US" sz="1000" dirty="0">
                <a:solidFill>
                  <a:srgbClr val="1A1A1A"/>
                </a:solidFill>
              </a:rPr>
              <a:t>✓  Check live food status</a:t>
            </a:r>
            <a:endParaRPr lang="en-US" sz="1000" dirty="0"/>
          </a:p>
        </p:txBody>
      </p:sp>
      <p:sp>
        <p:nvSpPr>
          <p:cNvPr id="12" name="Text 10"/>
          <p:cNvSpPr/>
          <p:nvPr/>
        </p:nvSpPr>
        <p:spPr>
          <a:xfrm>
            <a:off x="502920" y="3374136"/>
            <a:ext cx="2377440" cy="237744"/>
          </a:xfrm>
          <a:prstGeom prst="rect">
            <a:avLst/>
          </a:prstGeom>
          <a:noFill/>
          <a:ln/>
        </p:spPr>
        <p:txBody>
          <a:bodyPr wrap="square" lIns="0" tIns="0" rIns="0" bIns="0" rtlCol="0" anchor="ctr"/>
          <a:lstStyle/>
          <a:p>
            <a:pPr marL="0" indent="0">
              <a:buNone/>
            </a:pPr>
            <a:r>
              <a:rPr lang="en-US" sz="1000" dirty="0">
                <a:solidFill>
                  <a:srgbClr val="1A1A1A"/>
                </a:solidFill>
              </a:rPr>
              <a:t>✓  View food item details</a:t>
            </a:r>
            <a:endParaRPr lang="en-US" sz="1000" dirty="0"/>
          </a:p>
        </p:txBody>
      </p:sp>
      <p:sp>
        <p:nvSpPr>
          <p:cNvPr id="13" name="Text 11"/>
          <p:cNvSpPr/>
          <p:nvPr/>
        </p:nvSpPr>
        <p:spPr>
          <a:xfrm>
            <a:off x="502920" y="3630168"/>
            <a:ext cx="2377440" cy="237744"/>
          </a:xfrm>
          <a:prstGeom prst="rect">
            <a:avLst/>
          </a:prstGeom>
          <a:noFill/>
          <a:ln/>
        </p:spPr>
        <p:txBody>
          <a:bodyPr wrap="square" lIns="0" tIns="0" rIns="0" bIns="0" rtlCol="0" anchor="ctr"/>
          <a:lstStyle/>
          <a:p>
            <a:pPr marL="0" indent="0">
              <a:buNone/>
            </a:pPr>
            <a:r>
              <a:rPr lang="en-US" sz="1000" dirty="0">
                <a:solidFill>
                  <a:srgbClr val="1A1A1A"/>
                </a:solidFill>
              </a:rPr>
              <a:t>✓  Submit star ratings &amp; reviews</a:t>
            </a:r>
            <a:endParaRPr lang="en-US" sz="1000" dirty="0"/>
          </a:p>
        </p:txBody>
      </p:sp>
      <p:sp>
        <p:nvSpPr>
          <p:cNvPr id="14" name="Text 12"/>
          <p:cNvSpPr/>
          <p:nvPr/>
        </p:nvSpPr>
        <p:spPr>
          <a:xfrm>
            <a:off x="502920" y="3886200"/>
            <a:ext cx="2377440" cy="237744"/>
          </a:xfrm>
          <a:prstGeom prst="rect">
            <a:avLst/>
          </a:prstGeom>
          <a:noFill/>
          <a:ln/>
        </p:spPr>
        <p:txBody>
          <a:bodyPr wrap="square" lIns="0" tIns="0" rIns="0" bIns="0" rtlCol="0" anchor="ctr"/>
          <a:lstStyle/>
          <a:p>
            <a:pPr marL="0" indent="0">
              <a:buNone/>
            </a:pPr>
            <a:r>
              <a:rPr lang="en-US" sz="1000" dirty="0">
                <a:solidFill>
                  <a:srgbClr val="1A1A1A"/>
                </a:solidFill>
              </a:rPr>
              <a:t>✓  Read notices &amp; feast info</a:t>
            </a:r>
            <a:endParaRPr lang="en-US" sz="1000" dirty="0"/>
          </a:p>
        </p:txBody>
      </p:sp>
      <p:sp>
        <p:nvSpPr>
          <p:cNvPr id="15" name="Text 13"/>
          <p:cNvSpPr/>
          <p:nvPr/>
        </p:nvSpPr>
        <p:spPr>
          <a:xfrm>
            <a:off x="502920" y="4142232"/>
            <a:ext cx="2377440" cy="237744"/>
          </a:xfrm>
          <a:prstGeom prst="rect">
            <a:avLst/>
          </a:prstGeom>
          <a:noFill/>
          <a:ln/>
        </p:spPr>
        <p:txBody>
          <a:bodyPr wrap="square" lIns="0" tIns="0" rIns="0" bIns="0" rtlCol="0" anchor="ctr"/>
          <a:lstStyle/>
          <a:p>
            <a:pPr marL="0" indent="0">
              <a:buNone/>
            </a:pPr>
            <a:r>
              <a:rPr lang="en-US" sz="1000" dirty="0">
                <a:solidFill>
                  <a:srgbClr val="1A1A1A"/>
                </a:solidFill>
              </a:rPr>
              <a:t>✓  No login required</a:t>
            </a:r>
            <a:endParaRPr lang="en-US" sz="1000" dirty="0"/>
          </a:p>
        </p:txBody>
      </p:sp>
      <p:sp>
        <p:nvSpPr>
          <p:cNvPr id="16" name="Shape 14"/>
          <p:cNvSpPr/>
          <p:nvPr/>
        </p:nvSpPr>
        <p:spPr>
          <a:xfrm>
            <a:off x="3246120" y="1143000"/>
            <a:ext cx="2651760" cy="3474720"/>
          </a:xfrm>
          <a:prstGeom prst="roundRect">
            <a:avLst>
              <a:gd name="adj" fmla="val 3448"/>
            </a:avLst>
          </a:prstGeom>
          <a:solidFill>
            <a:srgbClr val="EDF0F7"/>
          </a:solidFill>
          <a:ln/>
          <a:effectLst>
            <a:outerShdw blurRad="76200" dist="25400" dir="2700000" algn="bl" rotWithShape="0">
              <a:srgbClr val="000000">
                <a:alpha val="10000"/>
              </a:srgbClr>
            </a:outerShdw>
          </a:effectLst>
        </p:spPr>
      </p:sp>
      <p:sp>
        <p:nvSpPr>
          <p:cNvPr id="17" name="Shape 15"/>
          <p:cNvSpPr/>
          <p:nvPr/>
        </p:nvSpPr>
        <p:spPr>
          <a:xfrm>
            <a:off x="4206240" y="1280160"/>
            <a:ext cx="731520" cy="731520"/>
          </a:xfrm>
          <a:prstGeom prst="ellipse">
            <a:avLst/>
          </a:prstGeom>
          <a:solidFill>
            <a:srgbClr val="D0D8F0"/>
          </a:solidFill>
          <a:ln/>
        </p:spPr>
      </p:sp>
      <p:sp>
        <p:nvSpPr>
          <p:cNvPr id="18" name="Text 16"/>
          <p:cNvSpPr/>
          <p:nvPr/>
        </p:nvSpPr>
        <p:spPr>
          <a:xfrm>
            <a:off x="4206240" y="1280160"/>
            <a:ext cx="731520" cy="7315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3246120" y="2148840"/>
            <a:ext cx="2651760" cy="365760"/>
          </a:xfrm>
          <a:prstGeom prst="rect">
            <a:avLst/>
          </a:prstGeom>
          <a:noFill/>
          <a:ln/>
        </p:spPr>
        <p:txBody>
          <a:bodyPr wrap="square" lIns="0" tIns="0" rIns="0" bIns="0" rtlCol="0" anchor="ctr"/>
          <a:lstStyle/>
          <a:p>
            <a:pPr marL="0" indent="0" algn="ctr">
              <a:buNone/>
            </a:pPr>
            <a:r>
              <a:rPr lang="en-US" sz="1500" b="1" dirty="0">
                <a:solidFill>
                  <a:srgbClr val="1A237E"/>
                </a:solidFill>
              </a:rPr>
              <a:t>Dining Moderator</a:t>
            </a:r>
            <a:endParaRPr lang="en-US" sz="1500" dirty="0"/>
          </a:p>
        </p:txBody>
      </p:sp>
      <p:sp>
        <p:nvSpPr>
          <p:cNvPr id="20" name="Text 18"/>
          <p:cNvSpPr/>
          <p:nvPr/>
        </p:nvSpPr>
        <p:spPr>
          <a:xfrm>
            <a:off x="3383280" y="2606040"/>
            <a:ext cx="2377440" cy="237744"/>
          </a:xfrm>
          <a:prstGeom prst="rect">
            <a:avLst/>
          </a:prstGeom>
          <a:noFill/>
          <a:ln/>
        </p:spPr>
        <p:txBody>
          <a:bodyPr wrap="square" lIns="0" tIns="0" rIns="0" bIns="0" rtlCol="0" anchor="ctr"/>
          <a:lstStyle/>
          <a:p>
            <a:pPr marL="0" indent="0">
              <a:buNone/>
            </a:pPr>
            <a:r>
              <a:rPr lang="en-US" sz="1000" dirty="0">
                <a:solidFill>
                  <a:srgbClr val="1A1A1A"/>
                </a:solidFill>
              </a:rPr>
              <a:t>✓  Create/edit daily menu</a:t>
            </a:r>
            <a:endParaRPr lang="en-US" sz="1000" dirty="0"/>
          </a:p>
        </p:txBody>
      </p:sp>
      <p:sp>
        <p:nvSpPr>
          <p:cNvPr id="21" name="Text 19"/>
          <p:cNvSpPr/>
          <p:nvPr/>
        </p:nvSpPr>
        <p:spPr>
          <a:xfrm>
            <a:off x="3383280" y="2862072"/>
            <a:ext cx="2377440" cy="237744"/>
          </a:xfrm>
          <a:prstGeom prst="rect">
            <a:avLst/>
          </a:prstGeom>
          <a:noFill/>
          <a:ln/>
        </p:spPr>
        <p:txBody>
          <a:bodyPr wrap="square" lIns="0" tIns="0" rIns="0" bIns="0" rtlCol="0" anchor="ctr"/>
          <a:lstStyle/>
          <a:p>
            <a:pPr marL="0" indent="0">
              <a:buNone/>
            </a:pPr>
            <a:r>
              <a:rPr lang="en-US" sz="1000" dirty="0">
                <a:solidFill>
                  <a:srgbClr val="1A1A1A"/>
                </a:solidFill>
              </a:rPr>
              <a:t>✓  Quick Status (bulk update)</a:t>
            </a:r>
            <a:endParaRPr lang="en-US" sz="1000" dirty="0"/>
          </a:p>
        </p:txBody>
      </p:sp>
      <p:sp>
        <p:nvSpPr>
          <p:cNvPr id="22" name="Text 20"/>
          <p:cNvSpPr/>
          <p:nvPr/>
        </p:nvSpPr>
        <p:spPr>
          <a:xfrm>
            <a:off x="3383280" y="3118104"/>
            <a:ext cx="2377440" cy="237744"/>
          </a:xfrm>
          <a:prstGeom prst="rect">
            <a:avLst/>
          </a:prstGeom>
          <a:noFill/>
          <a:ln/>
        </p:spPr>
        <p:txBody>
          <a:bodyPr wrap="square" lIns="0" tIns="0" rIns="0" bIns="0" rtlCol="0" anchor="ctr"/>
          <a:lstStyle/>
          <a:p>
            <a:pPr marL="0" indent="0">
              <a:buNone/>
            </a:pPr>
            <a:r>
              <a:rPr lang="en-US" sz="1000" dirty="0">
                <a:solidFill>
                  <a:srgbClr val="1A1A1A"/>
                </a:solidFill>
              </a:rPr>
              <a:t>✓  Live Serve Count (−1)</a:t>
            </a:r>
            <a:endParaRPr lang="en-US" sz="1000" dirty="0"/>
          </a:p>
        </p:txBody>
      </p:sp>
      <p:sp>
        <p:nvSpPr>
          <p:cNvPr id="23" name="Text 21"/>
          <p:cNvSpPr/>
          <p:nvPr/>
        </p:nvSpPr>
        <p:spPr>
          <a:xfrm>
            <a:off x="3383280" y="3374136"/>
            <a:ext cx="2377440" cy="237744"/>
          </a:xfrm>
          <a:prstGeom prst="rect">
            <a:avLst/>
          </a:prstGeom>
          <a:noFill/>
          <a:ln/>
        </p:spPr>
        <p:txBody>
          <a:bodyPr wrap="square" lIns="0" tIns="0" rIns="0" bIns="0" rtlCol="0" anchor="ctr"/>
          <a:lstStyle/>
          <a:p>
            <a:pPr marL="0" indent="0">
              <a:buNone/>
            </a:pPr>
            <a:r>
              <a:rPr lang="en-US" sz="1000" dirty="0">
                <a:solidFill>
                  <a:srgbClr val="1A1A1A"/>
                </a:solidFill>
              </a:rPr>
              <a:t>✓  Post &amp; manage notices</a:t>
            </a:r>
            <a:endParaRPr lang="en-US" sz="1000" dirty="0"/>
          </a:p>
        </p:txBody>
      </p:sp>
      <p:sp>
        <p:nvSpPr>
          <p:cNvPr id="24" name="Text 22"/>
          <p:cNvSpPr/>
          <p:nvPr/>
        </p:nvSpPr>
        <p:spPr>
          <a:xfrm>
            <a:off x="3383280" y="3630168"/>
            <a:ext cx="2377440" cy="237744"/>
          </a:xfrm>
          <a:prstGeom prst="rect">
            <a:avLst/>
          </a:prstGeom>
          <a:noFill/>
          <a:ln/>
        </p:spPr>
        <p:txBody>
          <a:bodyPr wrap="square" lIns="0" tIns="0" rIns="0" bIns="0" rtlCol="0" anchor="ctr"/>
          <a:lstStyle/>
          <a:p>
            <a:pPr marL="0" indent="0">
              <a:buNone/>
            </a:pPr>
            <a:r>
              <a:rPr lang="en-US" sz="1000" dirty="0">
                <a:solidFill>
                  <a:srgbClr val="1A1A1A"/>
                </a:solidFill>
              </a:rPr>
              <a:t>✓  Schedule feast events</a:t>
            </a:r>
            <a:endParaRPr lang="en-US" sz="1000" dirty="0"/>
          </a:p>
        </p:txBody>
      </p:sp>
      <p:sp>
        <p:nvSpPr>
          <p:cNvPr id="25" name="Text 23"/>
          <p:cNvSpPr/>
          <p:nvPr/>
        </p:nvSpPr>
        <p:spPr>
          <a:xfrm>
            <a:off x="3383280" y="3886200"/>
            <a:ext cx="2377440" cy="237744"/>
          </a:xfrm>
          <a:prstGeom prst="rect">
            <a:avLst/>
          </a:prstGeom>
          <a:noFill/>
          <a:ln/>
        </p:spPr>
        <p:txBody>
          <a:bodyPr wrap="square" lIns="0" tIns="0" rIns="0" bIns="0" rtlCol="0" anchor="ctr"/>
          <a:lstStyle/>
          <a:p>
            <a:pPr marL="0" indent="0">
              <a:buNone/>
            </a:pPr>
            <a:r>
              <a:rPr lang="en-US" sz="1000" dirty="0">
                <a:solidFill>
                  <a:srgbClr val="1A1A1A"/>
                </a:solidFill>
              </a:rPr>
              <a:t>✓  Daily Reset / Duplicate</a:t>
            </a:r>
            <a:endParaRPr lang="en-US" sz="1000" dirty="0"/>
          </a:p>
        </p:txBody>
      </p:sp>
      <p:sp>
        <p:nvSpPr>
          <p:cNvPr id="26" name="Text 24"/>
          <p:cNvSpPr/>
          <p:nvPr/>
        </p:nvSpPr>
        <p:spPr>
          <a:xfrm>
            <a:off x="3383280" y="4142232"/>
            <a:ext cx="2377440" cy="237744"/>
          </a:xfrm>
          <a:prstGeom prst="rect">
            <a:avLst/>
          </a:prstGeom>
          <a:noFill/>
          <a:ln/>
        </p:spPr>
        <p:txBody>
          <a:bodyPr wrap="square" lIns="0" tIns="0" rIns="0" bIns="0" rtlCol="0" anchor="ctr"/>
          <a:lstStyle/>
          <a:p>
            <a:pPr marL="0" indent="0">
              <a:buNone/>
            </a:pPr>
            <a:r>
              <a:rPr lang="en-US" sz="1000" dirty="0">
                <a:solidFill>
                  <a:srgbClr val="1A1A1A"/>
                </a:solidFill>
              </a:rPr>
              <a:t>✓  View update history</a:t>
            </a:r>
            <a:endParaRPr lang="en-US" sz="1000" dirty="0"/>
          </a:p>
        </p:txBody>
      </p:sp>
      <p:sp>
        <p:nvSpPr>
          <p:cNvPr id="27" name="Shape 25"/>
          <p:cNvSpPr/>
          <p:nvPr/>
        </p:nvSpPr>
        <p:spPr>
          <a:xfrm>
            <a:off x="6126480" y="1143000"/>
            <a:ext cx="2651760" cy="3474720"/>
          </a:xfrm>
          <a:prstGeom prst="roundRect">
            <a:avLst>
              <a:gd name="adj" fmla="val 3448"/>
            </a:avLst>
          </a:prstGeom>
          <a:solidFill>
            <a:srgbClr val="F7F0ED"/>
          </a:solidFill>
          <a:ln/>
          <a:effectLst>
            <a:outerShdw blurRad="76200" dist="25400" dir="2700000" algn="bl" rotWithShape="0">
              <a:srgbClr val="000000">
                <a:alpha val="10000"/>
              </a:srgbClr>
            </a:outerShdw>
          </a:effectLst>
        </p:spPr>
      </p:sp>
      <p:sp>
        <p:nvSpPr>
          <p:cNvPr id="28" name="Shape 26"/>
          <p:cNvSpPr/>
          <p:nvPr/>
        </p:nvSpPr>
        <p:spPr>
          <a:xfrm>
            <a:off x="7086600" y="1280160"/>
            <a:ext cx="731520" cy="731520"/>
          </a:xfrm>
          <a:prstGeom prst="ellipse">
            <a:avLst/>
          </a:prstGeom>
          <a:solidFill>
            <a:srgbClr val="F0D8D0"/>
          </a:solidFill>
          <a:ln/>
        </p:spPr>
      </p:sp>
      <p:sp>
        <p:nvSpPr>
          <p:cNvPr id="29" name="Text 27"/>
          <p:cNvSpPr/>
          <p:nvPr/>
        </p:nvSpPr>
        <p:spPr>
          <a:xfrm>
            <a:off x="7086600" y="1280160"/>
            <a:ext cx="731520" cy="7315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0" name="Text 28"/>
          <p:cNvSpPr/>
          <p:nvPr/>
        </p:nvSpPr>
        <p:spPr>
          <a:xfrm>
            <a:off x="6126480" y="2148840"/>
            <a:ext cx="2651760" cy="365760"/>
          </a:xfrm>
          <a:prstGeom prst="rect">
            <a:avLst/>
          </a:prstGeom>
          <a:noFill/>
          <a:ln/>
        </p:spPr>
        <p:txBody>
          <a:bodyPr wrap="square" lIns="0" tIns="0" rIns="0" bIns="0" rtlCol="0" anchor="ctr"/>
          <a:lstStyle/>
          <a:p>
            <a:pPr marL="0" indent="0" algn="ctr">
              <a:buNone/>
            </a:pPr>
            <a:r>
              <a:rPr lang="en-US" sz="1500" b="1" dirty="0">
                <a:solidFill>
                  <a:srgbClr val="7E1A1A"/>
                </a:solidFill>
              </a:rPr>
              <a:t>Canteen Moderator</a:t>
            </a:r>
            <a:endParaRPr lang="en-US" sz="1500" dirty="0"/>
          </a:p>
        </p:txBody>
      </p:sp>
      <p:sp>
        <p:nvSpPr>
          <p:cNvPr id="31" name="Text 29"/>
          <p:cNvSpPr/>
          <p:nvPr/>
        </p:nvSpPr>
        <p:spPr>
          <a:xfrm>
            <a:off x="6263640" y="2606040"/>
            <a:ext cx="2377440" cy="237744"/>
          </a:xfrm>
          <a:prstGeom prst="rect">
            <a:avLst/>
          </a:prstGeom>
          <a:noFill/>
          <a:ln/>
        </p:spPr>
        <p:txBody>
          <a:bodyPr wrap="square" lIns="0" tIns="0" rIns="0" bIns="0" rtlCol="0" anchor="ctr"/>
          <a:lstStyle/>
          <a:p>
            <a:pPr marL="0" indent="0">
              <a:buNone/>
            </a:pPr>
            <a:r>
              <a:rPr lang="en-US" sz="1000" dirty="0">
                <a:solidFill>
                  <a:srgbClr val="1A1A1A"/>
                </a:solidFill>
              </a:rPr>
              <a:t>✓  Add/edit canteen items</a:t>
            </a:r>
            <a:endParaRPr lang="en-US" sz="1000" dirty="0"/>
          </a:p>
        </p:txBody>
      </p:sp>
      <p:sp>
        <p:nvSpPr>
          <p:cNvPr id="32" name="Text 30"/>
          <p:cNvSpPr/>
          <p:nvPr/>
        </p:nvSpPr>
        <p:spPr>
          <a:xfrm>
            <a:off x="6263640" y="2862072"/>
            <a:ext cx="2377440" cy="237744"/>
          </a:xfrm>
          <a:prstGeom prst="rect">
            <a:avLst/>
          </a:prstGeom>
          <a:noFill/>
          <a:ln/>
        </p:spPr>
        <p:txBody>
          <a:bodyPr wrap="square" lIns="0" tIns="0" rIns="0" bIns="0" rtlCol="0" anchor="ctr"/>
          <a:lstStyle/>
          <a:p>
            <a:pPr marL="0" indent="0">
              <a:buNone/>
            </a:pPr>
            <a:r>
              <a:rPr lang="en-US" sz="1000" dirty="0">
                <a:solidFill>
                  <a:srgbClr val="1A1A1A"/>
                </a:solidFill>
              </a:rPr>
              <a:t>✓  Set price &amp; item count</a:t>
            </a:r>
            <a:endParaRPr lang="en-US" sz="1000" dirty="0"/>
          </a:p>
        </p:txBody>
      </p:sp>
      <p:sp>
        <p:nvSpPr>
          <p:cNvPr id="33" name="Text 31"/>
          <p:cNvSpPr/>
          <p:nvPr/>
        </p:nvSpPr>
        <p:spPr>
          <a:xfrm>
            <a:off x="6263640" y="3118104"/>
            <a:ext cx="2377440" cy="237744"/>
          </a:xfrm>
          <a:prstGeom prst="rect">
            <a:avLst/>
          </a:prstGeom>
          <a:noFill/>
          <a:ln/>
        </p:spPr>
        <p:txBody>
          <a:bodyPr wrap="square" lIns="0" tIns="0" rIns="0" bIns="0" rtlCol="0" anchor="ctr"/>
          <a:lstStyle/>
          <a:p>
            <a:pPr marL="0" indent="0">
              <a:buNone/>
            </a:pPr>
            <a:r>
              <a:rPr lang="en-US" sz="1000" dirty="0">
                <a:solidFill>
                  <a:srgbClr val="1A1A1A"/>
                </a:solidFill>
              </a:rPr>
              <a:t>✓  Quick Canteen Status</a:t>
            </a:r>
            <a:endParaRPr lang="en-US" sz="1000" dirty="0"/>
          </a:p>
        </p:txBody>
      </p:sp>
      <p:sp>
        <p:nvSpPr>
          <p:cNvPr id="34" name="Text 32"/>
          <p:cNvSpPr/>
          <p:nvPr/>
        </p:nvSpPr>
        <p:spPr>
          <a:xfrm>
            <a:off x="6263640" y="3374136"/>
            <a:ext cx="2377440" cy="237744"/>
          </a:xfrm>
          <a:prstGeom prst="rect">
            <a:avLst/>
          </a:prstGeom>
          <a:noFill/>
          <a:ln/>
        </p:spPr>
        <p:txBody>
          <a:bodyPr wrap="square" lIns="0" tIns="0" rIns="0" bIns="0" rtlCol="0" anchor="ctr"/>
          <a:lstStyle/>
          <a:p>
            <a:pPr marL="0" indent="0">
              <a:buNone/>
            </a:pPr>
            <a:r>
              <a:rPr lang="en-US" sz="1000" dirty="0">
                <a:solidFill>
                  <a:srgbClr val="1A1A1A"/>
                </a:solidFill>
              </a:rPr>
              <a:t>✓  Live Serve Count</a:t>
            </a:r>
            <a:endParaRPr lang="en-US" sz="1000" dirty="0"/>
          </a:p>
        </p:txBody>
      </p:sp>
      <p:sp>
        <p:nvSpPr>
          <p:cNvPr id="35" name="Text 33"/>
          <p:cNvSpPr/>
          <p:nvPr/>
        </p:nvSpPr>
        <p:spPr>
          <a:xfrm>
            <a:off x="6263640" y="3630168"/>
            <a:ext cx="2377440" cy="237744"/>
          </a:xfrm>
          <a:prstGeom prst="rect">
            <a:avLst/>
          </a:prstGeom>
          <a:noFill/>
          <a:ln/>
        </p:spPr>
        <p:txBody>
          <a:bodyPr wrap="square" lIns="0" tIns="0" rIns="0" bIns="0" rtlCol="0" anchor="ctr"/>
          <a:lstStyle/>
          <a:p>
            <a:pPr marL="0" indent="0">
              <a:buNone/>
            </a:pPr>
            <a:r>
              <a:rPr lang="en-US" sz="1000" dirty="0">
                <a:solidFill>
                  <a:srgbClr val="1A1A1A"/>
                </a:solidFill>
              </a:rPr>
              <a:t>✓  Post canteen notices</a:t>
            </a:r>
            <a:endParaRPr lang="en-US" sz="1000" dirty="0"/>
          </a:p>
        </p:txBody>
      </p:sp>
      <p:sp>
        <p:nvSpPr>
          <p:cNvPr id="36" name="Text 34"/>
          <p:cNvSpPr/>
          <p:nvPr/>
        </p:nvSpPr>
        <p:spPr>
          <a:xfrm>
            <a:off x="6263640" y="3886200"/>
            <a:ext cx="2377440" cy="237744"/>
          </a:xfrm>
          <a:prstGeom prst="rect">
            <a:avLst/>
          </a:prstGeom>
          <a:noFill/>
          <a:ln/>
        </p:spPr>
        <p:txBody>
          <a:bodyPr wrap="square" lIns="0" tIns="0" rIns="0" bIns="0" rtlCol="0" anchor="ctr"/>
          <a:lstStyle/>
          <a:p>
            <a:pPr marL="0" indent="0">
              <a:buNone/>
            </a:pPr>
            <a:r>
              <a:rPr lang="en-US" sz="1000" dirty="0">
                <a:solidFill>
                  <a:srgbClr val="1A1A1A"/>
                </a:solidFill>
              </a:rPr>
              <a:t>✓  Canteen feast events</a:t>
            </a:r>
            <a:endParaRPr lang="en-US" sz="1000" dirty="0"/>
          </a:p>
        </p:txBody>
      </p:sp>
      <p:sp>
        <p:nvSpPr>
          <p:cNvPr id="37" name="Text 35"/>
          <p:cNvSpPr/>
          <p:nvPr/>
        </p:nvSpPr>
        <p:spPr>
          <a:xfrm>
            <a:off x="6263640" y="4142232"/>
            <a:ext cx="2377440" cy="237744"/>
          </a:xfrm>
          <a:prstGeom prst="rect">
            <a:avLst/>
          </a:prstGeom>
          <a:noFill/>
          <a:ln/>
        </p:spPr>
        <p:txBody>
          <a:bodyPr wrap="square" lIns="0" tIns="0" rIns="0" bIns="0" rtlCol="0" anchor="ctr"/>
          <a:lstStyle/>
          <a:p>
            <a:pPr marL="0" indent="0">
              <a:buNone/>
            </a:pPr>
            <a:r>
              <a:rPr lang="en-US" sz="1000" dirty="0">
                <a:solidFill>
                  <a:srgbClr val="1A1A1A"/>
                </a:solidFill>
              </a:rPr>
              <a:t>✓  Daily Reset</a:t>
            </a:r>
            <a:endParaRPr lang="en-US" sz="1000" dirty="0"/>
          </a:p>
        </p:txBody>
      </p:sp>
      <p:sp>
        <p:nvSpPr>
          <p:cNvPr id="38" name="Shape 36"/>
          <p:cNvSpPr/>
          <p:nvPr/>
        </p:nvSpPr>
        <p:spPr>
          <a:xfrm>
            <a:off x="365760" y="4709160"/>
            <a:ext cx="8412480" cy="274320"/>
          </a:xfrm>
          <a:prstGeom prst="roundRect">
            <a:avLst>
              <a:gd name="adj" fmla="val 16667"/>
            </a:avLst>
          </a:prstGeom>
          <a:solidFill>
            <a:srgbClr val="D4E6D8"/>
          </a:solidFill>
          <a:ln/>
        </p:spPr>
      </p:sp>
      <p:sp>
        <p:nvSpPr>
          <p:cNvPr id="39" name="Text 37"/>
          <p:cNvSpPr/>
          <p:nvPr/>
        </p:nvSpPr>
        <p:spPr>
          <a:xfrm>
            <a:off x="365760" y="4709160"/>
            <a:ext cx="8412480" cy="274320"/>
          </a:xfrm>
          <a:prstGeom prst="rect">
            <a:avLst/>
          </a:prstGeom>
          <a:noFill/>
          <a:ln/>
        </p:spPr>
        <p:txBody>
          <a:bodyPr wrap="square" lIns="0" tIns="0" rIns="0" bIns="0" rtlCol="0" anchor="ctr"/>
          <a:lstStyle/>
          <a:p>
            <a:pPr marL="0" indent="0" algn="ctr">
              <a:buNone/>
            </a:pPr>
            <a:r>
              <a:rPr lang="en-US" sz="900" dirty="0">
                <a:solidFill>
                  <a:srgbClr val="2D5A3D"/>
                </a:solidFill>
              </a:rPr>
              <a:t>Students browse without login  •  Each hall has exactly 1 Dining Moderator + 1 Canteen Moderator  •  Login via role.hallId@rudining.com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6F2"/>
        </a:solidFill>
        <a:effectLst/>
      </p:bgPr>
    </p:bg>
    <p:spTree>
      <p:nvGrpSpPr>
        <p:cNvPr id="1" name=""/>
        <p:cNvGrpSpPr/>
        <p:nvPr/>
      </p:nvGrpSpPr>
      <p:grpSpPr>
        <a:xfrm>
          <a:off x="0" y="0"/>
          <a:ext cx="0" cy="0"/>
          <a:chOff x="0" y="0"/>
          <a:chExt cx="0" cy="0"/>
        </a:xfrm>
      </p:grpSpPr>
      <p:sp>
        <p:nvSpPr>
          <p:cNvPr id="2" name="Shape 0"/>
          <p:cNvSpPr/>
          <p:nvPr/>
        </p:nvSpPr>
        <p:spPr>
          <a:xfrm>
            <a:off x="365760" y="137160"/>
            <a:ext cx="1463040" cy="256032"/>
          </a:xfrm>
          <a:prstGeom prst="roundRect">
            <a:avLst>
              <a:gd name="adj" fmla="val 21429"/>
            </a:avLst>
          </a:prstGeom>
          <a:solidFill>
            <a:srgbClr val="D4E6D8"/>
          </a:solidFill>
          <a:ln/>
        </p:spPr>
      </p:sp>
      <p:sp>
        <p:nvSpPr>
          <p:cNvPr id="3" name="Text 1"/>
          <p:cNvSpPr/>
          <p:nvPr/>
        </p:nvSpPr>
        <p:spPr>
          <a:xfrm>
            <a:off x="365760" y="137160"/>
            <a:ext cx="1463040" cy="256032"/>
          </a:xfrm>
          <a:prstGeom prst="rect">
            <a:avLst/>
          </a:prstGeom>
          <a:noFill/>
          <a:ln/>
        </p:spPr>
        <p:txBody>
          <a:bodyPr wrap="square" lIns="0" tIns="0" rIns="0" bIns="0" rtlCol="0" anchor="ctr"/>
          <a:lstStyle/>
          <a:p>
            <a:pPr marL="0" indent="0" algn="ctr">
              <a:buNone/>
            </a:pPr>
            <a:r>
              <a:rPr lang="en-US" sz="800" b="1" dirty="0">
                <a:solidFill>
                  <a:srgbClr val="2D5A3D"/>
                </a:solidFill>
              </a:rPr>
              <a:t>04 · Features</a:t>
            </a:r>
            <a:endParaRPr lang="en-US" sz="800" dirty="0"/>
          </a:p>
        </p:txBody>
      </p:sp>
      <p:sp>
        <p:nvSpPr>
          <p:cNvPr id="4" name="Text 2"/>
          <p:cNvSpPr/>
          <p:nvPr/>
        </p:nvSpPr>
        <p:spPr>
          <a:xfrm>
            <a:off x="365760" y="502920"/>
            <a:ext cx="8229600" cy="45720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Key Features</a:t>
            </a:r>
            <a:endParaRPr lang="en-US" sz="3000" dirty="0"/>
          </a:p>
        </p:txBody>
      </p:sp>
      <p:sp>
        <p:nvSpPr>
          <p:cNvPr id="5" name="Shape 3"/>
          <p:cNvSpPr/>
          <p:nvPr/>
        </p:nvSpPr>
        <p:spPr>
          <a:xfrm>
            <a:off x="365760" y="1097280"/>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6" name="Text 4"/>
          <p:cNvSpPr/>
          <p:nvPr/>
        </p:nvSpPr>
        <p:spPr>
          <a:xfrm>
            <a:off x="475488" y="1207008"/>
            <a:ext cx="457200" cy="45720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7" name="Text 5"/>
          <p:cNvSpPr/>
          <p:nvPr/>
        </p:nvSpPr>
        <p:spPr>
          <a:xfrm>
            <a:off x="1024128" y="1170432"/>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Hall Search &amp; Filter</a:t>
            </a:r>
            <a:endParaRPr lang="en-US" sz="1200" dirty="0"/>
          </a:p>
        </p:txBody>
      </p:sp>
      <p:sp>
        <p:nvSpPr>
          <p:cNvPr id="8" name="Text 6"/>
          <p:cNvSpPr/>
          <p:nvPr/>
        </p:nvSpPr>
        <p:spPr>
          <a:xfrm>
            <a:off x="1024128" y="1408176"/>
            <a:ext cx="3291840" cy="292608"/>
          </a:xfrm>
          <a:prstGeom prst="rect">
            <a:avLst/>
          </a:prstGeom>
          <a:noFill/>
          <a:ln/>
        </p:spPr>
        <p:txBody>
          <a:bodyPr wrap="square" lIns="0" tIns="0" rIns="0" bIns="0" rtlCol="0" anchor="ctr"/>
          <a:lstStyle/>
          <a:p>
            <a:pPr marL="0" indent="0">
              <a:buNone/>
            </a:pPr>
            <a:r>
              <a:rPr lang="en-US" sz="950" dirty="0">
                <a:solidFill>
                  <a:srgbClr val="6B6B60"/>
                </a:solidFill>
              </a:rPr>
              <a:t>Search by name, filter by Male/Female, see 'Updated today' badge</a:t>
            </a:r>
            <a:endParaRPr lang="en-US" sz="950" dirty="0"/>
          </a:p>
        </p:txBody>
      </p:sp>
      <p:sp>
        <p:nvSpPr>
          <p:cNvPr id="9" name="Shape 7"/>
          <p:cNvSpPr/>
          <p:nvPr/>
        </p:nvSpPr>
        <p:spPr>
          <a:xfrm>
            <a:off x="4754880" y="1097280"/>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10" name="Text 8"/>
          <p:cNvSpPr/>
          <p:nvPr/>
        </p:nvSpPr>
        <p:spPr>
          <a:xfrm>
            <a:off x="4864608" y="1207008"/>
            <a:ext cx="457200" cy="45720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11" name="Text 9"/>
          <p:cNvSpPr/>
          <p:nvPr/>
        </p:nvSpPr>
        <p:spPr>
          <a:xfrm>
            <a:off x="5413248" y="1170432"/>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Real-Time Menu</a:t>
            </a:r>
            <a:endParaRPr lang="en-US" sz="1200" dirty="0"/>
          </a:p>
        </p:txBody>
      </p:sp>
      <p:sp>
        <p:nvSpPr>
          <p:cNvPr id="12" name="Text 10"/>
          <p:cNvSpPr/>
          <p:nvPr/>
        </p:nvSpPr>
        <p:spPr>
          <a:xfrm>
            <a:off x="5413248" y="1408176"/>
            <a:ext cx="3291840" cy="292608"/>
          </a:xfrm>
          <a:prstGeom prst="rect">
            <a:avLst/>
          </a:prstGeom>
          <a:noFill/>
          <a:ln/>
        </p:spPr>
        <p:txBody>
          <a:bodyPr wrap="square" lIns="0" tIns="0" rIns="0" bIns="0" rtlCol="0" anchor="ctr"/>
          <a:lstStyle/>
          <a:p>
            <a:pPr marL="0" indent="0">
              <a:buNone/>
            </a:pPr>
            <a:r>
              <a:rPr lang="en-US" sz="950" dirty="0">
                <a:solidFill>
                  <a:srgbClr val="6B6B60"/>
                </a:solidFill>
              </a:rPr>
              <a:t>Breakfast/Lunch/Dinner with live item status and remaining count</a:t>
            </a:r>
            <a:endParaRPr lang="en-US" sz="950" dirty="0"/>
          </a:p>
        </p:txBody>
      </p:sp>
      <p:sp>
        <p:nvSpPr>
          <p:cNvPr id="13" name="Shape 11"/>
          <p:cNvSpPr/>
          <p:nvPr/>
        </p:nvSpPr>
        <p:spPr>
          <a:xfrm>
            <a:off x="365760" y="1865376"/>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14" name="Text 12"/>
          <p:cNvSpPr/>
          <p:nvPr/>
        </p:nvSpPr>
        <p:spPr>
          <a:xfrm>
            <a:off x="475488" y="1975104"/>
            <a:ext cx="457200" cy="45720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15" name="Text 13"/>
          <p:cNvSpPr/>
          <p:nvPr/>
        </p:nvSpPr>
        <p:spPr>
          <a:xfrm>
            <a:off x="1024128" y="1938528"/>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Quick Status Update</a:t>
            </a:r>
            <a:endParaRPr lang="en-US" sz="1200" dirty="0"/>
          </a:p>
        </p:txBody>
      </p:sp>
      <p:sp>
        <p:nvSpPr>
          <p:cNvPr id="16" name="Text 14"/>
          <p:cNvSpPr/>
          <p:nvPr/>
        </p:nvSpPr>
        <p:spPr>
          <a:xfrm>
            <a:off x="1024128" y="2176272"/>
            <a:ext cx="3291840" cy="292608"/>
          </a:xfrm>
          <a:prstGeom prst="rect">
            <a:avLst/>
          </a:prstGeom>
          <a:noFill/>
          <a:ln/>
        </p:spPr>
        <p:txBody>
          <a:bodyPr wrap="square" lIns="0" tIns="0" rIns="0" bIns="0" rtlCol="0" anchor="ctr"/>
          <a:lstStyle/>
          <a:p>
            <a:pPr marL="0" indent="0">
              <a:buNone/>
            </a:pPr>
            <a:r>
              <a:rPr lang="en-US" sz="950" dirty="0">
                <a:solidFill>
                  <a:srgbClr val="6B6B60"/>
                </a:solidFill>
              </a:rPr>
              <a:t>Bulk status change: All Available / All Low / All Finished in one tap</a:t>
            </a:r>
            <a:endParaRPr lang="en-US" sz="950" dirty="0"/>
          </a:p>
        </p:txBody>
      </p:sp>
      <p:sp>
        <p:nvSpPr>
          <p:cNvPr id="17" name="Shape 15"/>
          <p:cNvSpPr/>
          <p:nvPr/>
        </p:nvSpPr>
        <p:spPr>
          <a:xfrm>
            <a:off x="4754880" y="1865376"/>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18" name="Text 16"/>
          <p:cNvSpPr/>
          <p:nvPr/>
        </p:nvSpPr>
        <p:spPr>
          <a:xfrm>
            <a:off x="4864608" y="1975104"/>
            <a:ext cx="457200" cy="45720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19" name="Text 17"/>
          <p:cNvSpPr/>
          <p:nvPr/>
        </p:nvSpPr>
        <p:spPr>
          <a:xfrm>
            <a:off x="5413248" y="1938528"/>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Live Serve Count</a:t>
            </a:r>
            <a:endParaRPr lang="en-US" sz="1200" dirty="0"/>
          </a:p>
        </p:txBody>
      </p:sp>
      <p:sp>
        <p:nvSpPr>
          <p:cNvPr id="20" name="Text 18"/>
          <p:cNvSpPr/>
          <p:nvPr/>
        </p:nvSpPr>
        <p:spPr>
          <a:xfrm>
            <a:off x="5413248" y="2176272"/>
            <a:ext cx="3291840" cy="292608"/>
          </a:xfrm>
          <a:prstGeom prst="rect">
            <a:avLst/>
          </a:prstGeom>
          <a:noFill/>
          <a:ln/>
        </p:spPr>
        <p:txBody>
          <a:bodyPr wrap="square" lIns="0" tIns="0" rIns="0" bIns="0" rtlCol="0" anchor="ctr"/>
          <a:lstStyle/>
          <a:p>
            <a:pPr marL="0" indent="0">
              <a:buNone/>
            </a:pPr>
            <a:r>
              <a:rPr lang="en-US" sz="950" dirty="0">
                <a:solidFill>
                  <a:srgbClr val="6B6B60"/>
                </a:solidFill>
              </a:rPr>
              <a:t>Tap − to serve one portion; status auto-updates at 0 and ≤10</a:t>
            </a:r>
            <a:endParaRPr lang="en-US" sz="950" dirty="0"/>
          </a:p>
        </p:txBody>
      </p:sp>
      <p:sp>
        <p:nvSpPr>
          <p:cNvPr id="21" name="Shape 19"/>
          <p:cNvSpPr/>
          <p:nvPr/>
        </p:nvSpPr>
        <p:spPr>
          <a:xfrm>
            <a:off x="365760" y="2633472"/>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22" name="Text 20"/>
          <p:cNvSpPr/>
          <p:nvPr/>
        </p:nvSpPr>
        <p:spPr>
          <a:xfrm>
            <a:off x="475488" y="2743200"/>
            <a:ext cx="457200" cy="45720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23" name="Text 21"/>
          <p:cNvSpPr/>
          <p:nvPr/>
        </p:nvSpPr>
        <p:spPr>
          <a:xfrm>
            <a:off x="1024128" y="2706624"/>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Food Reviews</a:t>
            </a:r>
            <a:endParaRPr lang="en-US" sz="1200" dirty="0"/>
          </a:p>
        </p:txBody>
      </p:sp>
      <p:sp>
        <p:nvSpPr>
          <p:cNvPr id="24" name="Text 22"/>
          <p:cNvSpPr/>
          <p:nvPr/>
        </p:nvSpPr>
        <p:spPr>
          <a:xfrm>
            <a:off x="1024128" y="2944368"/>
            <a:ext cx="3291840" cy="292608"/>
          </a:xfrm>
          <a:prstGeom prst="rect">
            <a:avLst/>
          </a:prstGeom>
          <a:noFill/>
          <a:ln/>
        </p:spPr>
        <p:txBody>
          <a:bodyPr wrap="square" lIns="0" tIns="0" rIns="0" bIns="0" rtlCol="0" anchor="ctr"/>
          <a:lstStyle/>
          <a:p>
            <a:pPr marL="0" indent="0">
              <a:buNone/>
            </a:pPr>
            <a:r>
              <a:rPr lang="en-US" sz="950" dirty="0">
                <a:solidFill>
                  <a:srgbClr val="6B6B60"/>
                </a:solidFill>
              </a:rPr>
              <a:t>Star rating (1–5) + comment per food item, real-time via onSnapshot</a:t>
            </a:r>
            <a:endParaRPr lang="en-US" sz="950" dirty="0"/>
          </a:p>
        </p:txBody>
      </p:sp>
      <p:sp>
        <p:nvSpPr>
          <p:cNvPr id="25" name="Shape 23"/>
          <p:cNvSpPr/>
          <p:nvPr/>
        </p:nvSpPr>
        <p:spPr>
          <a:xfrm>
            <a:off x="4754880" y="2633472"/>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26" name="Text 24"/>
          <p:cNvSpPr/>
          <p:nvPr/>
        </p:nvSpPr>
        <p:spPr>
          <a:xfrm>
            <a:off x="4864608" y="2743200"/>
            <a:ext cx="457200" cy="45720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27" name="Text 25"/>
          <p:cNvSpPr/>
          <p:nvPr/>
        </p:nvSpPr>
        <p:spPr>
          <a:xfrm>
            <a:off x="5413248" y="2706624"/>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Notice System</a:t>
            </a:r>
            <a:endParaRPr lang="en-US" sz="1200" dirty="0"/>
          </a:p>
        </p:txBody>
      </p:sp>
      <p:sp>
        <p:nvSpPr>
          <p:cNvPr id="28" name="Text 26"/>
          <p:cNvSpPr/>
          <p:nvPr/>
        </p:nvSpPr>
        <p:spPr>
          <a:xfrm>
            <a:off x="5413248" y="2944368"/>
            <a:ext cx="3291840" cy="292608"/>
          </a:xfrm>
          <a:prstGeom prst="rect">
            <a:avLst/>
          </a:prstGeom>
          <a:noFill/>
          <a:ln/>
        </p:spPr>
        <p:txBody>
          <a:bodyPr wrap="square" lIns="0" tIns="0" rIns="0" bIns="0" rtlCol="0" anchor="ctr"/>
          <a:lstStyle/>
          <a:p>
            <a:pPr marL="0" indent="0">
              <a:buNone/>
            </a:pPr>
            <a:r>
              <a:rPr lang="en-US" sz="950" dirty="0">
                <a:solidFill>
                  <a:srgbClr val="6B6B60"/>
                </a:solidFill>
              </a:rPr>
              <a:t>Notices expire after set hours; getNotices() filters expired ones at read time</a:t>
            </a:r>
            <a:endParaRPr lang="en-US" sz="950" dirty="0"/>
          </a:p>
        </p:txBody>
      </p:sp>
      <p:sp>
        <p:nvSpPr>
          <p:cNvPr id="29" name="Shape 27"/>
          <p:cNvSpPr/>
          <p:nvPr/>
        </p:nvSpPr>
        <p:spPr>
          <a:xfrm>
            <a:off x="365760" y="3401568"/>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30" name="Text 28"/>
          <p:cNvSpPr/>
          <p:nvPr/>
        </p:nvSpPr>
        <p:spPr>
          <a:xfrm>
            <a:off x="475488" y="3511296"/>
            <a:ext cx="457200" cy="45720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31" name="Text 29"/>
          <p:cNvSpPr/>
          <p:nvPr/>
        </p:nvSpPr>
        <p:spPr>
          <a:xfrm>
            <a:off x="1024128" y="3474720"/>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Feast Management</a:t>
            </a:r>
            <a:endParaRPr lang="en-US" sz="1200" dirty="0"/>
          </a:p>
        </p:txBody>
      </p:sp>
      <p:sp>
        <p:nvSpPr>
          <p:cNvPr id="32" name="Text 30"/>
          <p:cNvSpPr/>
          <p:nvPr/>
        </p:nvSpPr>
        <p:spPr>
          <a:xfrm>
            <a:off x="1024128" y="3712464"/>
            <a:ext cx="3291840" cy="292608"/>
          </a:xfrm>
          <a:prstGeom prst="rect">
            <a:avLst/>
          </a:prstGeom>
          <a:noFill/>
          <a:ln/>
        </p:spPr>
        <p:txBody>
          <a:bodyPr wrap="square" lIns="0" tIns="0" rIns="0" bIns="0" rtlCol="0" anchor="ctr"/>
          <a:lstStyle/>
          <a:p>
            <a:pPr marL="0" indent="0">
              <a:buNone/>
            </a:pPr>
            <a:r>
              <a:rPr lang="en-US" sz="950" dirty="0">
                <a:solidFill>
                  <a:srgbClr val="6B6B60"/>
                </a:solidFill>
              </a:rPr>
              <a:t>Future-only feasts with date, menu, price and time range</a:t>
            </a:r>
            <a:endParaRPr lang="en-US" sz="950" dirty="0"/>
          </a:p>
        </p:txBody>
      </p:sp>
      <p:sp>
        <p:nvSpPr>
          <p:cNvPr id="33" name="Shape 31"/>
          <p:cNvSpPr/>
          <p:nvPr/>
        </p:nvSpPr>
        <p:spPr>
          <a:xfrm>
            <a:off x="4754880" y="3401568"/>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34" name="Text 32"/>
          <p:cNvSpPr/>
          <p:nvPr/>
        </p:nvSpPr>
        <p:spPr>
          <a:xfrm>
            <a:off x="4864608" y="3511296"/>
            <a:ext cx="457200" cy="45720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35" name="Text 33"/>
          <p:cNvSpPr/>
          <p:nvPr/>
        </p:nvSpPr>
        <p:spPr>
          <a:xfrm>
            <a:off x="5413248" y="3474720"/>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Daily Reset</a:t>
            </a:r>
            <a:endParaRPr lang="en-US" sz="1200" dirty="0"/>
          </a:p>
        </p:txBody>
      </p:sp>
      <p:sp>
        <p:nvSpPr>
          <p:cNvPr id="36" name="Text 34"/>
          <p:cNvSpPr/>
          <p:nvPr/>
        </p:nvSpPr>
        <p:spPr>
          <a:xfrm>
            <a:off x="5413248" y="3712464"/>
            <a:ext cx="3291840" cy="292608"/>
          </a:xfrm>
          <a:prstGeom prst="rect">
            <a:avLst/>
          </a:prstGeom>
          <a:noFill/>
          <a:ln/>
        </p:spPr>
        <p:txBody>
          <a:bodyPr wrap="square" lIns="0" tIns="0" rIns="0" bIns="0" rtlCol="0" anchor="ctr"/>
          <a:lstStyle/>
          <a:p>
            <a:pPr marL="0" indent="0">
              <a:buNone/>
            </a:pPr>
            <a:r>
              <a:rPr lang="en-US" sz="950" dirty="0">
                <a:solidFill>
                  <a:srgbClr val="6B6B60"/>
                </a:solidFill>
              </a:rPr>
              <a:t>Duplicate yesterday's menu or clear everything — one-tap workflow</a:t>
            </a:r>
            <a:endParaRPr lang="en-US" sz="950" dirty="0"/>
          </a:p>
        </p:txBody>
      </p:sp>
      <p:sp>
        <p:nvSpPr>
          <p:cNvPr id="37" name="Shape 35"/>
          <p:cNvSpPr/>
          <p:nvPr/>
        </p:nvSpPr>
        <p:spPr>
          <a:xfrm>
            <a:off x="365760" y="4169664"/>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38" name="Text 36"/>
          <p:cNvSpPr/>
          <p:nvPr/>
        </p:nvSpPr>
        <p:spPr>
          <a:xfrm>
            <a:off x="475488" y="4279392"/>
            <a:ext cx="457200" cy="45720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39" name="Text 37"/>
          <p:cNvSpPr/>
          <p:nvPr/>
        </p:nvSpPr>
        <p:spPr>
          <a:xfrm>
            <a:off x="1024128" y="4242816"/>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Secure Auth</a:t>
            </a:r>
            <a:endParaRPr lang="en-US" sz="1200" dirty="0"/>
          </a:p>
        </p:txBody>
      </p:sp>
      <p:sp>
        <p:nvSpPr>
          <p:cNvPr id="40" name="Text 38"/>
          <p:cNvSpPr/>
          <p:nvPr/>
        </p:nvSpPr>
        <p:spPr>
          <a:xfrm>
            <a:off x="1024128" y="4480560"/>
            <a:ext cx="3291840" cy="292608"/>
          </a:xfrm>
          <a:prstGeom prst="rect">
            <a:avLst/>
          </a:prstGeom>
          <a:noFill/>
          <a:ln/>
        </p:spPr>
        <p:txBody>
          <a:bodyPr wrap="square" lIns="0" tIns="0" rIns="0" bIns="0" rtlCol="0" anchor="ctr"/>
          <a:lstStyle/>
          <a:p>
            <a:pPr marL="0" indent="0">
              <a:buNone/>
            </a:pPr>
            <a:r>
              <a:rPr lang="en-US" sz="950" dirty="0">
                <a:solidFill>
                  <a:srgbClr val="6B6B60"/>
                </a:solidFill>
              </a:rPr>
              <a:t>Firebase Auth, bcrypt hashing, JWT tokens, role mismatch check on login</a:t>
            </a:r>
            <a:endParaRPr lang="en-US" sz="950" dirty="0"/>
          </a:p>
        </p:txBody>
      </p:sp>
      <p:sp>
        <p:nvSpPr>
          <p:cNvPr id="41" name="Shape 39"/>
          <p:cNvSpPr/>
          <p:nvPr/>
        </p:nvSpPr>
        <p:spPr>
          <a:xfrm>
            <a:off x="4754880" y="4169664"/>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42" name="Text 40"/>
          <p:cNvSpPr/>
          <p:nvPr/>
        </p:nvSpPr>
        <p:spPr>
          <a:xfrm>
            <a:off x="4864608" y="4279392"/>
            <a:ext cx="457200" cy="45720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43" name="Text 41"/>
          <p:cNvSpPr/>
          <p:nvPr/>
        </p:nvSpPr>
        <p:spPr>
          <a:xfrm>
            <a:off x="5413248" y="4242816"/>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Timezone Aware</a:t>
            </a:r>
            <a:endParaRPr lang="en-US" sz="1200" dirty="0"/>
          </a:p>
        </p:txBody>
      </p:sp>
      <p:sp>
        <p:nvSpPr>
          <p:cNvPr id="44" name="Text 42"/>
          <p:cNvSpPr/>
          <p:nvPr/>
        </p:nvSpPr>
        <p:spPr>
          <a:xfrm>
            <a:off x="5413248" y="4480560"/>
            <a:ext cx="3291840" cy="292608"/>
          </a:xfrm>
          <a:prstGeom prst="rect">
            <a:avLst/>
          </a:prstGeom>
          <a:noFill/>
          <a:ln/>
        </p:spPr>
        <p:txBody>
          <a:bodyPr wrap="square" lIns="0" tIns="0" rIns="0" bIns="0" rtlCol="0" anchor="ctr"/>
          <a:lstStyle/>
          <a:p>
            <a:pPr marL="0" indent="0">
              <a:buNone/>
            </a:pPr>
            <a:r>
              <a:rPr lang="en-US" sz="950" dirty="0">
                <a:solidFill>
                  <a:srgbClr val="6B6B60"/>
                </a:solidFill>
              </a:rPr>
              <a:t>Asia/Dhaka timezone via toLocaleDateString en-CA — no midnight date bug</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37160"/>
            <a:ext cx="1463040" cy="256032"/>
          </a:xfrm>
          <a:prstGeom prst="roundRect">
            <a:avLst>
              <a:gd name="adj" fmla="val 21429"/>
            </a:avLst>
          </a:prstGeom>
          <a:solidFill>
            <a:srgbClr val="D4E6D8"/>
          </a:solidFill>
          <a:ln/>
        </p:spPr>
      </p:sp>
      <p:sp>
        <p:nvSpPr>
          <p:cNvPr id="3" name="Text 1"/>
          <p:cNvSpPr/>
          <p:nvPr/>
        </p:nvSpPr>
        <p:spPr>
          <a:xfrm>
            <a:off x="365760" y="137160"/>
            <a:ext cx="1463040" cy="256032"/>
          </a:xfrm>
          <a:prstGeom prst="rect">
            <a:avLst/>
          </a:prstGeom>
          <a:noFill/>
          <a:ln/>
        </p:spPr>
        <p:txBody>
          <a:bodyPr wrap="square" lIns="0" tIns="0" rIns="0" bIns="0" rtlCol="0" anchor="ctr"/>
          <a:lstStyle/>
          <a:p>
            <a:pPr marL="0" indent="0" algn="ctr">
              <a:buNone/>
            </a:pPr>
            <a:r>
              <a:rPr lang="en-US" sz="800" b="1" dirty="0">
                <a:solidFill>
                  <a:srgbClr val="2D5A3D"/>
                </a:solidFill>
              </a:rPr>
              <a:t>05 · User Flow</a:t>
            </a:r>
            <a:endParaRPr lang="en-US" sz="800" dirty="0"/>
          </a:p>
        </p:txBody>
      </p:sp>
      <p:sp>
        <p:nvSpPr>
          <p:cNvPr id="4" name="Text 2"/>
          <p:cNvSpPr/>
          <p:nvPr/>
        </p:nvSpPr>
        <p:spPr>
          <a:xfrm>
            <a:off x="365760" y="502920"/>
            <a:ext cx="8229600" cy="45720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End-to-End User Flow</a:t>
            </a:r>
            <a:endParaRPr lang="en-US" sz="2800" dirty="0"/>
          </a:p>
        </p:txBody>
      </p:sp>
      <p:sp>
        <p:nvSpPr>
          <p:cNvPr id="5" name="Text 3"/>
          <p:cNvSpPr/>
          <p:nvPr/>
        </p:nvSpPr>
        <p:spPr>
          <a:xfrm>
            <a:off x="365760" y="1097280"/>
            <a:ext cx="3840480" cy="274320"/>
          </a:xfrm>
          <a:prstGeom prst="rect">
            <a:avLst/>
          </a:prstGeom>
          <a:noFill/>
          <a:ln/>
        </p:spPr>
        <p:txBody>
          <a:bodyPr wrap="square" lIns="0" tIns="0" rIns="0" bIns="0" rtlCol="0" anchor="ctr"/>
          <a:lstStyle/>
          <a:p>
            <a:pPr marL="0" indent="0">
              <a:buNone/>
            </a:pPr>
            <a:r>
              <a:rPr lang="en-US" sz="1300" b="1" dirty="0">
                <a:solidFill>
                  <a:srgbClr val="2D5A3D"/>
                </a:solidFill>
              </a:rPr>
              <a:t>Student Journey</a:t>
            </a:r>
            <a:endParaRPr lang="en-US" sz="1300" dirty="0"/>
          </a:p>
        </p:txBody>
      </p:sp>
      <p:sp>
        <p:nvSpPr>
          <p:cNvPr id="6" name="Shape 4"/>
          <p:cNvSpPr/>
          <p:nvPr/>
        </p:nvSpPr>
        <p:spPr>
          <a:xfrm>
            <a:off x="365760" y="1444752"/>
            <a:ext cx="1078992" cy="502920"/>
          </a:xfrm>
          <a:prstGeom prst="roundRect">
            <a:avLst>
              <a:gd name="adj" fmla="val 18182"/>
            </a:avLst>
          </a:prstGeom>
          <a:solidFill>
            <a:srgbClr val="2D5A3D"/>
          </a:solidFill>
          <a:ln/>
          <a:effectLst>
            <a:outerShdw blurRad="76200" dist="25400" dir="2700000" algn="bl" rotWithShape="0">
              <a:srgbClr val="000000">
                <a:alpha val="10000"/>
              </a:srgbClr>
            </a:outerShdw>
          </a:effectLst>
        </p:spPr>
      </p:sp>
      <p:sp>
        <p:nvSpPr>
          <p:cNvPr id="7" name="Text 5"/>
          <p:cNvSpPr/>
          <p:nvPr/>
        </p:nvSpPr>
        <p:spPr>
          <a:xfrm>
            <a:off x="365760" y="1444752"/>
            <a:ext cx="1078992" cy="502920"/>
          </a:xfrm>
          <a:prstGeom prst="rect">
            <a:avLst/>
          </a:prstGeom>
          <a:noFill/>
          <a:ln/>
        </p:spPr>
        <p:txBody>
          <a:bodyPr wrap="square" lIns="25400" tIns="25400" rIns="25400" bIns="25400" rtlCol="0" anchor="ctr"/>
          <a:lstStyle/>
          <a:p>
            <a:pPr marL="0" indent="0" algn="ctr">
              <a:buNone/>
            </a:pPr>
            <a:r>
              <a:rPr lang="en-US" sz="800" b="1" dirty="0">
                <a:solidFill>
                  <a:srgbClr val="FFFFFF"/>
                </a:solidFill>
              </a:rPr>
              <a:t>Splash Screen</a:t>
            </a:r>
            <a:endParaRPr lang="en-US" sz="800" dirty="0"/>
          </a:p>
        </p:txBody>
      </p:sp>
      <p:sp>
        <p:nvSpPr>
          <p:cNvPr id="8" name="Text 6"/>
          <p:cNvSpPr/>
          <p:nvPr/>
        </p:nvSpPr>
        <p:spPr>
          <a:xfrm>
            <a:off x="1444752" y="1572768"/>
            <a:ext cx="128016" cy="256032"/>
          </a:xfrm>
          <a:prstGeom prst="rect">
            <a:avLst/>
          </a:prstGeom>
          <a:noFill/>
          <a:ln/>
        </p:spPr>
        <p:txBody>
          <a:bodyPr wrap="square" lIns="0" tIns="0" rIns="0" bIns="0" rtlCol="0" anchor="ctr"/>
          <a:lstStyle/>
          <a:p>
            <a:pPr marL="0" indent="0" algn="ctr">
              <a:buNone/>
            </a:pPr>
            <a:r>
              <a:rPr lang="en-US" sz="1200" dirty="0">
                <a:solidFill>
                  <a:srgbClr val="40916C"/>
                </a:solidFill>
              </a:rPr>
              <a:t>→</a:t>
            </a:r>
            <a:endParaRPr lang="en-US" sz="1200" dirty="0"/>
          </a:p>
        </p:txBody>
      </p:sp>
      <p:sp>
        <p:nvSpPr>
          <p:cNvPr id="9" name="Shape 7"/>
          <p:cNvSpPr/>
          <p:nvPr/>
        </p:nvSpPr>
        <p:spPr>
          <a:xfrm>
            <a:off x="1572768" y="1444752"/>
            <a:ext cx="1078992" cy="502920"/>
          </a:xfrm>
          <a:prstGeom prst="roundRect">
            <a:avLst>
              <a:gd name="adj" fmla="val 18182"/>
            </a:avLst>
          </a:prstGeom>
          <a:solidFill>
            <a:srgbClr val="F0F8F2"/>
          </a:solidFill>
          <a:ln/>
          <a:effectLst>
            <a:outerShdw blurRad="76200" dist="25400" dir="2700000" algn="bl" rotWithShape="0">
              <a:srgbClr val="000000">
                <a:alpha val="10000"/>
              </a:srgbClr>
            </a:outerShdw>
          </a:effectLst>
        </p:spPr>
      </p:sp>
      <p:sp>
        <p:nvSpPr>
          <p:cNvPr id="10" name="Text 8"/>
          <p:cNvSpPr/>
          <p:nvPr/>
        </p:nvSpPr>
        <p:spPr>
          <a:xfrm>
            <a:off x="1572768" y="1444752"/>
            <a:ext cx="1078992" cy="502920"/>
          </a:xfrm>
          <a:prstGeom prst="rect">
            <a:avLst/>
          </a:prstGeom>
          <a:noFill/>
          <a:ln/>
        </p:spPr>
        <p:txBody>
          <a:bodyPr wrap="square" lIns="25400" tIns="25400" rIns="25400" bIns="25400" rtlCol="0" anchor="ctr"/>
          <a:lstStyle/>
          <a:p>
            <a:pPr marL="0" indent="0" algn="ctr">
              <a:buNone/>
            </a:pPr>
            <a:r>
              <a:rPr lang="en-US" sz="800" dirty="0">
                <a:solidFill>
                  <a:srgbClr val="2D5A3D"/>
                </a:solidFill>
              </a:rPr>
              <a:t>Onboarding (3 slides)</a:t>
            </a:r>
            <a:endParaRPr lang="en-US" sz="800" dirty="0"/>
          </a:p>
        </p:txBody>
      </p:sp>
      <p:sp>
        <p:nvSpPr>
          <p:cNvPr id="11" name="Text 9"/>
          <p:cNvSpPr/>
          <p:nvPr/>
        </p:nvSpPr>
        <p:spPr>
          <a:xfrm>
            <a:off x="2651760" y="1572768"/>
            <a:ext cx="128016" cy="256032"/>
          </a:xfrm>
          <a:prstGeom prst="rect">
            <a:avLst/>
          </a:prstGeom>
          <a:noFill/>
          <a:ln/>
        </p:spPr>
        <p:txBody>
          <a:bodyPr wrap="square" lIns="0" tIns="0" rIns="0" bIns="0" rtlCol="0" anchor="ctr"/>
          <a:lstStyle/>
          <a:p>
            <a:pPr marL="0" indent="0" algn="ctr">
              <a:buNone/>
            </a:pPr>
            <a:r>
              <a:rPr lang="en-US" sz="1200" dirty="0">
                <a:solidFill>
                  <a:srgbClr val="40916C"/>
                </a:solidFill>
              </a:rPr>
              <a:t>→</a:t>
            </a:r>
            <a:endParaRPr lang="en-US" sz="1200" dirty="0"/>
          </a:p>
        </p:txBody>
      </p:sp>
      <p:sp>
        <p:nvSpPr>
          <p:cNvPr id="12" name="Shape 10"/>
          <p:cNvSpPr/>
          <p:nvPr/>
        </p:nvSpPr>
        <p:spPr>
          <a:xfrm>
            <a:off x="2779776" y="1444752"/>
            <a:ext cx="1078992" cy="502920"/>
          </a:xfrm>
          <a:prstGeom prst="roundRect">
            <a:avLst>
              <a:gd name="adj" fmla="val 18182"/>
            </a:avLst>
          </a:prstGeom>
          <a:solidFill>
            <a:srgbClr val="F0F8F2"/>
          </a:solidFill>
          <a:ln/>
          <a:effectLst>
            <a:outerShdw blurRad="76200" dist="25400" dir="2700000" algn="bl" rotWithShape="0">
              <a:srgbClr val="000000">
                <a:alpha val="10000"/>
              </a:srgbClr>
            </a:outerShdw>
          </a:effectLst>
        </p:spPr>
      </p:sp>
      <p:sp>
        <p:nvSpPr>
          <p:cNvPr id="13" name="Text 11"/>
          <p:cNvSpPr/>
          <p:nvPr/>
        </p:nvSpPr>
        <p:spPr>
          <a:xfrm>
            <a:off x="2779776" y="1444752"/>
            <a:ext cx="1078992" cy="502920"/>
          </a:xfrm>
          <a:prstGeom prst="rect">
            <a:avLst/>
          </a:prstGeom>
          <a:noFill/>
          <a:ln/>
        </p:spPr>
        <p:txBody>
          <a:bodyPr wrap="square" lIns="25400" tIns="25400" rIns="25400" bIns="25400" rtlCol="0" anchor="ctr"/>
          <a:lstStyle/>
          <a:p>
            <a:pPr marL="0" indent="0" algn="ctr">
              <a:buNone/>
            </a:pPr>
            <a:r>
              <a:rPr lang="en-US" sz="800" dirty="0">
                <a:solidFill>
                  <a:srgbClr val="2D5A3D"/>
                </a:solidFill>
              </a:rPr>
              <a:t>Home Screen</a:t>
            </a:r>
            <a:endParaRPr lang="en-US" sz="800" dirty="0"/>
          </a:p>
        </p:txBody>
      </p:sp>
      <p:sp>
        <p:nvSpPr>
          <p:cNvPr id="14" name="Text 12"/>
          <p:cNvSpPr/>
          <p:nvPr/>
        </p:nvSpPr>
        <p:spPr>
          <a:xfrm>
            <a:off x="3858768" y="1572768"/>
            <a:ext cx="128016" cy="256032"/>
          </a:xfrm>
          <a:prstGeom prst="rect">
            <a:avLst/>
          </a:prstGeom>
          <a:noFill/>
          <a:ln/>
        </p:spPr>
        <p:txBody>
          <a:bodyPr wrap="square" lIns="0" tIns="0" rIns="0" bIns="0" rtlCol="0" anchor="ctr"/>
          <a:lstStyle/>
          <a:p>
            <a:pPr marL="0" indent="0" algn="ctr">
              <a:buNone/>
            </a:pPr>
            <a:r>
              <a:rPr lang="en-US" sz="1200" dirty="0">
                <a:solidFill>
                  <a:srgbClr val="40916C"/>
                </a:solidFill>
              </a:rPr>
              <a:t>→</a:t>
            </a:r>
            <a:endParaRPr lang="en-US" sz="1200" dirty="0"/>
          </a:p>
        </p:txBody>
      </p:sp>
      <p:sp>
        <p:nvSpPr>
          <p:cNvPr id="15" name="Shape 13"/>
          <p:cNvSpPr/>
          <p:nvPr/>
        </p:nvSpPr>
        <p:spPr>
          <a:xfrm>
            <a:off x="3986784" y="1444752"/>
            <a:ext cx="1078992" cy="502920"/>
          </a:xfrm>
          <a:prstGeom prst="roundRect">
            <a:avLst>
              <a:gd name="adj" fmla="val 18182"/>
            </a:avLst>
          </a:prstGeom>
          <a:solidFill>
            <a:srgbClr val="F0F8F2"/>
          </a:solidFill>
          <a:ln/>
          <a:effectLst>
            <a:outerShdw blurRad="76200" dist="25400" dir="2700000" algn="bl" rotWithShape="0">
              <a:srgbClr val="000000">
                <a:alpha val="10000"/>
              </a:srgbClr>
            </a:outerShdw>
          </a:effectLst>
        </p:spPr>
      </p:sp>
      <p:sp>
        <p:nvSpPr>
          <p:cNvPr id="16" name="Text 14"/>
          <p:cNvSpPr/>
          <p:nvPr/>
        </p:nvSpPr>
        <p:spPr>
          <a:xfrm>
            <a:off x="3986784" y="1444752"/>
            <a:ext cx="1078992" cy="502920"/>
          </a:xfrm>
          <a:prstGeom prst="rect">
            <a:avLst/>
          </a:prstGeom>
          <a:noFill/>
          <a:ln/>
        </p:spPr>
        <p:txBody>
          <a:bodyPr wrap="square" lIns="25400" tIns="25400" rIns="25400" bIns="25400" rtlCol="0" anchor="ctr"/>
          <a:lstStyle/>
          <a:p>
            <a:pPr marL="0" indent="0" algn="ctr">
              <a:buNone/>
            </a:pPr>
            <a:r>
              <a:rPr lang="en-US" sz="800" dirty="0">
                <a:solidFill>
                  <a:srgbClr val="2D5A3D"/>
                </a:solidFill>
              </a:rPr>
              <a:t>Hall List</a:t>
            </a:r>
            <a:endParaRPr lang="en-US" sz="800" dirty="0"/>
          </a:p>
        </p:txBody>
      </p:sp>
      <p:sp>
        <p:nvSpPr>
          <p:cNvPr id="17" name="Text 15"/>
          <p:cNvSpPr/>
          <p:nvPr/>
        </p:nvSpPr>
        <p:spPr>
          <a:xfrm>
            <a:off x="5065776" y="1572768"/>
            <a:ext cx="128016" cy="256032"/>
          </a:xfrm>
          <a:prstGeom prst="rect">
            <a:avLst/>
          </a:prstGeom>
          <a:noFill/>
          <a:ln/>
        </p:spPr>
        <p:txBody>
          <a:bodyPr wrap="square" lIns="0" tIns="0" rIns="0" bIns="0" rtlCol="0" anchor="ctr"/>
          <a:lstStyle/>
          <a:p>
            <a:pPr marL="0" indent="0" algn="ctr">
              <a:buNone/>
            </a:pPr>
            <a:r>
              <a:rPr lang="en-US" sz="1200" dirty="0">
                <a:solidFill>
                  <a:srgbClr val="40916C"/>
                </a:solidFill>
              </a:rPr>
              <a:t>→</a:t>
            </a:r>
            <a:endParaRPr lang="en-US" sz="1200" dirty="0"/>
          </a:p>
        </p:txBody>
      </p:sp>
      <p:sp>
        <p:nvSpPr>
          <p:cNvPr id="18" name="Shape 16"/>
          <p:cNvSpPr/>
          <p:nvPr/>
        </p:nvSpPr>
        <p:spPr>
          <a:xfrm>
            <a:off x="5193792" y="1444752"/>
            <a:ext cx="1078992" cy="502920"/>
          </a:xfrm>
          <a:prstGeom prst="roundRect">
            <a:avLst>
              <a:gd name="adj" fmla="val 18182"/>
            </a:avLst>
          </a:prstGeom>
          <a:solidFill>
            <a:srgbClr val="F0F8F2"/>
          </a:solidFill>
          <a:ln/>
          <a:effectLst>
            <a:outerShdw blurRad="76200" dist="25400" dir="2700000" algn="bl" rotWithShape="0">
              <a:srgbClr val="000000">
                <a:alpha val="10000"/>
              </a:srgbClr>
            </a:outerShdw>
          </a:effectLst>
        </p:spPr>
      </p:sp>
      <p:sp>
        <p:nvSpPr>
          <p:cNvPr id="19" name="Text 17"/>
          <p:cNvSpPr/>
          <p:nvPr/>
        </p:nvSpPr>
        <p:spPr>
          <a:xfrm>
            <a:off x="5193792" y="1444752"/>
            <a:ext cx="1078992" cy="502920"/>
          </a:xfrm>
          <a:prstGeom prst="rect">
            <a:avLst/>
          </a:prstGeom>
          <a:noFill/>
          <a:ln/>
        </p:spPr>
        <p:txBody>
          <a:bodyPr wrap="square" lIns="25400" tIns="25400" rIns="25400" bIns="25400" rtlCol="0" anchor="ctr"/>
          <a:lstStyle/>
          <a:p>
            <a:pPr marL="0" indent="0" algn="ctr">
              <a:buNone/>
            </a:pPr>
            <a:r>
              <a:rPr lang="en-US" sz="800" dirty="0">
                <a:solidFill>
                  <a:srgbClr val="2D5A3D"/>
                </a:solidFill>
              </a:rPr>
              <a:t>Hall Details</a:t>
            </a:r>
            <a:endParaRPr lang="en-US" sz="800" dirty="0"/>
          </a:p>
        </p:txBody>
      </p:sp>
      <p:sp>
        <p:nvSpPr>
          <p:cNvPr id="20" name="Text 18"/>
          <p:cNvSpPr/>
          <p:nvPr/>
        </p:nvSpPr>
        <p:spPr>
          <a:xfrm>
            <a:off x="6272784" y="1572768"/>
            <a:ext cx="128016" cy="256032"/>
          </a:xfrm>
          <a:prstGeom prst="rect">
            <a:avLst/>
          </a:prstGeom>
          <a:noFill/>
          <a:ln/>
        </p:spPr>
        <p:txBody>
          <a:bodyPr wrap="square" lIns="0" tIns="0" rIns="0" bIns="0" rtlCol="0" anchor="ctr"/>
          <a:lstStyle/>
          <a:p>
            <a:pPr marL="0" indent="0" algn="ctr">
              <a:buNone/>
            </a:pPr>
            <a:r>
              <a:rPr lang="en-US" sz="1200" dirty="0">
                <a:solidFill>
                  <a:srgbClr val="40916C"/>
                </a:solidFill>
              </a:rPr>
              <a:t>→</a:t>
            </a:r>
            <a:endParaRPr lang="en-US" sz="1200" dirty="0"/>
          </a:p>
        </p:txBody>
      </p:sp>
      <p:sp>
        <p:nvSpPr>
          <p:cNvPr id="21" name="Shape 19"/>
          <p:cNvSpPr/>
          <p:nvPr/>
        </p:nvSpPr>
        <p:spPr>
          <a:xfrm>
            <a:off x="6400800" y="1444752"/>
            <a:ext cx="1078992" cy="502920"/>
          </a:xfrm>
          <a:prstGeom prst="roundRect">
            <a:avLst>
              <a:gd name="adj" fmla="val 18182"/>
            </a:avLst>
          </a:prstGeom>
          <a:solidFill>
            <a:srgbClr val="F0F8F2"/>
          </a:solidFill>
          <a:ln/>
          <a:effectLst>
            <a:outerShdw blurRad="76200" dist="25400" dir="2700000" algn="bl" rotWithShape="0">
              <a:srgbClr val="000000">
                <a:alpha val="10000"/>
              </a:srgbClr>
            </a:outerShdw>
          </a:effectLst>
        </p:spPr>
      </p:sp>
      <p:sp>
        <p:nvSpPr>
          <p:cNvPr id="22" name="Text 20"/>
          <p:cNvSpPr/>
          <p:nvPr/>
        </p:nvSpPr>
        <p:spPr>
          <a:xfrm>
            <a:off x="6400800" y="1444752"/>
            <a:ext cx="1078992" cy="502920"/>
          </a:xfrm>
          <a:prstGeom prst="rect">
            <a:avLst/>
          </a:prstGeom>
          <a:noFill/>
          <a:ln/>
        </p:spPr>
        <p:txBody>
          <a:bodyPr wrap="square" lIns="25400" tIns="25400" rIns="25400" bIns="25400" rtlCol="0" anchor="ctr"/>
          <a:lstStyle/>
          <a:p>
            <a:pPr marL="0" indent="0" algn="ctr">
              <a:buNone/>
            </a:pPr>
            <a:r>
              <a:rPr lang="en-US" sz="800" dirty="0">
                <a:solidFill>
                  <a:srgbClr val="2D5A3D"/>
                </a:solidFill>
              </a:rPr>
              <a:t>Food Detail</a:t>
            </a:r>
            <a:endParaRPr lang="en-US" sz="800" dirty="0"/>
          </a:p>
        </p:txBody>
      </p:sp>
      <p:sp>
        <p:nvSpPr>
          <p:cNvPr id="23" name="Text 21"/>
          <p:cNvSpPr/>
          <p:nvPr/>
        </p:nvSpPr>
        <p:spPr>
          <a:xfrm>
            <a:off x="7479792" y="1572768"/>
            <a:ext cx="128016" cy="256032"/>
          </a:xfrm>
          <a:prstGeom prst="rect">
            <a:avLst/>
          </a:prstGeom>
          <a:noFill/>
          <a:ln/>
        </p:spPr>
        <p:txBody>
          <a:bodyPr wrap="square" lIns="0" tIns="0" rIns="0" bIns="0" rtlCol="0" anchor="ctr"/>
          <a:lstStyle/>
          <a:p>
            <a:pPr marL="0" indent="0" algn="ctr">
              <a:buNone/>
            </a:pPr>
            <a:r>
              <a:rPr lang="en-US" sz="1200" dirty="0">
                <a:solidFill>
                  <a:srgbClr val="40916C"/>
                </a:solidFill>
              </a:rPr>
              <a:t>→</a:t>
            </a:r>
            <a:endParaRPr lang="en-US" sz="1200" dirty="0"/>
          </a:p>
        </p:txBody>
      </p:sp>
      <p:sp>
        <p:nvSpPr>
          <p:cNvPr id="24" name="Shape 22"/>
          <p:cNvSpPr/>
          <p:nvPr/>
        </p:nvSpPr>
        <p:spPr>
          <a:xfrm>
            <a:off x="7607808" y="1444752"/>
            <a:ext cx="1078992" cy="502920"/>
          </a:xfrm>
          <a:prstGeom prst="roundRect">
            <a:avLst>
              <a:gd name="adj" fmla="val 18182"/>
            </a:avLst>
          </a:prstGeom>
          <a:solidFill>
            <a:srgbClr val="F0F8F2"/>
          </a:solidFill>
          <a:ln/>
          <a:effectLst>
            <a:outerShdw blurRad="76200" dist="25400" dir="2700000" algn="bl" rotWithShape="0">
              <a:srgbClr val="000000">
                <a:alpha val="10000"/>
              </a:srgbClr>
            </a:outerShdw>
          </a:effectLst>
        </p:spPr>
      </p:sp>
      <p:sp>
        <p:nvSpPr>
          <p:cNvPr id="25" name="Text 23"/>
          <p:cNvSpPr/>
          <p:nvPr/>
        </p:nvSpPr>
        <p:spPr>
          <a:xfrm>
            <a:off x="7607808" y="1444752"/>
            <a:ext cx="1078992" cy="502920"/>
          </a:xfrm>
          <a:prstGeom prst="rect">
            <a:avLst/>
          </a:prstGeom>
          <a:noFill/>
          <a:ln/>
        </p:spPr>
        <p:txBody>
          <a:bodyPr wrap="square" lIns="25400" tIns="25400" rIns="25400" bIns="25400" rtlCol="0" anchor="ctr"/>
          <a:lstStyle/>
          <a:p>
            <a:pPr marL="0" indent="0" algn="ctr">
              <a:buNone/>
            </a:pPr>
            <a:r>
              <a:rPr lang="en-US" sz="800" dirty="0">
                <a:solidFill>
                  <a:srgbClr val="2D5A3D"/>
                </a:solidFill>
              </a:rPr>
              <a:t>Review Submit</a:t>
            </a:r>
            <a:endParaRPr lang="en-US" sz="800" dirty="0"/>
          </a:p>
        </p:txBody>
      </p:sp>
      <p:sp>
        <p:nvSpPr>
          <p:cNvPr id="26" name="Text 24"/>
          <p:cNvSpPr/>
          <p:nvPr/>
        </p:nvSpPr>
        <p:spPr>
          <a:xfrm>
            <a:off x="365760" y="2194560"/>
            <a:ext cx="3840480" cy="274320"/>
          </a:xfrm>
          <a:prstGeom prst="rect">
            <a:avLst/>
          </a:prstGeom>
          <a:noFill/>
          <a:ln/>
        </p:spPr>
        <p:txBody>
          <a:bodyPr wrap="square" lIns="0" tIns="0" rIns="0" bIns="0" rtlCol="0" anchor="ctr"/>
          <a:lstStyle/>
          <a:p>
            <a:pPr marL="0" indent="0">
              <a:buNone/>
            </a:pPr>
            <a:r>
              <a:rPr lang="en-US" sz="1300" b="1" dirty="0">
                <a:solidFill>
                  <a:srgbClr val="1565C0"/>
                </a:solidFill>
              </a:rPr>
              <a:t>Moderator Journey (Dining)</a:t>
            </a:r>
            <a:endParaRPr lang="en-US" sz="1300" dirty="0"/>
          </a:p>
        </p:txBody>
      </p:sp>
      <p:sp>
        <p:nvSpPr>
          <p:cNvPr id="27" name="Shape 25"/>
          <p:cNvSpPr/>
          <p:nvPr/>
        </p:nvSpPr>
        <p:spPr>
          <a:xfrm>
            <a:off x="365760" y="2542032"/>
            <a:ext cx="1298448" cy="502920"/>
          </a:xfrm>
          <a:prstGeom prst="roundRect">
            <a:avLst>
              <a:gd name="adj" fmla="val 18182"/>
            </a:avLst>
          </a:prstGeom>
          <a:solidFill>
            <a:srgbClr val="1565C0"/>
          </a:solidFill>
          <a:ln/>
          <a:effectLst>
            <a:outerShdw blurRad="76200" dist="25400" dir="2700000" algn="bl" rotWithShape="0">
              <a:srgbClr val="000000">
                <a:alpha val="10000"/>
              </a:srgbClr>
            </a:outerShdw>
          </a:effectLst>
        </p:spPr>
      </p:sp>
      <p:sp>
        <p:nvSpPr>
          <p:cNvPr id="28" name="Text 26"/>
          <p:cNvSpPr/>
          <p:nvPr/>
        </p:nvSpPr>
        <p:spPr>
          <a:xfrm>
            <a:off x="365760" y="2542032"/>
            <a:ext cx="1298448" cy="502920"/>
          </a:xfrm>
          <a:prstGeom prst="rect">
            <a:avLst/>
          </a:prstGeom>
          <a:noFill/>
          <a:ln/>
        </p:spPr>
        <p:txBody>
          <a:bodyPr wrap="square" lIns="25400" tIns="25400" rIns="25400" bIns="25400" rtlCol="0" anchor="ctr"/>
          <a:lstStyle/>
          <a:p>
            <a:pPr marL="0" indent="0" algn="ctr">
              <a:buNone/>
            </a:pPr>
            <a:r>
              <a:rPr lang="en-US" sz="800" b="1" dirty="0">
                <a:solidFill>
                  <a:srgbClr val="FFFFFF"/>
                </a:solidFill>
              </a:rPr>
              <a:t>Home Screen</a:t>
            </a:r>
            <a:endParaRPr lang="en-US" sz="800" dirty="0"/>
          </a:p>
        </p:txBody>
      </p:sp>
      <p:sp>
        <p:nvSpPr>
          <p:cNvPr id="29" name="Text 27"/>
          <p:cNvSpPr/>
          <p:nvPr/>
        </p:nvSpPr>
        <p:spPr>
          <a:xfrm>
            <a:off x="1664208" y="2670048"/>
            <a:ext cx="146304" cy="256032"/>
          </a:xfrm>
          <a:prstGeom prst="rect">
            <a:avLst/>
          </a:prstGeom>
          <a:noFill/>
          <a:ln/>
        </p:spPr>
        <p:txBody>
          <a:bodyPr wrap="square" lIns="0" tIns="0" rIns="0" bIns="0" rtlCol="0" anchor="ctr"/>
          <a:lstStyle/>
          <a:p>
            <a:pPr marL="0" indent="0" algn="ctr">
              <a:buNone/>
            </a:pPr>
            <a:r>
              <a:rPr lang="en-US" sz="1200" dirty="0">
                <a:solidFill>
                  <a:srgbClr val="1565C0"/>
                </a:solidFill>
              </a:rPr>
              <a:t>→</a:t>
            </a:r>
            <a:endParaRPr lang="en-US" sz="1200" dirty="0"/>
          </a:p>
        </p:txBody>
      </p:sp>
      <p:sp>
        <p:nvSpPr>
          <p:cNvPr id="30" name="Shape 28"/>
          <p:cNvSpPr/>
          <p:nvPr/>
        </p:nvSpPr>
        <p:spPr>
          <a:xfrm>
            <a:off x="1810512" y="2542032"/>
            <a:ext cx="1298448" cy="502920"/>
          </a:xfrm>
          <a:prstGeom prst="roundRect">
            <a:avLst>
              <a:gd name="adj" fmla="val 18182"/>
            </a:avLst>
          </a:prstGeom>
          <a:solidFill>
            <a:srgbClr val="EEF2FF"/>
          </a:solidFill>
          <a:ln/>
          <a:effectLst>
            <a:outerShdw blurRad="76200" dist="25400" dir="2700000" algn="bl" rotWithShape="0">
              <a:srgbClr val="000000">
                <a:alpha val="10000"/>
              </a:srgbClr>
            </a:outerShdw>
          </a:effectLst>
        </p:spPr>
      </p:sp>
      <p:sp>
        <p:nvSpPr>
          <p:cNvPr id="31" name="Text 29"/>
          <p:cNvSpPr/>
          <p:nvPr/>
        </p:nvSpPr>
        <p:spPr>
          <a:xfrm>
            <a:off x="1810512" y="2542032"/>
            <a:ext cx="1298448" cy="502920"/>
          </a:xfrm>
          <a:prstGeom prst="rect">
            <a:avLst/>
          </a:prstGeom>
          <a:noFill/>
          <a:ln/>
        </p:spPr>
        <p:txBody>
          <a:bodyPr wrap="square" lIns="25400" tIns="25400" rIns="25400" bIns="25400" rtlCol="0" anchor="ctr"/>
          <a:lstStyle/>
          <a:p>
            <a:pPr marL="0" indent="0" algn="ctr">
              <a:buNone/>
            </a:pPr>
            <a:r>
              <a:rPr lang="en-US" sz="800" dirty="0">
                <a:solidFill>
                  <a:srgbClr val="1565C0"/>
                </a:solidFill>
              </a:rPr>
              <a:t>Moderator Role</a:t>
            </a:r>
            <a:endParaRPr lang="en-US" sz="800" dirty="0"/>
          </a:p>
        </p:txBody>
      </p:sp>
      <p:sp>
        <p:nvSpPr>
          <p:cNvPr id="32" name="Text 30"/>
          <p:cNvSpPr/>
          <p:nvPr/>
        </p:nvSpPr>
        <p:spPr>
          <a:xfrm>
            <a:off x="3108960" y="2670048"/>
            <a:ext cx="146304" cy="256032"/>
          </a:xfrm>
          <a:prstGeom prst="rect">
            <a:avLst/>
          </a:prstGeom>
          <a:noFill/>
          <a:ln/>
        </p:spPr>
        <p:txBody>
          <a:bodyPr wrap="square" lIns="0" tIns="0" rIns="0" bIns="0" rtlCol="0" anchor="ctr"/>
          <a:lstStyle/>
          <a:p>
            <a:pPr marL="0" indent="0" algn="ctr">
              <a:buNone/>
            </a:pPr>
            <a:r>
              <a:rPr lang="en-US" sz="1200" dirty="0">
                <a:solidFill>
                  <a:srgbClr val="1565C0"/>
                </a:solidFill>
              </a:rPr>
              <a:t>→</a:t>
            </a:r>
            <a:endParaRPr lang="en-US" sz="1200" dirty="0"/>
          </a:p>
        </p:txBody>
      </p:sp>
      <p:sp>
        <p:nvSpPr>
          <p:cNvPr id="33" name="Shape 31"/>
          <p:cNvSpPr/>
          <p:nvPr/>
        </p:nvSpPr>
        <p:spPr>
          <a:xfrm>
            <a:off x="3255264" y="2542032"/>
            <a:ext cx="1298448" cy="502920"/>
          </a:xfrm>
          <a:prstGeom prst="roundRect">
            <a:avLst>
              <a:gd name="adj" fmla="val 18182"/>
            </a:avLst>
          </a:prstGeom>
          <a:solidFill>
            <a:srgbClr val="EEF2FF"/>
          </a:solidFill>
          <a:ln/>
          <a:effectLst>
            <a:outerShdw blurRad="76200" dist="25400" dir="2700000" algn="bl" rotWithShape="0">
              <a:srgbClr val="000000">
                <a:alpha val="10000"/>
              </a:srgbClr>
            </a:outerShdw>
          </a:effectLst>
        </p:spPr>
      </p:sp>
      <p:sp>
        <p:nvSpPr>
          <p:cNvPr id="34" name="Text 32"/>
          <p:cNvSpPr/>
          <p:nvPr/>
        </p:nvSpPr>
        <p:spPr>
          <a:xfrm>
            <a:off x="3255264" y="2542032"/>
            <a:ext cx="1298448" cy="502920"/>
          </a:xfrm>
          <a:prstGeom prst="rect">
            <a:avLst/>
          </a:prstGeom>
          <a:noFill/>
          <a:ln/>
        </p:spPr>
        <p:txBody>
          <a:bodyPr wrap="square" lIns="25400" tIns="25400" rIns="25400" bIns="25400" rtlCol="0" anchor="ctr"/>
          <a:lstStyle/>
          <a:p>
            <a:pPr marL="0" indent="0" algn="ctr">
              <a:buNone/>
            </a:pPr>
            <a:r>
              <a:rPr lang="en-US" sz="800" dirty="0">
                <a:solidFill>
                  <a:srgbClr val="1565C0"/>
                </a:solidFill>
              </a:rPr>
              <a:t>Login Screen</a:t>
            </a:r>
            <a:endParaRPr lang="en-US" sz="800" dirty="0"/>
          </a:p>
        </p:txBody>
      </p:sp>
      <p:sp>
        <p:nvSpPr>
          <p:cNvPr id="35" name="Text 33"/>
          <p:cNvSpPr/>
          <p:nvPr/>
        </p:nvSpPr>
        <p:spPr>
          <a:xfrm>
            <a:off x="4553712" y="2670048"/>
            <a:ext cx="146304" cy="256032"/>
          </a:xfrm>
          <a:prstGeom prst="rect">
            <a:avLst/>
          </a:prstGeom>
          <a:noFill/>
          <a:ln/>
        </p:spPr>
        <p:txBody>
          <a:bodyPr wrap="square" lIns="0" tIns="0" rIns="0" bIns="0" rtlCol="0" anchor="ctr"/>
          <a:lstStyle/>
          <a:p>
            <a:pPr marL="0" indent="0" algn="ctr">
              <a:buNone/>
            </a:pPr>
            <a:r>
              <a:rPr lang="en-US" sz="1200" dirty="0">
                <a:solidFill>
                  <a:srgbClr val="1565C0"/>
                </a:solidFill>
              </a:rPr>
              <a:t>→</a:t>
            </a:r>
            <a:endParaRPr lang="en-US" sz="1200" dirty="0"/>
          </a:p>
        </p:txBody>
      </p:sp>
      <p:sp>
        <p:nvSpPr>
          <p:cNvPr id="36" name="Shape 34"/>
          <p:cNvSpPr/>
          <p:nvPr/>
        </p:nvSpPr>
        <p:spPr>
          <a:xfrm>
            <a:off x="4700016" y="2542032"/>
            <a:ext cx="1298448" cy="502920"/>
          </a:xfrm>
          <a:prstGeom prst="roundRect">
            <a:avLst>
              <a:gd name="adj" fmla="val 18182"/>
            </a:avLst>
          </a:prstGeom>
          <a:solidFill>
            <a:srgbClr val="EEF2FF"/>
          </a:solidFill>
          <a:ln/>
          <a:effectLst>
            <a:outerShdw blurRad="76200" dist="25400" dir="2700000" algn="bl" rotWithShape="0">
              <a:srgbClr val="000000">
                <a:alpha val="10000"/>
              </a:srgbClr>
            </a:outerShdw>
          </a:effectLst>
        </p:spPr>
      </p:sp>
      <p:sp>
        <p:nvSpPr>
          <p:cNvPr id="37" name="Text 35"/>
          <p:cNvSpPr/>
          <p:nvPr/>
        </p:nvSpPr>
        <p:spPr>
          <a:xfrm>
            <a:off x="4700016" y="2542032"/>
            <a:ext cx="1298448" cy="502920"/>
          </a:xfrm>
          <a:prstGeom prst="rect">
            <a:avLst/>
          </a:prstGeom>
          <a:noFill/>
          <a:ln/>
        </p:spPr>
        <p:txBody>
          <a:bodyPr wrap="square" lIns="25400" tIns="25400" rIns="25400" bIns="25400" rtlCol="0" anchor="ctr"/>
          <a:lstStyle/>
          <a:p>
            <a:pPr marL="0" indent="0" algn="ctr">
              <a:buNone/>
            </a:pPr>
            <a:r>
              <a:rPr lang="en-US" sz="800" dirty="0">
                <a:solidFill>
                  <a:srgbClr val="1565C0"/>
                </a:solidFill>
              </a:rPr>
              <a:t>Dashboard</a:t>
            </a:r>
            <a:endParaRPr lang="en-US" sz="800" dirty="0"/>
          </a:p>
        </p:txBody>
      </p:sp>
      <p:sp>
        <p:nvSpPr>
          <p:cNvPr id="38" name="Text 36"/>
          <p:cNvSpPr/>
          <p:nvPr/>
        </p:nvSpPr>
        <p:spPr>
          <a:xfrm>
            <a:off x="5998464" y="2670048"/>
            <a:ext cx="146304" cy="256032"/>
          </a:xfrm>
          <a:prstGeom prst="rect">
            <a:avLst/>
          </a:prstGeom>
          <a:noFill/>
          <a:ln/>
        </p:spPr>
        <p:txBody>
          <a:bodyPr wrap="square" lIns="0" tIns="0" rIns="0" bIns="0" rtlCol="0" anchor="ctr"/>
          <a:lstStyle/>
          <a:p>
            <a:pPr marL="0" indent="0" algn="ctr">
              <a:buNone/>
            </a:pPr>
            <a:r>
              <a:rPr lang="en-US" sz="1200" dirty="0">
                <a:solidFill>
                  <a:srgbClr val="1565C0"/>
                </a:solidFill>
              </a:rPr>
              <a:t>→</a:t>
            </a:r>
            <a:endParaRPr lang="en-US" sz="1200" dirty="0"/>
          </a:p>
        </p:txBody>
      </p:sp>
      <p:sp>
        <p:nvSpPr>
          <p:cNvPr id="39" name="Shape 37"/>
          <p:cNvSpPr/>
          <p:nvPr/>
        </p:nvSpPr>
        <p:spPr>
          <a:xfrm>
            <a:off x="6144768" y="2542032"/>
            <a:ext cx="1298448" cy="502920"/>
          </a:xfrm>
          <a:prstGeom prst="roundRect">
            <a:avLst>
              <a:gd name="adj" fmla="val 18182"/>
            </a:avLst>
          </a:prstGeom>
          <a:solidFill>
            <a:srgbClr val="EEF2FF"/>
          </a:solidFill>
          <a:ln/>
          <a:effectLst>
            <a:outerShdw blurRad="76200" dist="25400" dir="2700000" algn="bl" rotWithShape="0">
              <a:srgbClr val="000000">
                <a:alpha val="10000"/>
              </a:srgbClr>
            </a:outerShdw>
          </a:effectLst>
        </p:spPr>
      </p:sp>
      <p:sp>
        <p:nvSpPr>
          <p:cNvPr id="40" name="Text 38"/>
          <p:cNvSpPr/>
          <p:nvPr/>
        </p:nvSpPr>
        <p:spPr>
          <a:xfrm>
            <a:off x="6144768" y="2542032"/>
            <a:ext cx="1298448" cy="502920"/>
          </a:xfrm>
          <a:prstGeom prst="rect">
            <a:avLst/>
          </a:prstGeom>
          <a:noFill/>
          <a:ln/>
        </p:spPr>
        <p:txBody>
          <a:bodyPr wrap="square" lIns="25400" tIns="25400" rIns="25400" bIns="25400" rtlCol="0" anchor="ctr"/>
          <a:lstStyle/>
          <a:p>
            <a:pPr marL="0" indent="0" algn="ctr">
              <a:buNone/>
            </a:pPr>
            <a:r>
              <a:rPr lang="en-US" sz="800" dirty="0">
                <a:solidFill>
                  <a:srgbClr val="1565C0"/>
                </a:solidFill>
              </a:rPr>
              <a:t>Menu Editor</a:t>
            </a:r>
            <a:endParaRPr lang="en-US" sz="800" dirty="0"/>
          </a:p>
        </p:txBody>
      </p:sp>
      <p:sp>
        <p:nvSpPr>
          <p:cNvPr id="41" name="Text 39"/>
          <p:cNvSpPr/>
          <p:nvPr/>
        </p:nvSpPr>
        <p:spPr>
          <a:xfrm>
            <a:off x="7443216" y="2670048"/>
            <a:ext cx="146304" cy="256032"/>
          </a:xfrm>
          <a:prstGeom prst="rect">
            <a:avLst/>
          </a:prstGeom>
          <a:noFill/>
          <a:ln/>
        </p:spPr>
        <p:txBody>
          <a:bodyPr wrap="square" lIns="0" tIns="0" rIns="0" bIns="0" rtlCol="0" anchor="ctr"/>
          <a:lstStyle/>
          <a:p>
            <a:pPr marL="0" indent="0" algn="ctr">
              <a:buNone/>
            </a:pPr>
            <a:r>
              <a:rPr lang="en-US" sz="1200" dirty="0">
                <a:solidFill>
                  <a:srgbClr val="1565C0"/>
                </a:solidFill>
              </a:rPr>
              <a:t>→</a:t>
            </a:r>
            <a:endParaRPr lang="en-US" sz="1200" dirty="0"/>
          </a:p>
        </p:txBody>
      </p:sp>
      <p:sp>
        <p:nvSpPr>
          <p:cNvPr id="42" name="Shape 40"/>
          <p:cNvSpPr/>
          <p:nvPr/>
        </p:nvSpPr>
        <p:spPr>
          <a:xfrm>
            <a:off x="7589520" y="2542032"/>
            <a:ext cx="1298448" cy="502920"/>
          </a:xfrm>
          <a:prstGeom prst="roundRect">
            <a:avLst>
              <a:gd name="adj" fmla="val 18182"/>
            </a:avLst>
          </a:prstGeom>
          <a:solidFill>
            <a:srgbClr val="EEF2FF"/>
          </a:solidFill>
          <a:ln/>
          <a:effectLst>
            <a:outerShdw blurRad="76200" dist="25400" dir="2700000" algn="bl" rotWithShape="0">
              <a:srgbClr val="000000">
                <a:alpha val="10000"/>
              </a:srgbClr>
            </a:outerShdw>
          </a:effectLst>
        </p:spPr>
      </p:sp>
      <p:sp>
        <p:nvSpPr>
          <p:cNvPr id="43" name="Text 41"/>
          <p:cNvSpPr/>
          <p:nvPr/>
        </p:nvSpPr>
        <p:spPr>
          <a:xfrm>
            <a:off x="7589520" y="2542032"/>
            <a:ext cx="1298448" cy="502920"/>
          </a:xfrm>
          <a:prstGeom prst="rect">
            <a:avLst/>
          </a:prstGeom>
          <a:noFill/>
          <a:ln/>
        </p:spPr>
        <p:txBody>
          <a:bodyPr wrap="square" lIns="25400" tIns="25400" rIns="25400" bIns="25400" rtlCol="0" anchor="ctr"/>
          <a:lstStyle/>
          <a:p>
            <a:pPr marL="0" indent="0" algn="ctr">
              <a:buNone/>
            </a:pPr>
            <a:r>
              <a:rPr lang="en-US" sz="800" dirty="0">
                <a:solidFill>
                  <a:srgbClr val="1565C0"/>
                </a:solidFill>
              </a:rPr>
              <a:t>Success Screen</a:t>
            </a:r>
            <a:endParaRPr lang="en-US" sz="800" dirty="0"/>
          </a:p>
        </p:txBody>
      </p:sp>
      <p:sp>
        <p:nvSpPr>
          <p:cNvPr id="44" name="Text 42"/>
          <p:cNvSpPr/>
          <p:nvPr/>
        </p:nvSpPr>
        <p:spPr>
          <a:xfrm>
            <a:off x="365760" y="3291840"/>
            <a:ext cx="8229600" cy="274320"/>
          </a:xfrm>
          <a:prstGeom prst="rect">
            <a:avLst/>
          </a:prstGeom>
          <a:noFill/>
          <a:ln/>
        </p:spPr>
        <p:txBody>
          <a:bodyPr wrap="square" lIns="0" tIns="0" rIns="0" bIns="0" rtlCol="0" anchor="ctr"/>
          <a:lstStyle/>
          <a:p>
            <a:pPr marL="0" indent="0">
              <a:buNone/>
            </a:pPr>
            <a:r>
              <a:rPr lang="en-US" sz="1300" b="1" dirty="0">
                <a:solidFill>
                  <a:srgbClr val="6B6B60"/>
                </a:solidFill>
              </a:rPr>
              <a:t>From Dashboard → (7 Features)</a:t>
            </a:r>
            <a:endParaRPr lang="en-US" sz="1300" dirty="0"/>
          </a:p>
        </p:txBody>
      </p:sp>
      <p:sp>
        <p:nvSpPr>
          <p:cNvPr id="45" name="Shape 43"/>
          <p:cNvSpPr/>
          <p:nvPr/>
        </p:nvSpPr>
        <p:spPr>
          <a:xfrm>
            <a:off x="365760" y="3639312"/>
            <a:ext cx="1078992" cy="475488"/>
          </a:xfrm>
          <a:prstGeom prst="roundRect">
            <a:avLst>
              <a:gd name="adj" fmla="val 19231"/>
            </a:avLst>
          </a:prstGeom>
          <a:solidFill>
            <a:srgbClr val="FFF8E1"/>
          </a:solidFill>
          <a:ln/>
          <a:effectLst>
            <a:outerShdw blurRad="76200" dist="25400" dir="2700000" algn="bl" rotWithShape="0">
              <a:srgbClr val="000000">
                <a:alpha val="10000"/>
              </a:srgbClr>
            </a:outerShdw>
          </a:effectLst>
        </p:spPr>
      </p:sp>
      <p:sp>
        <p:nvSpPr>
          <p:cNvPr id="46" name="Text 44"/>
          <p:cNvSpPr/>
          <p:nvPr/>
        </p:nvSpPr>
        <p:spPr>
          <a:xfrm>
            <a:off x="365760" y="3639312"/>
            <a:ext cx="1078992" cy="475488"/>
          </a:xfrm>
          <a:prstGeom prst="rect">
            <a:avLst/>
          </a:prstGeom>
          <a:noFill/>
          <a:ln/>
        </p:spPr>
        <p:txBody>
          <a:bodyPr wrap="square" lIns="25400" tIns="25400" rIns="25400" bIns="25400" rtlCol="0" anchor="ctr"/>
          <a:lstStyle/>
          <a:p>
            <a:pPr marL="0" indent="0" algn="ctr">
              <a:buNone/>
            </a:pPr>
            <a:r>
              <a:rPr lang="en-US" sz="800" dirty="0">
                <a:solidFill>
                  <a:srgbClr val="8B5A00"/>
                </a:solidFill>
              </a:rPr>
              <a:t>Quick Status</a:t>
            </a:r>
            <a:endParaRPr lang="en-US" sz="800" dirty="0"/>
          </a:p>
        </p:txBody>
      </p:sp>
      <p:sp>
        <p:nvSpPr>
          <p:cNvPr id="47" name="Shape 45"/>
          <p:cNvSpPr/>
          <p:nvPr/>
        </p:nvSpPr>
        <p:spPr>
          <a:xfrm>
            <a:off x="1572768" y="3639312"/>
            <a:ext cx="1078992" cy="475488"/>
          </a:xfrm>
          <a:prstGeom prst="roundRect">
            <a:avLst>
              <a:gd name="adj" fmla="val 19231"/>
            </a:avLst>
          </a:prstGeom>
          <a:solidFill>
            <a:srgbClr val="FFF8E1"/>
          </a:solidFill>
          <a:ln/>
          <a:effectLst>
            <a:outerShdw blurRad="76200" dist="25400" dir="2700000" algn="bl" rotWithShape="0">
              <a:srgbClr val="000000">
                <a:alpha val="10000"/>
              </a:srgbClr>
            </a:outerShdw>
          </a:effectLst>
        </p:spPr>
      </p:sp>
      <p:sp>
        <p:nvSpPr>
          <p:cNvPr id="48" name="Text 46"/>
          <p:cNvSpPr/>
          <p:nvPr/>
        </p:nvSpPr>
        <p:spPr>
          <a:xfrm>
            <a:off x="1572768" y="3639312"/>
            <a:ext cx="1078992" cy="475488"/>
          </a:xfrm>
          <a:prstGeom prst="rect">
            <a:avLst/>
          </a:prstGeom>
          <a:noFill/>
          <a:ln/>
        </p:spPr>
        <p:txBody>
          <a:bodyPr wrap="square" lIns="25400" tIns="25400" rIns="25400" bIns="25400" rtlCol="0" anchor="ctr"/>
          <a:lstStyle/>
          <a:p>
            <a:pPr marL="0" indent="0" algn="ctr">
              <a:buNone/>
            </a:pPr>
            <a:r>
              <a:rPr lang="en-US" sz="800" dirty="0">
                <a:solidFill>
                  <a:srgbClr val="8B5A00"/>
                </a:solidFill>
              </a:rPr>
              <a:t>Menu Editor</a:t>
            </a:r>
            <a:endParaRPr lang="en-US" sz="800" dirty="0"/>
          </a:p>
        </p:txBody>
      </p:sp>
      <p:sp>
        <p:nvSpPr>
          <p:cNvPr id="49" name="Shape 47"/>
          <p:cNvSpPr/>
          <p:nvPr/>
        </p:nvSpPr>
        <p:spPr>
          <a:xfrm>
            <a:off x="2779776" y="3639312"/>
            <a:ext cx="1078992" cy="475488"/>
          </a:xfrm>
          <a:prstGeom prst="roundRect">
            <a:avLst>
              <a:gd name="adj" fmla="val 19231"/>
            </a:avLst>
          </a:prstGeom>
          <a:solidFill>
            <a:srgbClr val="FFF8E1"/>
          </a:solidFill>
          <a:ln/>
          <a:effectLst>
            <a:outerShdw blurRad="76200" dist="25400" dir="2700000" algn="bl" rotWithShape="0">
              <a:srgbClr val="000000">
                <a:alpha val="10000"/>
              </a:srgbClr>
            </a:outerShdw>
          </a:effectLst>
        </p:spPr>
      </p:sp>
      <p:sp>
        <p:nvSpPr>
          <p:cNvPr id="50" name="Text 48"/>
          <p:cNvSpPr/>
          <p:nvPr/>
        </p:nvSpPr>
        <p:spPr>
          <a:xfrm>
            <a:off x="2779776" y="3639312"/>
            <a:ext cx="1078992" cy="475488"/>
          </a:xfrm>
          <a:prstGeom prst="rect">
            <a:avLst/>
          </a:prstGeom>
          <a:noFill/>
          <a:ln/>
        </p:spPr>
        <p:txBody>
          <a:bodyPr wrap="square" lIns="25400" tIns="25400" rIns="25400" bIns="25400" rtlCol="0" anchor="ctr"/>
          <a:lstStyle/>
          <a:p>
            <a:pPr marL="0" indent="0" algn="ctr">
              <a:buNone/>
            </a:pPr>
            <a:r>
              <a:rPr lang="en-US" sz="800" dirty="0">
                <a:solidFill>
                  <a:srgbClr val="8B5A00"/>
                </a:solidFill>
              </a:rPr>
              <a:t>Available Food</a:t>
            </a:r>
            <a:endParaRPr lang="en-US" sz="800" dirty="0"/>
          </a:p>
        </p:txBody>
      </p:sp>
      <p:sp>
        <p:nvSpPr>
          <p:cNvPr id="51" name="Shape 49"/>
          <p:cNvSpPr/>
          <p:nvPr/>
        </p:nvSpPr>
        <p:spPr>
          <a:xfrm>
            <a:off x="3986784" y="3639312"/>
            <a:ext cx="1078992" cy="475488"/>
          </a:xfrm>
          <a:prstGeom prst="roundRect">
            <a:avLst>
              <a:gd name="adj" fmla="val 19231"/>
            </a:avLst>
          </a:prstGeom>
          <a:solidFill>
            <a:srgbClr val="FFF8E1"/>
          </a:solidFill>
          <a:ln/>
          <a:effectLst>
            <a:outerShdw blurRad="76200" dist="25400" dir="2700000" algn="bl" rotWithShape="0">
              <a:srgbClr val="000000">
                <a:alpha val="10000"/>
              </a:srgbClr>
            </a:outerShdw>
          </a:effectLst>
        </p:spPr>
      </p:sp>
      <p:sp>
        <p:nvSpPr>
          <p:cNvPr id="52" name="Text 50"/>
          <p:cNvSpPr/>
          <p:nvPr/>
        </p:nvSpPr>
        <p:spPr>
          <a:xfrm>
            <a:off x="3986784" y="3639312"/>
            <a:ext cx="1078992" cy="475488"/>
          </a:xfrm>
          <a:prstGeom prst="rect">
            <a:avLst/>
          </a:prstGeom>
          <a:noFill/>
          <a:ln/>
        </p:spPr>
        <p:txBody>
          <a:bodyPr wrap="square" lIns="25400" tIns="25400" rIns="25400" bIns="25400" rtlCol="0" anchor="ctr"/>
          <a:lstStyle/>
          <a:p>
            <a:pPr marL="0" indent="0" algn="ctr">
              <a:buNone/>
            </a:pPr>
            <a:r>
              <a:rPr lang="en-US" sz="800" dirty="0">
                <a:solidFill>
                  <a:srgbClr val="8B5A00"/>
                </a:solidFill>
              </a:rPr>
              <a:t>Post Notice</a:t>
            </a:r>
            <a:endParaRPr lang="en-US" sz="800" dirty="0"/>
          </a:p>
        </p:txBody>
      </p:sp>
      <p:sp>
        <p:nvSpPr>
          <p:cNvPr id="53" name="Shape 51"/>
          <p:cNvSpPr/>
          <p:nvPr/>
        </p:nvSpPr>
        <p:spPr>
          <a:xfrm>
            <a:off x="5193792" y="3639312"/>
            <a:ext cx="1078992" cy="475488"/>
          </a:xfrm>
          <a:prstGeom prst="roundRect">
            <a:avLst>
              <a:gd name="adj" fmla="val 19231"/>
            </a:avLst>
          </a:prstGeom>
          <a:solidFill>
            <a:srgbClr val="FFF8E1"/>
          </a:solidFill>
          <a:ln/>
          <a:effectLst>
            <a:outerShdw blurRad="76200" dist="25400" dir="2700000" algn="bl" rotWithShape="0">
              <a:srgbClr val="000000">
                <a:alpha val="10000"/>
              </a:srgbClr>
            </a:outerShdw>
          </a:effectLst>
        </p:spPr>
      </p:sp>
      <p:sp>
        <p:nvSpPr>
          <p:cNvPr id="54" name="Text 52"/>
          <p:cNvSpPr/>
          <p:nvPr/>
        </p:nvSpPr>
        <p:spPr>
          <a:xfrm>
            <a:off x="5193792" y="3639312"/>
            <a:ext cx="1078992" cy="475488"/>
          </a:xfrm>
          <a:prstGeom prst="rect">
            <a:avLst/>
          </a:prstGeom>
          <a:noFill/>
          <a:ln/>
        </p:spPr>
        <p:txBody>
          <a:bodyPr wrap="square" lIns="25400" tIns="25400" rIns="25400" bIns="25400" rtlCol="0" anchor="ctr"/>
          <a:lstStyle/>
          <a:p>
            <a:pPr marL="0" indent="0" algn="ctr">
              <a:buNone/>
            </a:pPr>
            <a:r>
              <a:rPr lang="en-US" sz="800" dirty="0">
                <a:solidFill>
                  <a:srgbClr val="8B5A00"/>
                </a:solidFill>
              </a:rPr>
              <a:t>Add Feast</a:t>
            </a:r>
            <a:endParaRPr lang="en-US" sz="800" dirty="0"/>
          </a:p>
        </p:txBody>
      </p:sp>
      <p:sp>
        <p:nvSpPr>
          <p:cNvPr id="55" name="Shape 53"/>
          <p:cNvSpPr/>
          <p:nvPr/>
        </p:nvSpPr>
        <p:spPr>
          <a:xfrm>
            <a:off x="6400800" y="3639312"/>
            <a:ext cx="1078992" cy="475488"/>
          </a:xfrm>
          <a:prstGeom prst="roundRect">
            <a:avLst>
              <a:gd name="adj" fmla="val 19231"/>
            </a:avLst>
          </a:prstGeom>
          <a:solidFill>
            <a:srgbClr val="FFF8E1"/>
          </a:solidFill>
          <a:ln/>
          <a:effectLst>
            <a:outerShdw blurRad="76200" dist="25400" dir="2700000" algn="bl" rotWithShape="0">
              <a:srgbClr val="000000">
                <a:alpha val="10000"/>
              </a:srgbClr>
            </a:outerShdw>
          </a:effectLst>
        </p:spPr>
      </p:sp>
      <p:sp>
        <p:nvSpPr>
          <p:cNvPr id="56" name="Text 54"/>
          <p:cNvSpPr/>
          <p:nvPr/>
        </p:nvSpPr>
        <p:spPr>
          <a:xfrm>
            <a:off x="6400800" y="3639312"/>
            <a:ext cx="1078992" cy="475488"/>
          </a:xfrm>
          <a:prstGeom prst="rect">
            <a:avLst/>
          </a:prstGeom>
          <a:noFill/>
          <a:ln/>
        </p:spPr>
        <p:txBody>
          <a:bodyPr wrap="square" lIns="25400" tIns="25400" rIns="25400" bIns="25400" rtlCol="0" anchor="ctr"/>
          <a:lstStyle/>
          <a:p>
            <a:pPr marL="0" indent="0" algn="ctr">
              <a:buNone/>
            </a:pPr>
            <a:r>
              <a:rPr lang="en-US" sz="800" dirty="0">
                <a:solidFill>
                  <a:srgbClr val="8B5A00"/>
                </a:solidFill>
              </a:rPr>
              <a:t>Daily Reset</a:t>
            </a:r>
            <a:endParaRPr lang="en-US" sz="800" dirty="0"/>
          </a:p>
        </p:txBody>
      </p:sp>
      <p:sp>
        <p:nvSpPr>
          <p:cNvPr id="57" name="Shape 55"/>
          <p:cNvSpPr/>
          <p:nvPr/>
        </p:nvSpPr>
        <p:spPr>
          <a:xfrm>
            <a:off x="7607808" y="3639312"/>
            <a:ext cx="1078992" cy="475488"/>
          </a:xfrm>
          <a:prstGeom prst="roundRect">
            <a:avLst>
              <a:gd name="adj" fmla="val 19231"/>
            </a:avLst>
          </a:prstGeom>
          <a:solidFill>
            <a:srgbClr val="FFF8E1"/>
          </a:solidFill>
          <a:ln/>
          <a:effectLst>
            <a:outerShdw blurRad="76200" dist="25400" dir="2700000" algn="bl" rotWithShape="0">
              <a:srgbClr val="000000">
                <a:alpha val="10000"/>
              </a:srgbClr>
            </a:outerShdw>
          </a:effectLst>
        </p:spPr>
      </p:sp>
      <p:sp>
        <p:nvSpPr>
          <p:cNvPr id="58" name="Text 56"/>
          <p:cNvSpPr/>
          <p:nvPr/>
        </p:nvSpPr>
        <p:spPr>
          <a:xfrm>
            <a:off x="7607808" y="3639312"/>
            <a:ext cx="1078992" cy="475488"/>
          </a:xfrm>
          <a:prstGeom prst="rect">
            <a:avLst/>
          </a:prstGeom>
          <a:noFill/>
          <a:ln/>
        </p:spPr>
        <p:txBody>
          <a:bodyPr wrap="square" lIns="25400" tIns="25400" rIns="25400" bIns="25400" rtlCol="0" anchor="ctr"/>
          <a:lstStyle/>
          <a:p>
            <a:pPr marL="0" indent="0" algn="ctr">
              <a:buNone/>
            </a:pPr>
            <a:r>
              <a:rPr lang="en-US" sz="800" dirty="0">
                <a:solidFill>
                  <a:srgbClr val="8B5A00"/>
                </a:solidFill>
              </a:rPr>
              <a:t>Verification</a:t>
            </a:r>
            <a:endParaRPr lang="en-US" sz="800" dirty="0"/>
          </a:p>
        </p:txBody>
      </p:sp>
      <p:sp>
        <p:nvSpPr>
          <p:cNvPr id="59" name="Shape 57"/>
          <p:cNvSpPr/>
          <p:nvPr/>
        </p:nvSpPr>
        <p:spPr>
          <a:xfrm>
            <a:off x="365760" y="4297680"/>
            <a:ext cx="8412480" cy="594360"/>
          </a:xfrm>
          <a:prstGeom prst="roundRect">
            <a:avLst>
              <a:gd name="adj" fmla="val 15385"/>
            </a:avLst>
          </a:prstGeom>
          <a:solidFill>
            <a:srgbClr val="D4E6D8"/>
          </a:solidFill>
          <a:ln/>
          <a:effectLst>
            <a:outerShdw blurRad="76200" dist="25400" dir="2700000" algn="bl" rotWithShape="0">
              <a:srgbClr val="000000">
                <a:alpha val="10000"/>
              </a:srgbClr>
            </a:outerShdw>
          </a:effectLst>
        </p:spPr>
      </p:sp>
      <p:sp>
        <p:nvSpPr>
          <p:cNvPr id="60" name="Text 58"/>
          <p:cNvSpPr/>
          <p:nvPr/>
        </p:nvSpPr>
        <p:spPr>
          <a:xfrm>
            <a:off x="365760" y="4297680"/>
            <a:ext cx="8412480" cy="594360"/>
          </a:xfrm>
          <a:prstGeom prst="rect">
            <a:avLst/>
          </a:prstGeom>
          <a:noFill/>
          <a:ln/>
        </p:spPr>
        <p:txBody>
          <a:bodyPr wrap="square" lIns="0" tIns="0" rIns="0" bIns="0" rtlCol="0" anchor="ctr"/>
          <a:lstStyle/>
          <a:p>
            <a:pPr marL="0" indent="0" algn="ctr">
              <a:buNone/>
            </a:pPr>
            <a:r>
              <a:rPr lang="en-US" sz="1300" b="1" dirty="0">
                <a:solidFill>
                  <a:srgbClr val="2D5A3D"/>
                </a:solidFill>
              </a:rPr>
              <a:t>Total: 23 Screens  •  2 User Roles  •  7 Dashboard Features per Role  •  17 Halls Supported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06.01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Splash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App loading screen. Shows the RU logo, app name, tagline, and animated loading dots. Navigates automatically after 2 seconds.</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234440"/>
          </a:xfrm>
          <a:prstGeom prst="rect">
            <a:avLst/>
          </a:prstGeom>
          <a:noFill/>
          <a:ln/>
        </p:spPr>
        <p:txBody>
          <a:bodyPr wrap="square" lIns="0" tIns="0" rIns="0" bIns="0" rtlCol="0" anchor="ctr"/>
          <a:lstStyle/>
          <a:p>
            <a:pPr marL="0" indent="0">
              <a:buNone/>
            </a:pPr>
            <a:r>
              <a:rPr lang="en-US" sz="950" dirty="0">
                <a:solidFill>
                  <a:srgbClr val="1A1A1A"/>
                </a:solidFill>
              </a:rPr>
              <a:t>• RU logo box (green, rounded)</a:t>
            </a:r>
            <a:endParaRPr lang="en-US" sz="950" dirty="0"/>
          </a:p>
          <a:p>
            <a:pPr marL="0" indent="0">
              <a:buNone/>
            </a:pPr>
            <a:r>
              <a:rPr lang="en-US" sz="950" dirty="0">
                <a:solidFill>
                  <a:srgbClr val="1A1A1A"/>
                </a:solidFill>
              </a:rPr>
              <a:t>• App name: 'HallMenu RU'</a:t>
            </a:r>
            <a:endParaRPr lang="en-US" sz="950" dirty="0"/>
          </a:p>
          <a:p>
            <a:pPr marL="0" indent="0">
              <a:buNone/>
            </a:pPr>
            <a:r>
              <a:rPr lang="en-US" sz="950" dirty="0">
                <a:solidFill>
                  <a:srgbClr val="1A1A1A"/>
                </a:solidFill>
              </a:rPr>
              <a:t>• Tagline: Daily menu • Availability • Feast</a:t>
            </a:r>
            <a:endParaRPr lang="en-US" sz="950" dirty="0"/>
          </a:p>
          <a:p>
            <a:pPr marL="0" indent="0">
              <a:buNone/>
            </a:pPr>
            <a:r>
              <a:rPr lang="en-US" sz="950" dirty="0">
                <a:solidFill>
                  <a:srgbClr val="1A1A1A"/>
                </a:solidFill>
              </a:rPr>
              <a:t>• Animated loading dots (3)</a:t>
            </a:r>
            <a:endParaRPr lang="en-US" sz="950" dirty="0"/>
          </a:p>
          <a:p>
            <a:pPr marL="0" indent="0">
              <a:buNone/>
            </a:pPr>
            <a:r>
              <a:rPr lang="en-US" sz="950" dirty="0">
                <a:solidFill>
                  <a:srgbClr val="1A1A1A"/>
                </a:solidFill>
              </a:rPr>
              <a:t>• Footer: Rajshahi University</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740664"/>
          </a:xfrm>
          <a:prstGeom prst="rect">
            <a:avLst/>
          </a:prstGeom>
          <a:noFill/>
          <a:ln/>
        </p:spPr>
        <p:txBody>
          <a:bodyPr wrap="square" lIns="0" tIns="0" rIns="0" bIns="0" rtlCol="0" anchor="ctr"/>
          <a:lstStyle/>
          <a:p>
            <a:pPr marL="0" indent="0">
              <a:buNone/>
            </a:pPr>
            <a:r>
              <a:rPr lang="en-US" sz="950" dirty="0">
                <a:solidFill>
                  <a:srgbClr val="1A1A1A"/>
                </a:solidFill>
              </a:rPr>
              <a:t>• No user action needed</a:t>
            </a:r>
            <a:endParaRPr lang="en-US" sz="950" dirty="0"/>
          </a:p>
          <a:p>
            <a:pPr marL="0" indent="0">
              <a:buNone/>
            </a:pPr>
            <a:r>
              <a:rPr lang="en-US" sz="950" dirty="0">
                <a:solidFill>
                  <a:srgbClr val="1A1A1A"/>
                </a:solidFill>
              </a:rPr>
              <a:t>• App auto-navigates after 2s</a:t>
            </a:r>
            <a:endParaRPr lang="en-US" sz="950" dirty="0"/>
          </a:p>
          <a:p>
            <a:pPr marL="0" indent="0">
              <a:buNone/>
            </a:pPr>
            <a:r>
              <a:rPr lang="en-US" sz="950" dirty="0">
                <a:solidFill>
                  <a:srgbClr val="1A1A1A"/>
                </a:solidFill>
              </a:rPr>
              <a:t>• Dot animation plays during wait</a:t>
            </a:r>
            <a:endParaRPr lang="en-US" sz="950" dirty="0"/>
          </a:p>
        </p:txBody>
      </p:sp>
      <p:sp>
        <p:nvSpPr>
          <p:cNvPr id="12" name="Text 10"/>
          <p:cNvSpPr/>
          <p:nvPr/>
        </p:nvSpPr>
        <p:spPr>
          <a:xfrm>
            <a:off x="365760" y="2907792"/>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145536"/>
            <a:ext cx="5029200" cy="850392"/>
          </a:xfrm>
          <a:prstGeom prst="roundRect">
            <a:avLst>
              <a:gd name="adj" fmla="val 6452"/>
            </a:avLst>
          </a:prstGeom>
          <a:solidFill>
            <a:srgbClr val="F0F8F0"/>
          </a:solidFill>
          <a:ln/>
        </p:spPr>
      </p:sp>
      <p:sp>
        <p:nvSpPr>
          <p:cNvPr id="14" name="Text 12"/>
          <p:cNvSpPr/>
          <p:nvPr/>
        </p:nvSpPr>
        <p:spPr>
          <a:xfrm>
            <a:off x="475488" y="3182112"/>
            <a:ext cx="4846320" cy="740664"/>
          </a:xfrm>
          <a:prstGeom prst="rect">
            <a:avLst/>
          </a:prstGeom>
          <a:noFill/>
          <a:ln/>
        </p:spPr>
        <p:txBody>
          <a:bodyPr wrap="square" lIns="0" tIns="0" rIns="0" bIns="0" rtlCol="0" anchor="ctr"/>
          <a:lstStyle/>
          <a:p>
            <a:pPr marL="0" indent="0">
              <a:buNone/>
            </a:pPr>
            <a:r>
              <a:rPr lang="en-US" sz="950" dirty="0">
                <a:solidFill>
                  <a:srgbClr val="1B4332"/>
                </a:solidFill>
              </a:rPr>
              <a:t>• No Firebase call</a:t>
            </a:r>
            <a:endParaRPr lang="en-US" sz="950" dirty="0"/>
          </a:p>
          <a:p>
            <a:pPr marL="0" indent="0">
              <a:buNone/>
            </a:pPr>
            <a:r>
              <a:rPr lang="en-US" sz="950" dirty="0">
                <a:solidFill>
                  <a:srgbClr val="1B4332"/>
                </a:solidFill>
              </a:rPr>
              <a:t>• setTimeout(2000) triggers router.replace('/Onboarding')</a:t>
            </a:r>
            <a:endParaRPr lang="en-US" sz="950" dirty="0"/>
          </a:p>
          <a:p>
            <a:pPr marL="0" indent="0">
              <a:buNone/>
            </a:pPr>
            <a:r>
              <a:rPr lang="en-US" sz="950" dirty="0">
                <a:solidFill>
                  <a:srgbClr val="1B4332"/>
                </a:solidFill>
              </a:rPr>
              <a:t>• clearTimeout() cleanup on unmount prevents memory leak</a:t>
            </a:r>
            <a:endParaRPr lang="en-US" sz="950" dirty="0"/>
          </a:p>
        </p:txBody>
      </p:sp>
      <p:sp>
        <p:nvSpPr>
          <p:cNvPr id="15" name="Shape 13"/>
          <p:cNvSpPr/>
          <p:nvPr/>
        </p:nvSpPr>
        <p:spPr>
          <a:xfrm>
            <a:off x="365760" y="4197096"/>
            <a:ext cx="5029200" cy="347472"/>
          </a:xfrm>
          <a:prstGeom prst="roundRect">
            <a:avLst>
              <a:gd name="adj" fmla="val 15789"/>
            </a:avLst>
          </a:prstGeom>
          <a:solidFill>
            <a:srgbClr val="D4E6D8"/>
          </a:solidFill>
          <a:ln/>
        </p:spPr>
      </p:sp>
      <p:sp>
        <p:nvSpPr>
          <p:cNvPr id="16" name="Text 14"/>
          <p:cNvSpPr/>
          <p:nvPr/>
        </p:nvSpPr>
        <p:spPr>
          <a:xfrm>
            <a:off x="457200" y="4197096"/>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Splash Screen → Onboarding Screen (auto, 2 seconds)</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HallMenu RU</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RU logo — forest green box</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HallMenu RU</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Daily menu • Availability • Feast</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  ●  ●  (animated dots)</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Rajshahi University • Hall Dining</a:t>
            </a:r>
            <a:endParaRPr lang="en-US" sz="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06.02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Onboarding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3-slide introduction walkthrough shown on first app launch. Uses FlatList with pagingEnabled for horizontal slide navigation.</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728216"/>
          </a:xfrm>
          <a:prstGeom prst="rect">
            <a:avLst/>
          </a:prstGeom>
          <a:noFill/>
          <a:ln/>
        </p:spPr>
        <p:txBody>
          <a:bodyPr wrap="square" lIns="0" tIns="0" rIns="0" bIns="0" rtlCol="0" anchor="ctr"/>
          <a:lstStyle/>
          <a:p>
            <a:pPr marL="0" indent="0">
              <a:buNone/>
            </a:pPr>
            <a:r>
              <a:rPr lang="en-US" sz="950" dirty="0">
                <a:solidFill>
                  <a:srgbClr val="1A1A1A"/>
                </a:solidFill>
              </a:rPr>
              <a:t>• Skip button (top-right)</a:t>
            </a:r>
            <a:endParaRPr lang="en-US" sz="950" dirty="0"/>
          </a:p>
          <a:p>
            <a:pPr marL="0" indent="0">
              <a:buNone/>
            </a:pPr>
            <a:r>
              <a:rPr lang="en-US" sz="950" dirty="0">
                <a:solidFill>
                  <a:srgbClr val="1A1A1A"/>
                </a:solidFill>
              </a:rPr>
              <a:t>• FlatList — 3 slides (horizontal)</a:t>
            </a:r>
            <a:endParaRPr lang="en-US" sz="950" dirty="0"/>
          </a:p>
          <a:p>
            <a:pPr marL="0" indent="0">
              <a:buNone/>
            </a:pPr>
            <a:r>
              <a:rPr lang="en-US" sz="950" dirty="0">
                <a:solidFill>
                  <a:srgbClr val="1A1A1A"/>
                </a:solidFill>
              </a:rPr>
              <a:t>• Slide 1: RU logo + welcome text</a:t>
            </a:r>
            <a:endParaRPr lang="en-US" sz="950" dirty="0"/>
          </a:p>
          <a:p>
            <a:pPr marL="0" indent="0">
              <a:buNone/>
            </a:pPr>
            <a:r>
              <a:rPr lang="en-US" sz="950" dirty="0">
                <a:solidFill>
                  <a:srgbClr val="1A1A1A"/>
                </a:solidFill>
              </a:rPr>
              <a:t>• Slide 2: 🍽️ icon + 'See Daily Meals'</a:t>
            </a:r>
            <a:endParaRPr lang="en-US" sz="950" dirty="0"/>
          </a:p>
          <a:p>
            <a:pPr marL="0" indent="0">
              <a:buNone/>
            </a:pPr>
            <a:r>
              <a:rPr lang="en-US" sz="950" dirty="0">
                <a:solidFill>
                  <a:srgbClr val="1A1A1A"/>
                </a:solidFill>
              </a:rPr>
              <a:t>• Slide 3: 🔔 icon + 'Stay Updated'</a:t>
            </a:r>
            <a:endParaRPr lang="en-US" sz="950" dirty="0"/>
          </a:p>
          <a:p>
            <a:pPr marL="0" indent="0">
              <a:buNone/>
            </a:pPr>
            <a:r>
              <a:rPr lang="en-US" sz="950" dirty="0">
                <a:solidFill>
                  <a:srgbClr val="1A1A1A"/>
                </a:solidFill>
              </a:rPr>
              <a:t>• Progress dots (3)</a:t>
            </a:r>
            <a:endParaRPr lang="en-US" sz="950" dirty="0"/>
          </a:p>
          <a:p>
            <a:pPr marL="0" indent="0">
              <a:buNone/>
            </a:pPr>
            <a:r>
              <a:rPr lang="en-US" sz="950" dirty="0">
                <a:solidFill>
                  <a:srgbClr val="1A1A1A"/>
                </a:solidFill>
              </a:rPr>
              <a:t>• Back / Next / Get Started buttons</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987552"/>
          </a:xfrm>
          <a:prstGeom prst="rect">
            <a:avLst/>
          </a:prstGeom>
          <a:noFill/>
          <a:ln/>
        </p:spPr>
        <p:txBody>
          <a:bodyPr wrap="square" lIns="0" tIns="0" rIns="0" bIns="0" rtlCol="0" anchor="ctr"/>
          <a:lstStyle/>
          <a:p>
            <a:pPr marL="0" indent="0">
              <a:buNone/>
            </a:pPr>
            <a:r>
              <a:rPr lang="en-US" sz="950" dirty="0">
                <a:solidFill>
                  <a:srgbClr val="1A1A1A"/>
                </a:solidFill>
              </a:rPr>
              <a:t>• Tap Skip → Home Screen</a:t>
            </a:r>
            <a:endParaRPr lang="en-US" sz="950" dirty="0"/>
          </a:p>
          <a:p>
            <a:pPr marL="0" indent="0">
              <a:buNone/>
            </a:pPr>
            <a:r>
              <a:rPr lang="en-US" sz="950" dirty="0">
                <a:solidFill>
                  <a:srgbClr val="1A1A1A"/>
                </a:solidFill>
              </a:rPr>
              <a:t>• Tap Next → advance slides</a:t>
            </a:r>
            <a:endParaRPr lang="en-US" sz="950" dirty="0"/>
          </a:p>
          <a:p>
            <a:pPr marL="0" indent="0">
              <a:buNone/>
            </a:pPr>
            <a:r>
              <a:rPr lang="en-US" sz="950" dirty="0">
                <a:solidFill>
                  <a:srgbClr val="1A1A1A"/>
                </a:solidFill>
              </a:rPr>
              <a:t>• Tap Back → go to previous slide</a:t>
            </a:r>
            <a:endParaRPr lang="en-US" sz="950" dirty="0"/>
          </a:p>
          <a:p>
            <a:pPr marL="0" indent="0">
              <a:buNone/>
            </a:pPr>
            <a:r>
              <a:rPr lang="en-US" sz="950" dirty="0">
                <a:solidFill>
                  <a:srgbClr val="1A1A1A"/>
                </a:solidFill>
              </a:rPr>
              <a:t>• Tap Get Started (slide 3) → Home</a:t>
            </a:r>
            <a:endParaRPr lang="en-US" sz="950" dirty="0"/>
          </a:p>
        </p:txBody>
      </p:sp>
      <p:sp>
        <p:nvSpPr>
          <p:cNvPr id="12" name="Text 10"/>
          <p:cNvSpPr/>
          <p:nvPr/>
        </p:nvSpPr>
        <p:spPr>
          <a:xfrm>
            <a:off x="365760" y="3401568"/>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639312"/>
            <a:ext cx="5029200" cy="850392"/>
          </a:xfrm>
          <a:prstGeom prst="roundRect">
            <a:avLst>
              <a:gd name="adj" fmla="val 6452"/>
            </a:avLst>
          </a:prstGeom>
          <a:solidFill>
            <a:srgbClr val="F0F8F0"/>
          </a:solidFill>
          <a:ln/>
        </p:spPr>
      </p:sp>
      <p:sp>
        <p:nvSpPr>
          <p:cNvPr id="14" name="Text 12"/>
          <p:cNvSpPr/>
          <p:nvPr/>
        </p:nvSpPr>
        <p:spPr>
          <a:xfrm>
            <a:off x="475488" y="3675888"/>
            <a:ext cx="4846320" cy="740664"/>
          </a:xfrm>
          <a:prstGeom prst="rect">
            <a:avLst/>
          </a:prstGeom>
          <a:noFill/>
          <a:ln/>
        </p:spPr>
        <p:txBody>
          <a:bodyPr wrap="square" lIns="0" tIns="0" rIns="0" bIns="0" rtlCol="0" anchor="ctr"/>
          <a:lstStyle/>
          <a:p>
            <a:pPr marL="0" indent="0">
              <a:buNone/>
            </a:pPr>
            <a:r>
              <a:rPr lang="en-US" sz="950" dirty="0">
                <a:solidFill>
                  <a:srgbClr val="1B4332"/>
                </a:solidFill>
              </a:rPr>
              <a:t>• No Firebase call</a:t>
            </a:r>
            <a:endParaRPr lang="en-US" sz="950" dirty="0"/>
          </a:p>
          <a:p>
            <a:pPr marL="0" indent="0">
              <a:buNone/>
            </a:pPr>
            <a:r>
              <a:rPr lang="en-US" sz="950" dirty="0">
                <a:solidFill>
                  <a:srgbClr val="1B4332"/>
                </a:solidFill>
              </a:rPr>
              <a:t>• AsyncStorage.setItem('onboarding_done') — commented out for testing</a:t>
            </a:r>
            <a:endParaRPr lang="en-US" sz="950" dirty="0"/>
          </a:p>
          <a:p>
            <a:pPr marL="0" indent="0">
              <a:buNone/>
            </a:pPr>
            <a:r>
              <a:rPr lang="en-US" sz="950" dirty="0">
                <a:solidFill>
                  <a:srgbClr val="1B4332"/>
                </a:solidFill>
              </a:rPr>
              <a:t>• router.replace('/Home') on finish</a:t>
            </a:r>
            <a:endParaRPr lang="en-US" sz="950" dirty="0"/>
          </a:p>
        </p:txBody>
      </p:sp>
      <p:sp>
        <p:nvSpPr>
          <p:cNvPr id="15" name="Shape 13"/>
          <p:cNvSpPr/>
          <p:nvPr/>
        </p:nvSpPr>
        <p:spPr>
          <a:xfrm>
            <a:off x="365760" y="4690872"/>
            <a:ext cx="5029200" cy="347472"/>
          </a:xfrm>
          <a:prstGeom prst="roundRect">
            <a:avLst>
              <a:gd name="adj" fmla="val 15789"/>
            </a:avLst>
          </a:prstGeom>
          <a:solidFill>
            <a:srgbClr val="D4E6D8"/>
          </a:solidFill>
          <a:ln/>
        </p:spPr>
      </p:sp>
      <p:sp>
        <p:nvSpPr>
          <p:cNvPr id="16" name="Text 14"/>
          <p:cNvSpPr/>
          <p:nvPr/>
        </p:nvSpPr>
        <p:spPr>
          <a:xfrm>
            <a:off x="457200" y="4690872"/>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Onboarding → Home Screen</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Onboarding</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Welcome to HallMenu RU</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Your dining helper for RU halls...</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 ○ ○  (slide indicator)</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Next →</a:t>
            </a:r>
            <a:endParaRPr lang="en-US" sz="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06.03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Home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Role selection screen. Users choose between Student and Moderator roles. Acts as the central navigation hub of the app.</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481328"/>
          </a:xfrm>
          <a:prstGeom prst="rect">
            <a:avLst/>
          </a:prstGeom>
          <a:noFill/>
          <a:ln/>
        </p:spPr>
        <p:txBody>
          <a:bodyPr wrap="square" lIns="0" tIns="0" rIns="0" bIns="0" rtlCol="0" anchor="ctr"/>
          <a:lstStyle/>
          <a:p>
            <a:pPr marL="0" indent="0">
              <a:buNone/>
            </a:pPr>
            <a:r>
              <a:rPr lang="en-US" sz="950" dirty="0">
                <a:solidFill>
                  <a:srgbClr val="1A1A1A"/>
                </a:solidFill>
              </a:rPr>
              <a:t>• Green top card with RU logo</a:t>
            </a:r>
            <a:endParaRPr lang="en-US" sz="950" dirty="0"/>
          </a:p>
          <a:p>
            <a:pPr marL="0" indent="0">
              <a:buNone/>
            </a:pPr>
            <a:r>
              <a:rPr lang="en-US" sz="950" dirty="0">
                <a:solidFill>
                  <a:srgbClr val="1A1A1A"/>
                </a:solidFill>
              </a:rPr>
              <a:t>• App name 'HallMenu RU' + tagline</a:t>
            </a:r>
            <a:endParaRPr lang="en-US" sz="950" dirty="0"/>
          </a:p>
          <a:p>
            <a:pPr marL="0" indent="0">
              <a:buNone/>
            </a:pPr>
            <a:r>
              <a:rPr lang="en-US" sz="950" dirty="0">
                <a:solidFill>
                  <a:srgbClr val="1A1A1A"/>
                </a:solidFill>
              </a:rPr>
              <a:t>• 'Choose Role' section title</a:t>
            </a:r>
            <a:endParaRPr lang="en-US" sz="950" dirty="0"/>
          </a:p>
          <a:p>
            <a:pPr marL="0" indent="0">
              <a:buNone/>
            </a:pPr>
            <a:r>
              <a:rPr lang="en-US" sz="950" dirty="0">
                <a:solidFill>
                  <a:srgbClr val="1A1A1A"/>
                </a:solidFill>
              </a:rPr>
              <a:t>• Student role card (🎓 icon)</a:t>
            </a:r>
            <a:endParaRPr lang="en-US" sz="950" dirty="0"/>
          </a:p>
          <a:p>
            <a:pPr marL="0" indent="0">
              <a:buNone/>
            </a:pPr>
            <a:r>
              <a:rPr lang="en-US" sz="950" dirty="0">
                <a:solidFill>
                  <a:srgbClr val="1A1A1A"/>
                </a:solidFill>
              </a:rPr>
              <a:t>• Moderator role card (🛡️ icon)</a:t>
            </a:r>
            <a:endParaRPr lang="en-US" sz="950" dirty="0"/>
          </a:p>
          <a:p>
            <a:pPr marL="0" indent="0">
              <a:buNone/>
            </a:pPr>
            <a:r>
              <a:rPr lang="en-US" sz="950" dirty="0">
                <a:solidFill>
                  <a:srgbClr val="1A1A1A"/>
                </a:solidFill>
              </a:rPr>
              <a:t>• Footer text</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740664"/>
          </a:xfrm>
          <a:prstGeom prst="rect">
            <a:avLst/>
          </a:prstGeom>
          <a:noFill/>
          <a:ln/>
        </p:spPr>
        <p:txBody>
          <a:bodyPr wrap="square" lIns="0" tIns="0" rIns="0" bIns="0" rtlCol="0" anchor="ctr"/>
          <a:lstStyle/>
          <a:p>
            <a:pPr marL="0" indent="0">
              <a:buNone/>
            </a:pPr>
            <a:r>
              <a:rPr lang="en-US" sz="950" dirty="0">
                <a:solidFill>
                  <a:srgbClr val="1A1A1A"/>
                </a:solidFill>
              </a:rPr>
              <a:t>• Tap Student → Hall List</a:t>
            </a:r>
            <a:endParaRPr lang="en-US" sz="950" dirty="0"/>
          </a:p>
          <a:p>
            <a:pPr marL="0" indent="0">
              <a:buNone/>
            </a:pPr>
            <a:r>
              <a:rPr lang="en-US" sz="950" dirty="0">
                <a:solidFill>
                  <a:srgbClr val="1A1A1A"/>
                </a:solidFill>
              </a:rPr>
              <a:t>• Tap Moderator → Moderator Role</a:t>
            </a:r>
            <a:endParaRPr lang="en-US" sz="950" dirty="0"/>
          </a:p>
          <a:p>
            <a:pPr marL="0" indent="0">
              <a:buNone/>
            </a:pPr>
            <a:r>
              <a:rPr lang="en-US" sz="950" dirty="0">
                <a:solidFill>
                  <a:srgbClr val="1A1A1A"/>
                </a:solidFill>
              </a:rPr>
              <a:t>• Each card shows role description</a:t>
            </a:r>
            <a:endParaRPr lang="en-US" sz="950" dirty="0"/>
          </a:p>
        </p:txBody>
      </p:sp>
      <p:sp>
        <p:nvSpPr>
          <p:cNvPr id="12" name="Text 10"/>
          <p:cNvSpPr/>
          <p:nvPr/>
        </p:nvSpPr>
        <p:spPr>
          <a:xfrm>
            <a:off x="365760" y="315468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392424"/>
            <a:ext cx="5029200" cy="1097280"/>
          </a:xfrm>
          <a:prstGeom prst="roundRect">
            <a:avLst>
              <a:gd name="adj" fmla="val 5000"/>
            </a:avLst>
          </a:prstGeom>
          <a:solidFill>
            <a:srgbClr val="F0F8F0"/>
          </a:solidFill>
          <a:ln/>
        </p:spPr>
      </p:sp>
      <p:sp>
        <p:nvSpPr>
          <p:cNvPr id="14" name="Text 12"/>
          <p:cNvSpPr/>
          <p:nvPr/>
        </p:nvSpPr>
        <p:spPr>
          <a:xfrm>
            <a:off x="475488" y="3429000"/>
            <a:ext cx="4846320" cy="987552"/>
          </a:xfrm>
          <a:prstGeom prst="rect">
            <a:avLst/>
          </a:prstGeom>
          <a:noFill/>
          <a:ln/>
        </p:spPr>
        <p:txBody>
          <a:bodyPr wrap="square" lIns="0" tIns="0" rIns="0" bIns="0" rtlCol="0" anchor="ctr"/>
          <a:lstStyle/>
          <a:p>
            <a:pPr marL="0" indent="0">
              <a:buNone/>
            </a:pPr>
            <a:r>
              <a:rPr lang="en-US" sz="950" dirty="0">
                <a:solidFill>
                  <a:srgbClr val="1B4332"/>
                </a:solidFill>
              </a:rPr>
              <a:t>• No Firebase call</a:t>
            </a:r>
            <a:endParaRPr lang="en-US" sz="950" dirty="0"/>
          </a:p>
          <a:p>
            <a:pPr marL="0" indent="0">
              <a:buNone/>
            </a:pPr>
            <a:r>
              <a:rPr lang="en-US" sz="950" dirty="0">
                <a:solidFill>
                  <a:srgbClr val="1B4332"/>
                </a:solidFill>
              </a:rPr>
              <a:t>• router.push('/HallList') for student</a:t>
            </a:r>
            <a:endParaRPr lang="en-US" sz="950" dirty="0"/>
          </a:p>
          <a:p>
            <a:pPr marL="0" indent="0">
              <a:buNone/>
            </a:pPr>
            <a:r>
              <a:rPr lang="en-US" sz="950" dirty="0">
                <a:solidFill>
                  <a:srgbClr val="1B4332"/>
                </a:solidFill>
              </a:rPr>
              <a:t>• router.push('/ModeratorRole') for moderator</a:t>
            </a:r>
            <a:endParaRPr lang="en-US" sz="950" dirty="0"/>
          </a:p>
          <a:p>
            <a:pPr marL="0" indent="0">
              <a:buNone/>
            </a:pPr>
            <a:r>
              <a:rPr lang="en-US" sz="950" dirty="0">
                <a:solidFill>
                  <a:srgbClr val="1B4332"/>
                </a:solidFill>
              </a:rPr>
              <a:t>• No authentication required here</a:t>
            </a:r>
            <a:endParaRPr lang="en-US" sz="950" dirty="0"/>
          </a:p>
        </p:txBody>
      </p:sp>
      <p:sp>
        <p:nvSpPr>
          <p:cNvPr id="15" name="Shape 13"/>
          <p:cNvSpPr/>
          <p:nvPr/>
        </p:nvSpPr>
        <p:spPr>
          <a:xfrm>
            <a:off x="365760" y="4690872"/>
            <a:ext cx="5029200" cy="347472"/>
          </a:xfrm>
          <a:prstGeom prst="roundRect">
            <a:avLst>
              <a:gd name="adj" fmla="val 15789"/>
            </a:avLst>
          </a:prstGeom>
          <a:solidFill>
            <a:srgbClr val="D4E6D8"/>
          </a:solidFill>
          <a:ln/>
        </p:spPr>
      </p:sp>
      <p:sp>
        <p:nvSpPr>
          <p:cNvPr id="16" name="Text 14"/>
          <p:cNvSpPr/>
          <p:nvPr/>
        </p:nvSpPr>
        <p:spPr>
          <a:xfrm>
            <a:off x="457200" y="4690872"/>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Home → Hall List (Student)  or  Moderator Role (Moderator)</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HallMenu RU</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 Student</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View today's menu &amp; food availability</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 Moderator</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Update daily menu, food status &amp; feast</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University of Rajshahi Hall Dining App</a:t>
            </a:r>
            <a:endParaRPr lang="en-US" sz="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06.04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Hall List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Lists all 17 residential halls. Students can search by name, filter by Male/Female, see which halls have updated menus today, and access Feast/Notice quick links.</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481328"/>
          </a:xfrm>
          <a:prstGeom prst="rect">
            <a:avLst/>
          </a:prstGeom>
          <a:noFill/>
          <a:ln/>
        </p:spPr>
        <p:txBody>
          <a:bodyPr wrap="square" lIns="0" tIns="0" rIns="0" bIns="0" rtlCol="0" anchor="ctr"/>
          <a:lstStyle/>
          <a:p>
            <a:pPr marL="0" indent="0">
              <a:buNone/>
            </a:pPr>
            <a:r>
              <a:rPr lang="en-US" sz="950" dirty="0">
                <a:solidFill>
                  <a:srgbClr val="1A1A1A"/>
                </a:solidFill>
              </a:rPr>
              <a:t>• Sub-header: title + description</a:t>
            </a:r>
            <a:endParaRPr lang="en-US" sz="950" dirty="0"/>
          </a:p>
          <a:p>
            <a:pPr marL="0" indent="0">
              <a:buNone/>
            </a:pPr>
            <a:r>
              <a:rPr lang="en-US" sz="950" dirty="0">
                <a:solidFill>
                  <a:srgbClr val="1A1A1A"/>
                </a:solidFill>
              </a:rPr>
              <a:t>• TextInput search bar</a:t>
            </a:r>
            <a:endParaRPr lang="en-US" sz="950" dirty="0"/>
          </a:p>
          <a:p>
            <a:pPr marL="0" indent="0">
              <a:buNone/>
            </a:pPr>
            <a:r>
              <a:rPr lang="en-US" sz="950" dirty="0">
                <a:solidFill>
                  <a:srgbClr val="1A1A1A"/>
                </a:solidFill>
              </a:rPr>
              <a:t>• Filter chips: All / Male / Female</a:t>
            </a:r>
            <a:endParaRPr lang="en-US" sz="950" dirty="0"/>
          </a:p>
          <a:p>
            <a:pPr marL="0" indent="0">
              <a:buNone/>
            </a:pPr>
            <a:r>
              <a:rPr lang="en-US" sz="950" dirty="0">
                <a:solidFill>
                  <a:srgbClr val="1A1A1A"/>
                </a:solidFill>
              </a:rPr>
              <a:t>• Feast &amp; Notice quick-link cards</a:t>
            </a:r>
            <a:endParaRPr lang="en-US" sz="950" dirty="0"/>
          </a:p>
          <a:p>
            <a:pPr marL="0" indent="0">
              <a:buNone/>
            </a:pPr>
            <a:r>
              <a:rPr lang="en-US" sz="950" dirty="0">
                <a:solidFill>
                  <a:srgbClr val="1A1A1A"/>
                </a:solidFill>
              </a:rPr>
              <a:t>• FlatList of hall cards</a:t>
            </a:r>
            <a:endParaRPr lang="en-US" sz="950" dirty="0"/>
          </a:p>
          <a:p>
            <a:pPr marL="0" indent="0">
              <a:buNone/>
            </a:pPr>
            <a:r>
              <a:rPr lang="en-US" sz="950" dirty="0">
                <a:solidFill>
                  <a:srgbClr val="1A1A1A"/>
                </a:solidFill>
              </a:rPr>
              <a:t>• Each card: name, type badge, update status</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1234440"/>
          </a:xfrm>
          <a:prstGeom prst="rect">
            <a:avLst/>
          </a:prstGeom>
          <a:noFill/>
          <a:ln/>
        </p:spPr>
        <p:txBody>
          <a:bodyPr wrap="square" lIns="0" tIns="0" rIns="0" bIns="0" rtlCol="0" anchor="ctr"/>
          <a:lstStyle/>
          <a:p>
            <a:pPr marL="0" indent="0">
              <a:buNone/>
            </a:pPr>
            <a:r>
              <a:rPr lang="en-US" sz="950" dirty="0">
                <a:solidFill>
                  <a:srgbClr val="1A1A1A"/>
                </a:solidFill>
              </a:rPr>
              <a:t>• Type in search → filters halls live</a:t>
            </a:r>
            <a:endParaRPr lang="en-US" sz="950" dirty="0"/>
          </a:p>
          <a:p>
            <a:pPr marL="0" indent="0">
              <a:buNone/>
            </a:pPr>
            <a:r>
              <a:rPr lang="en-US" sz="950" dirty="0">
                <a:solidFill>
                  <a:srgbClr val="1A1A1A"/>
                </a:solidFill>
              </a:rPr>
              <a:t>• Tap filter chip → filter by type</a:t>
            </a:r>
            <a:endParaRPr lang="en-US" sz="950" dirty="0"/>
          </a:p>
          <a:p>
            <a:pPr marL="0" indent="0">
              <a:buNone/>
            </a:pPr>
            <a:r>
              <a:rPr lang="en-US" sz="950" dirty="0">
                <a:solidFill>
                  <a:srgbClr val="1A1A1A"/>
                </a:solidFill>
              </a:rPr>
              <a:t>• Tap Feast card → Feast Screen</a:t>
            </a:r>
            <a:endParaRPr lang="en-US" sz="950" dirty="0"/>
          </a:p>
          <a:p>
            <a:pPr marL="0" indent="0">
              <a:buNone/>
            </a:pPr>
            <a:r>
              <a:rPr lang="en-US" sz="950" dirty="0">
                <a:solidFill>
                  <a:srgbClr val="1A1A1A"/>
                </a:solidFill>
              </a:rPr>
              <a:t>• Tap Notice card → Notice Screen</a:t>
            </a:r>
            <a:endParaRPr lang="en-US" sz="950" dirty="0"/>
          </a:p>
          <a:p>
            <a:pPr marL="0" indent="0">
              <a:buNone/>
            </a:pPr>
            <a:r>
              <a:rPr lang="en-US" sz="950" dirty="0">
                <a:solidFill>
                  <a:srgbClr val="1A1A1A"/>
                </a:solidFill>
              </a:rPr>
              <a:t>• Tap hall card → Hall Detail Screen</a:t>
            </a:r>
            <a:endParaRPr lang="en-US" sz="950" dirty="0"/>
          </a:p>
        </p:txBody>
      </p:sp>
      <p:sp>
        <p:nvSpPr>
          <p:cNvPr id="12" name="Text 10"/>
          <p:cNvSpPr/>
          <p:nvPr/>
        </p:nvSpPr>
        <p:spPr>
          <a:xfrm>
            <a:off x="365760" y="315468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392424"/>
            <a:ext cx="5029200" cy="1097280"/>
          </a:xfrm>
          <a:prstGeom prst="roundRect">
            <a:avLst>
              <a:gd name="adj" fmla="val 5000"/>
            </a:avLst>
          </a:prstGeom>
          <a:solidFill>
            <a:srgbClr val="F0F8F0"/>
          </a:solidFill>
          <a:ln/>
        </p:spPr>
      </p:sp>
      <p:sp>
        <p:nvSpPr>
          <p:cNvPr id="14" name="Text 12"/>
          <p:cNvSpPr/>
          <p:nvPr/>
        </p:nvSpPr>
        <p:spPr>
          <a:xfrm>
            <a:off x="475488" y="3429000"/>
            <a:ext cx="4846320" cy="987552"/>
          </a:xfrm>
          <a:prstGeom prst="rect">
            <a:avLst/>
          </a:prstGeom>
          <a:noFill/>
          <a:ln/>
        </p:spPr>
        <p:txBody>
          <a:bodyPr wrap="square" lIns="0" tIns="0" rIns="0" bIns="0" rtlCol="0" anchor="ctr"/>
          <a:lstStyle/>
          <a:p>
            <a:pPr marL="0" indent="0">
              <a:buNone/>
            </a:pPr>
            <a:r>
              <a:rPr lang="en-US" sz="950" dirty="0">
                <a:solidFill>
                  <a:srgbClr val="1B4332"/>
                </a:solidFill>
              </a:rPr>
              <a:t>• checkUpdatedHalls() runs on mount</a:t>
            </a:r>
            <a:endParaRPr lang="en-US" sz="950" dirty="0"/>
          </a:p>
          <a:p>
            <a:pPr marL="0" indent="0">
              <a:buNone/>
            </a:pPr>
            <a:r>
              <a:rPr lang="en-US" sz="950" dirty="0">
                <a:solidFill>
                  <a:srgbClr val="1B4332"/>
                </a:solidFill>
              </a:rPr>
              <a:t>• Promise.all — 17 parallel getMenu() calls</a:t>
            </a:r>
            <a:endParaRPr lang="en-US" sz="950" dirty="0"/>
          </a:p>
          <a:p>
            <a:pPr marL="0" indent="0">
              <a:buNone/>
            </a:pPr>
            <a:r>
              <a:rPr lang="en-US" sz="950" dirty="0">
                <a:solidFill>
                  <a:srgbClr val="1B4332"/>
                </a:solidFill>
              </a:rPr>
              <a:t>• Halls with today's menu get 'Updated today' badge</a:t>
            </a:r>
            <a:endParaRPr lang="en-US" sz="950" dirty="0"/>
          </a:p>
          <a:p>
            <a:pPr marL="0" indent="0">
              <a:buNone/>
            </a:pPr>
            <a:r>
              <a:rPr lang="en-US" sz="950" dirty="0">
                <a:solidFill>
                  <a:srgbClr val="1B4332"/>
                </a:solidFill>
              </a:rPr>
              <a:t>• getMenu(hallId, today) uses O(1) document ID lookup</a:t>
            </a:r>
            <a:endParaRPr lang="en-US" sz="950" dirty="0"/>
          </a:p>
        </p:txBody>
      </p:sp>
      <p:sp>
        <p:nvSpPr>
          <p:cNvPr id="15" name="Shape 13"/>
          <p:cNvSpPr/>
          <p:nvPr/>
        </p:nvSpPr>
        <p:spPr>
          <a:xfrm>
            <a:off x="365760" y="4690872"/>
            <a:ext cx="5029200" cy="347472"/>
          </a:xfrm>
          <a:prstGeom prst="roundRect">
            <a:avLst>
              <a:gd name="adj" fmla="val 15789"/>
            </a:avLst>
          </a:prstGeom>
          <a:solidFill>
            <a:srgbClr val="D4E6D8"/>
          </a:solidFill>
          <a:ln/>
        </p:spPr>
      </p:sp>
      <p:sp>
        <p:nvSpPr>
          <p:cNvPr id="16" name="Text 14"/>
          <p:cNvSpPr/>
          <p:nvPr/>
        </p:nvSpPr>
        <p:spPr>
          <a:xfrm>
            <a:off x="457200" y="4690872"/>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Hall List → Hall Details  /  Feast Screen  /  Notice Screen</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Explore Halls</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 Search hall name...</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All  |  Male  |  Female</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 Feast    📢 Notice</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 Shaheed Habibur Hall  ✅ Updated today</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 Rokeya Hall  ✅ Updated today</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 Sher-e-Bangla Hall  (not updated)</a:t>
            </a:r>
            <a:endParaRPr lang="en-US" sz="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06.05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Hall Details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Shows a selected hall's complete menu. Expandable accordion sections for Hall Dining and Hall Canteen. Dining tab supports Breakfast/Lunch/Dinner sub-tabs.</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728216"/>
          </a:xfrm>
          <a:prstGeom prst="rect">
            <a:avLst/>
          </a:prstGeom>
          <a:noFill/>
          <a:ln/>
        </p:spPr>
        <p:txBody>
          <a:bodyPr wrap="square" lIns="0" tIns="0" rIns="0" bIns="0" rtlCol="0" anchor="ctr"/>
          <a:lstStyle/>
          <a:p>
            <a:pPr marL="0" indent="0">
              <a:buNone/>
            </a:pPr>
            <a:r>
              <a:rPr lang="en-US" sz="950" dirty="0">
                <a:solidFill>
                  <a:srgbClr val="1A1A1A"/>
                </a:solidFill>
              </a:rPr>
              <a:t>• Hall info card (name, date, last updated)</a:t>
            </a:r>
            <a:endParaRPr lang="en-US" sz="950" dirty="0"/>
          </a:p>
          <a:p>
            <a:pPr marL="0" indent="0">
              <a:buNone/>
            </a:pPr>
            <a:r>
              <a:rPr lang="en-US" sz="950" dirty="0">
                <a:solidFill>
                  <a:srgbClr val="1A1A1A"/>
                </a:solidFill>
              </a:rPr>
              <a:t>• 'Select Menu Type' label</a:t>
            </a:r>
            <a:endParaRPr lang="en-US" sz="950" dirty="0"/>
          </a:p>
          <a:p>
            <a:pPr marL="0" indent="0">
              <a:buNone/>
            </a:pPr>
            <a:r>
              <a:rPr lang="en-US" sz="950" dirty="0">
                <a:solidFill>
                  <a:srgbClr val="1A1A1A"/>
                </a:solidFill>
              </a:rPr>
              <a:t>• Hall Dining accordion card (expandable)</a:t>
            </a:r>
            <a:endParaRPr lang="en-US" sz="950" dirty="0"/>
          </a:p>
          <a:p>
            <a:pPr marL="0" indent="0">
              <a:buNone/>
            </a:pPr>
            <a:r>
              <a:rPr lang="en-US" sz="950" dirty="0">
                <a:solidFill>
                  <a:srgbClr val="1A1A1A"/>
                </a:solidFill>
              </a:rPr>
              <a:t>• Hall Canteen accordion card (expandable)</a:t>
            </a:r>
            <a:endParaRPr lang="en-US" sz="950" dirty="0"/>
          </a:p>
          <a:p>
            <a:pPr marL="0" indent="0">
              <a:buNone/>
            </a:pPr>
            <a:r>
              <a:rPr lang="en-US" sz="950" dirty="0">
                <a:solidFill>
                  <a:srgbClr val="1A1A1A"/>
                </a:solidFill>
              </a:rPr>
              <a:t>• Meal tabs: Breakfast | Lunch | Dinner</a:t>
            </a:r>
            <a:endParaRPr lang="en-US" sz="950" dirty="0"/>
          </a:p>
          <a:p>
            <a:pPr marL="0" indent="0">
              <a:buNone/>
            </a:pPr>
            <a:r>
              <a:rPr lang="en-US" sz="950" dirty="0">
                <a:solidFill>
                  <a:srgbClr val="1A1A1A"/>
                </a:solidFill>
              </a:rPr>
              <a:t>• Item rows: name, price, remaining, status badge</a:t>
            </a:r>
            <a:endParaRPr lang="en-US" sz="950" dirty="0"/>
          </a:p>
          <a:p>
            <a:pPr marL="0" indent="0">
              <a:buNone/>
            </a:pPr>
            <a:r>
              <a:rPr lang="en-US" sz="950" dirty="0">
                <a:solidFill>
                  <a:srgbClr val="1A1A1A"/>
                </a:solidFill>
              </a:rPr>
              <a:t>• 'NOT UPDATED' state if no data</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1234440"/>
          </a:xfrm>
          <a:prstGeom prst="rect">
            <a:avLst/>
          </a:prstGeom>
          <a:noFill/>
          <a:ln/>
        </p:spPr>
        <p:txBody>
          <a:bodyPr wrap="square" lIns="0" tIns="0" rIns="0" bIns="0" rtlCol="0" anchor="ctr"/>
          <a:lstStyle/>
          <a:p>
            <a:pPr marL="0" indent="0">
              <a:buNone/>
            </a:pPr>
            <a:r>
              <a:rPr lang="en-US" sz="950" dirty="0">
                <a:solidFill>
                  <a:srgbClr val="1A1A1A"/>
                </a:solidFill>
              </a:rPr>
              <a:t>• Tap Hall Dining → expands, shows meal tabs</a:t>
            </a:r>
            <a:endParaRPr lang="en-US" sz="950" dirty="0"/>
          </a:p>
          <a:p>
            <a:pPr marL="0" indent="0">
              <a:buNone/>
            </a:pPr>
            <a:r>
              <a:rPr lang="en-US" sz="950" dirty="0">
                <a:solidFill>
                  <a:srgbClr val="1A1A1A"/>
                </a:solidFill>
              </a:rPr>
              <a:t>• Tap meal tab → switches to that meal</a:t>
            </a:r>
            <a:endParaRPr lang="en-US" sz="950" dirty="0"/>
          </a:p>
          <a:p>
            <a:pPr marL="0" indent="0">
              <a:buNone/>
            </a:pPr>
            <a:r>
              <a:rPr lang="en-US" sz="950" dirty="0">
                <a:solidFill>
                  <a:srgbClr val="1A1A1A"/>
                </a:solidFill>
              </a:rPr>
              <a:t>• Tap food item row → Food Detail Screen</a:t>
            </a:r>
            <a:endParaRPr lang="en-US" sz="950" dirty="0"/>
          </a:p>
          <a:p>
            <a:pPr marL="0" indent="0">
              <a:buNone/>
            </a:pPr>
            <a:r>
              <a:rPr lang="en-US" sz="950" dirty="0">
                <a:solidFill>
                  <a:srgbClr val="1A1A1A"/>
                </a:solidFill>
              </a:rPr>
              <a:t>• Tap Hall Canteen → expands canteen items</a:t>
            </a:r>
            <a:endParaRPr lang="en-US" sz="950" dirty="0"/>
          </a:p>
          <a:p>
            <a:pPr marL="0" indent="0">
              <a:buNone/>
            </a:pPr>
            <a:r>
              <a:rPr lang="en-US" sz="950" dirty="0">
                <a:solidFill>
                  <a:srgbClr val="1A1A1A"/>
                </a:solidFill>
              </a:rPr>
              <a:t>• Tap canteen item → Food Detail Screen</a:t>
            </a:r>
            <a:endParaRPr lang="en-US" sz="950" dirty="0"/>
          </a:p>
        </p:txBody>
      </p:sp>
      <p:sp>
        <p:nvSpPr>
          <p:cNvPr id="12" name="Text 10"/>
          <p:cNvSpPr/>
          <p:nvPr/>
        </p:nvSpPr>
        <p:spPr>
          <a:xfrm>
            <a:off x="365760" y="3401568"/>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639312"/>
            <a:ext cx="5029200" cy="1344168"/>
          </a:xfrm>
          <a:prstGeom prst="roundRect">
            <a:avLst>
              <a:gd name="adj" fmla="val 4082"/>
            </a:avLst>
          </a:prstGeom>
          <a:solidFill>
            <a:srgbClr val="F0F8F0"/>
          </a:solidFill>
          <a:ln/>
        </p:spPr>
      </p:sp>
      <p:sp>
        <p:nvSpPr>
          <p:cNvPr id="14" name="Text 12"/>
          <p:cNvSpPr/>
          <p:nvPr/>
        </p:nvSpPr>
        <p:spPr>
          <a:xfrm>
            <a:off x="475488" y="3675888"/>
            <a:ext cx="4846320" cy="1234440"/>
          </a:xfrm>
          <a:prstGeom prst="rect">
            <a:avLst/>
          </a:prstGeom>
          <a:noFill/>
          <a:ln/>
        </p:spPr>
        <p:txBody>
          <a:bodyPr wrap="square" lIns="0" tIns="0" rIns="0" bIns="0" rtlCol="0" anchor="ctr"/>
          <a:lstStyle/>
          <a:p>
            <a:pPr marL="0" indent="0">
              <a:buNone/>
            </a:pPr>
            <a:r>
              <a:rPr lang="en-US" sz="950" dirty="0">
                <a:solidFill>
                  <a:srgbClr val="1B4332"/>
                </a:solidFill>
              </a:rPr>
              <a:t>• getMenu(hallId, today) on mount</a:t>
            </a:r>
            <a:endParaRPr lang="en-US" sz="950" dirty="0"/>
          </a:p>
          <a:p>
            <a:pPr marL="0" indent="0">
              <a:buNone/>
            </a:pPr>
            <a:r>
              <a:rPr lang="en-US" sz="950" dirty="0">
                <a:solidFill>
                  <a:srgbClr val="1B4332"/>
                </a:solidFill>
              </a:rPr>
              <a:t>• Reads menus/hallId_dateKey document — O(1)</a:t>
            </a:r>
            <a:endParaRPr lang="en-US" sz="950" dirty="0"/>
          </a:p>
          <a:p>
            <a:pPr marL="0" indent="0">
              <a:buNone/>
            </a:pPr>
            <a:r>
              <a:rPr lang="en-US" sz="950" dirty="0">
                <a:solidFill>
                  <a:srgbClr val="1B4332"/>
                </a:solidFill>
              </a:rPr>
              <a:t>• STATUS_CONFIG maps item.status → color+label</a:t>
            </a:r>
            <a:endParaRPr lang="en-US" sz="950" dirty="0"/>
          </a:p>
          <a:p>
            <a:pPr marL="0" indent="0">
              <a:buNone/>
            </a:pPr>
            <a:r>
              <a:rPr lang="en-US" sz="950" dirty="0">
                <a:solidFill>
                  <a:srgbClr val="1B4332"/>
                </a:solidFill>
              </a:rPr>
              <a:t>• formatTime(updatedAt) shows last update time</a:t>
            </a:r>
            <a:endParaRPr lang="en-US" sz="950" dirty="0"/>
          </a:p>
          <a:p>
            <a:pPr marL="0" indent="0">
              <a:buNone/>
            </a:pPr>
            <a:r>
              <a:rPr lang="en-US" sz="950" dirty="0">
                <a:solidFill>
                  <a:srgbClr val="1B4332"/>
                </a:solidFill>
              </a:rPr>
              <a:t>• Routing to /FoodDetail passes item params</a:t>
            </a:r>
            <a:endParaRPr lang="en-US" sz="950" dirty="0"/>
          </a:p>
        </p:txBody>
      </p:sp>
      <p:sp>
        <p:nvSpPr>
          <p:cNvPr id="15" name="Shape 13"/>
          <p:cNvSpPr/>
          <p:nvPr/>
        </p:nvSpPr>
        <p:spPr>
          <a:xfrm>
            <a:off x="365760" y="5184648"/>
            <a:ext cx="5029200" cy="347472"/>
          </a:xfrm>
          <a:prstGeom prst="roundRect">
            <a:avLst>
              <a:gd name="adj" fmla="val 15789"/>
            </a:avLst>
          </a:prstGeom>
          <a:solidFill>
            <a:srgbClr val="D4E6D8"/>
          </a:solidFill>
          <a:ln/>
        </p:spPr>
      </p:sp>
      <p:sp>
        <p:nvSpPr>
          <p:cNvPr id="16" name="Text 14"/>
          <p:cNvSpPr/>
          <p:nvPr/>
        </p:nvSpPr>
        <p:spPr>
          <a:xfrm>
            <a:off x="457200" y="5184648"/>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Hall Details → Food Detail Screen</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Today's Menu</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শহীদ হাবিবুর রহমান হল</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Date: 2026-06-27 | Updated: 2:55 AM</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 Hall Dining</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  Breakfast | Lunch | Dinner</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  🍚 Vat  ৳10  Remaining: 100  ✅</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  🥚 Dim  ৳20  Remaining: 5   ⚠️</a:t>
            </a:r>
            <a:endParaRPr lang="en-US" sz="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06.06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Food Detail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Shows individual food item details, average rating, and all reviews. Students submit star ratings (1–5) and text comments. Reviews load in real time via onSnapshot.</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975104"/>
          </a:xfrm>
          <a:prstGeom prst="rect">
            <a:avLst/>
          </a:prstGeom>
          <a:noFill/>
          <a:ln/>
        </p:spPr>
        <p:txBody>
          <a:bodyPr wrap="square" lIns="0" tIns="0" rIns="0" bIns="0" rtlCol="0" anchor="ctr"/>
          <a:lstStyle/>
          <a:p>
            <a:pPr marL="0" indent="0">
              <a:buNone/>
            </a:pPr>
            <a:r>
              <a:rPr lang="en-US" sz="950" dirty="0">
                <a:solidFill>
                  <a:srgbClr val="1A1A1A"/>
                </a:solidFill>
              </a:rPr>
              <a:t>• Food emoji + name + price + meal type</a:t>
            </a:r>
            <a:endParaRPr lang="en-US" sz="950" dirty="0"/>
          </a:p>
          <a:p>
            <a:pPr marL="0" indent="0">
              <a:buNone/>
            </a:pPr>
            <a:r>
              <a:rPr lang="en-US" sz="950" dirty="0">
                <a:solidFill>
                  <a:srgbClr val="1A1A1A"/>
                </a:solidFill>
              </a:rPr>
              <a:t>• Remaining count badge (color-coded)</a:t>
            </a:r>
            <a:endParaRPr lang="en-US" sz="950" dirty="0"/>
          </a:p>
          <a:p>
            <a:pPr marL="0" indent="0">
              <a:buNone/>
            </a:pPr>
            <a:r>
              <a:rPr lang="en-US" sz="950" dirty="0">
                <a:solidFill>
                  <a:srgbClr val="1A1A1A"/>
                </a:solidFill>
              </a:rPr>
              <a:t>• Average rating badge (⭐ X.X / N)</a:t>
            </a:r>
            <a:endParaRPr lang="en-US" sz="950" dirty="0"/>
          </a:p>
          <a:p>
            <a:pPr marL="0" indent="0">
              <a:buNone/>
            </a:pPr>
            <a:r>
              <a:rPr lang="en-US" sz="950" dirty="0">
                <a:solidFill>
                  <a:srgbClr val="1A1A1A"/>
                </a:solidFill>
              </a:rPr>
              <a:t>• Rate &amp; Review form card</a:t>
            </a:r>
            <a:endParaRPr lang="en-US" sz="950" dirty="0"/>
          </a:p>
          <a:p>
            <a:pPr marL="0" indent="0">
              <a:buNone/>
            </a:pPr>
            <a:r>
              <a:rPr lang="en-US" sz="950" dirty="0">
                <a:solidFill>
                  <a:srgbClr val="1A1A1A"/>
                </a:solidFill>
              </a:rPr>
              <a:t>• 5-star selector (tap to rate)</a:t>
            </a:r>
            <a:endParaRPr lang="en-US" sz="950" dirty="0"/>
          </a:p>
          <a:p>
            <a:pPr marL="0" indent="0">
              <a:buNone/>
            </a:pPr>
            <a:r>
              <a:rPr lang="en-US" sz="950" dirty="0">
                <a:solidFill>
                  <a:srgbClr val="1A1A1A"/>
                </a:solidFill>
              </a:rPr>
              <a:t>• Comment TextInput (multiline)</a:t>
            </a:r>
            <a:endParaRPr lang="en-US" sz="950" dirty="0"/>
          </a:p>
          <a:p>
            <a:pPr marL="0" indent="0">
              <a:buNone/>
            </a:pPr>
            <a:r>
              <a:rPr lang="en-US" sz="950" dirty="0">
                <a:solidFill>
                  <a:srgbClr val="1A1A1A"/>
                </a:solidFill>
              </a:rPr>
              <a:t>• Submit Review button</a:t>
            </a:r>
            <a:endParaRPr lang="en-US" sz="950" dirty="0"/>
          </a:p>
          <a:p>
            <a:pPr marL="0" indent="0">
              <a:buNone/>
            </a:pPr>
            <a:r>
              <a:rPr lang="en-US" sz="950" dirty="0">
                <a:solidFill>
                  <a:srgbClr val="1A1A1A"/>
                </a:solidFill>
              </a:rPr>
              <a:t>• All Reviews list (real-time)</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987552"/>
          </a:xfrm>
          <a:prstGeom prst="rect">
            <a:avLst/>
          </a:prstGeom>
          <a:noFill/>
          <a:ln/>
        </p:spPr>
        <p:txBody>
          <a:bodyPr wrap="square" lIns="0" tIns="0" rIns="0" bIns="0" rtlCol="0" anchor="ctr"/>
          <a:lstStyle/>
          <a:p>
            <a:pPr marL="0" indent="0">
              <a:buNone/>
            </a:pPr>
            <a:r>
              <a:rPr lang="en-US" sz="950" dirty="0">
                <a:solidFill>
                  <a:srgbClr val="1A1A1A"/>
                </a:solidFill>
              </a:rPr>
              <a:t>• Tap star → sets rating</a:t>
            </a:r>
            <a:endParaRPr lang="en-US" sz="950" dirty="0"/>
          </a:p>
          <a:p>
            <a:pPr marL="0" indent="0">
              <a:buNone/>
            </a:pPr>
            <a:r>
              <a:rPr lang="en-US" sz="950" dirty="0">
                <a:solidFill>
                  <a:srgbClr val="1A1A1A"/>
                </a:solidFill>
              </a:rPr>
              <a:t>• Type comment → updates state</a:t>
            </a:r>
            <a:endParaRPr lang="en-US" sz="950" dirty="0"/>
          </a:p>
          <a:p>
            <a:pPr marL="0" indent="0">
              <a:buNone/>
            </a:pPr>
            <a:r>
              <a:rPr lang="en-US" sz="950" dirty="0">
                <a:solidFill>
                  <a:srgbClr val="1A1A1A"/>
                </a:solidFill>
              </a:rPr>
              <a:t>• Tap Submit → validates &amp; writes to Firestore</a:t>
            </a:r>
            <a:endParaRPr lang="en-US" sz="950" dirty="0"/>
          </a:p>
          <a:p>
            <a:pPr marL="0" indent="0">
              <a:buNone/>
            </a:pPr>
            <a:r>
              <a:rPr lang="en-US" sz="950" dirty="0">
                <a:solidFill>
                  <a:srgbClr val="1A1A1A"/>
                </a:solidFill>
              </a:rPr>
              <a:t>• New reviews appear instantly (onSnapshot)</a:t>
            </a:r>
            <a:endParaRPr lang="en-US" sz="950" dirty="0"/>
          </a:p>
        </p:txBody>
      </p:sp>
      <p:sp>
        <p:nvSpPr>
          <p:cNvPr id="12" name="Text 10"/>
          <p:cNvSpPr/>
          <p:nvPr/>
        </p:nvSpPr>
        <p:spPr>
          <a:xfrm>
            <a:off x="365760" y="3648456"/>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886200"/>
            <a:ext cx="5029200" cy="1344168"/>
          </a:xfrm>
          <a:prstGeom prst="roundRect">
            <a:avLst>
              <a:gd name="adj" fmla="val 4082"/>
            </a:avLst>
          </a:prstGeom>
          <a:solidFill>
            <a:srgbClr val="F0F8F0"/>
          </a:solidFill>
          <a:ln/>
        </p:spPr>
      </p:sp>
      <p:sp>
        <p:nvSpPr>
          <p:cNvPr id="14" name="Text 12"/>
          <p:cNvSpPr/>
          <p:nvPr/>
        </p:nvSpPr>
        <p:spPr>
          <a:xfrm>
            <a:off x="475488" y="3922776"/>
            <a:ext cx="4846320" cy="1234440"/>
          </a:xfrm>
          <a:prstGeom prst="rect">
            <a:avLst/>
          </a:prstGeom>
          <a:noFill/>
          <a:ln/>
        </p:spPr>
        <p:txBody>
          <a:bodyPr wrap="square" lIns="0" tIns="0" rIns="0" bIns="0" rtlCol="0" anchor="ctr"/>
          <a:lstStyle/>
          <a:p>
            <a:pPr marL="0" indent="0">
              <a:buNone/>
            </a:pPr>
            <a:r>
              <a:rPr lang="en-US" sz="950" dirty="0">
                <a:solidFill>
                  <a:srgbClr val="1B4332"/>
                </a:solidFill>
              </a:rPr>
              <a:t>• onSnapshot on foodReviews collection — real-time listener</a:t>
            </a:r>
            <a:endParaRPr lang="en-US" sz="950" dirty="0"/>
          </a:p>
          <a:p>
            <a:pPr marL="0" indent="0">
              <a:buNone/>
            </a:pPr>
            <a:r>
              <a:rPr lang="en-US" sz="950" dirty="0">
                <a:solidFill>
                  <a:srgbClr val="1B4332"/>
                </a:solidFill>
              </a:rPr>
              <a:t>• Query: where hallId + dateKey + itemName + orderBy createdAt</a:t>
            </a:r>
            <a:endParaRPr lang="en-US" sz="950" dirty="0"/>
          </a:p>
          <a:p>
            <a:pPr marL="0" indent="0">
              <a:buNone/>
            </a:pPr>
            <a:r>
              <a:rPr lang="en-US" sz="950" dirty="0">
                <a:solidFill>
                  <a:srgbClr val="1B4332"/>
                </a:solidFill>
              </a:rPr>
              <a:t>• addDoc(foodReviews) on submit</a:t>
            </a:r>
            <a:endParaRPr lang="en-US" sz="950" dirty="0"/>
          </a:p>
          <a:p>
            <a:pPr marL="0" indent="0">
              <a:buNone/>
            </a:pPr>
            <a:r>
              <a:rPr lang="en-US" sz="950" dirty="0">
                <a:solidFill>
                  <a:srgbClr val="1B4332"/>
                </a:solidFill>
              </a:rPr>
              <a:t>• avgRating = sum(ratings) / count — calculated client-side</a:t>
            </a:r>
            <a:endParaRPr lang="en-US" sz="950" dirty="0"/>
          </a:p>
          <a:p>
            <a:pPr marL="0" indent="0">
              <a:buNone/>
            </a:pPr>
            <a:r>
              <a:rPr lang="en-US" sz="950" dirty="0">
                <a:solidFill>
                  <a:srgbClr val="1B4332"/>
                </a:solidFill>
              </a:rPr>
              <a:t>• Composite Firestore index required for this query</a:t>
            </a:r>
            <a:endParaRPr lang="en-US" sz="950" dirty="0"/>
          </a:p>
        </p:txBody>
      </p:sp>
      <p:sp>
        <p:nvSpPr>
          <p:cNvPr id="15" name="Shape 13"/>
          <p:cNvSpPr/>
          <p:nvPr/>
        </p:nvSpPr>
        <p:spPr>
          <a:xfrm>
            <a:off x="365760" y="5431536"/>
            <a:ext cx="5029200" cy="347472"/>
          </a:xfrm>
          <a:prstGeom prst="roundRect">
            <a:avLst>
              <a:gd name="adj" fmla="val 15789"/>
            </a:avLst>
          </a:prstGeom>
          <a:solidFill>
            <a:srgbClr val="D4E6D8"/>
          </a:solidFill>
          <a:ln/>
        </p:spPr>
      </p:sp>
      <p:sp>
        <p:nvSpPr>
          <p:cNvPr id="16" name="Text 14"/>
          <p:cNvSpPr/>
          <p:nvPr/>
        </p:nvSpPr>
        <p:spPr>
          <a:xfrm>
            <a:off x="457200" y="5431536"/>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Food Detail → (back) Hall Details</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Food Detail</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  Vat  ৳10 · Breakfast</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Remaining: 45  ⭐ 4.2 (8 reviews)</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 Rate &amp; Review</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 ★ ★ ★ ☆  (tap to rate)</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Your comment here...</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 Submit Review ]</a:t>
            </a:r>
            <a:endParaRPr lang="en-US" sz="450" dirty="0"/>
          </a:p>
        </p:txBody>
      </p:sp>
      <p:sp>
        <p:nvSpPr>
          <p:cNvPr id="34" name="Shape 32"/>
          <p:cNvSpPr/>
          <p:nvPr/>
        </p:nvSpPr>
        <p:spPr>
          <a:xfrm>
            <a:off x="5897880" y="247802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5" name="Text 33"/>
          <p:cNvSpPr/>
          <p:nvPr/>
        </p:nvSpPr>
        <p:spPr>
          <a:xfrm>
            <a:off x="5925312" y="2478024"/>
            <a:ext cx="2734056" cy="210312"/>
          </a:xfrm>
          <a:prstGeom prst="rect">
            <a:avLst/>
          </a:prstGeom>
          <a:noFill/>
          <a:ln/>
        </p:spPr>
        <p:txBody>
          <a:bodyPr wrap="square" lIns="0" tIns="0" rIns="0" bIns="0" rtlCol="0" anchor="ctr"/>
          <a:lstStyle/>
          <a:p>
            <a:pPr marL="0" indent="0">
              <a:buNone/>
            </a:pPr>
            <a:r>
              <a:rPr lang="en-US" sz="450" dirty="0">
                <a:solidFill>
                  <a:srgbClr val="1A1A1A"/>
                </a:solidFill>
              </a:rPr>
              <a:t>★★★★★  Rahim: Good quality!</a:t>
            </a:r>
            <a:endParaRPr lang="en-US" sz="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06.07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Notices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Displays all active dining and canteen notices in accordion sections. Expired notices are automatically filtered out at read time based on createdAt + expiresIn calculation.</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481328"/>
          </a:xfrm>
          <a:prstGeom prst="rect">
            <a:avLst/>
          </a:prstGeom>
          <a:noFill/>
          <a:ln/>
        </p:spPr>
        <p:txBody>
          <a:bodyPr wrap="square" lIns="0" tIns="0" rIns="0" bIns="0" rtlCol="0" anchor="ctr"/>
          <a:lstStyle/>
          <a:p>
            <a:pPr marL="0" indent="0">
              <a:buNone/>
            </a:pPr>
            <a:r>
              <a:rPr lang="en-US" sz="950" dirty="0">
                <a:solidFill>
                  <a:srgbClr val="1A1A1A"/>
                </a:solidFill>
              </a:rPr>
              <a:t>• Page title: 'Notice Updates'</a:t>
            </a:r>
            <a:endParaRPr lang="en-US" sz="950" dirty="0"/>
          </a:p>
          <a:p>
            <a:pPr marL="0" indent="0">
              <a:buNone/>
            </a:pPr>
            <a:r>
              <a:rPr lang="en-US" sz="950" dirty="0">
                <a:solidFill>
                  <a:srgbClr val="1A1A1A"/>
                </a:solidFill>
              </a:rPr>
              <a:t>• Sub-title: 'Showing active notices only'</a:t>
            </a:r>
            <a:endParaRPr lang="en-US" sz="950" dirty="0"/>
          </a:p>
          <a:p>
            <a:pPr marL="0" indent="0">
              <a:buNone/>
            </a:pPr>
            <a:r>
              <a:rPr lang="en-US" sz="950" dirty="0">
                <a:solidFill>
                  <a:srgbClr val="1A1A1A"/>
                </a:solidFill>
              </a:rPr>
              <a:t>• Dining Notices accordion (expandable)</a:t>
            </a:r>
            <a:endParaRPr lang="en-US" sz="950" dirty="0"/>
          </a:p>
          <a:p>
            <a:pPr marL="0" indent="0">
              <a:buNone/>
            </a:pPr>
            <a:r>
              <a:rPr lang="en-US" sz="950" dirty="0">
                <a:solidFill>
                  <a:srgbClr val="1A1A1A"/>
                </a:solidFill>
              </a:rPr>
              <a:t>• Canteen Notices accordion (expandable)</a:t>
            </a:r>
            <a:endParaRPr lang="en-US" sz="950" dirty="0"/>
          </a:p>
          <a:p>
            <a:pPr marL="0" indent="0">
              <a:buNone/>
            </a:pPr>
            <a:r>
              <a:rPr lang="en-US" sz="950" dirty="0">
                <a:solidFill>
                  <a:srgbClr val="1A1A1A"/>
                </a:solidFill>
              </a:rPr>
              <a:t>• Each notice: type badge, hall, title, message, time, expiry</a:t>
            </a:r>
            <a:endParaRPr lang="en-US" sz="950" dirty="0"/>
          </a:p>
          <a:p>
            <a:pPr marL="0" indent="0">
              <a:buNone/>
            </a:pPr>
            <a:r>
              <a:rPr lang="en-US" sz="950" dirty="0">
                <a:solidFill>
                  <a:srgbClr val="1A1A1A"/>
                </a:solidFill>
              </a:rPr>
              <a:t>• Count badge on accordion header</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740664"/>
          </a:xfrm>
          <a:prstGeom prst="rect">
            <a:avLst/>
          </a:prstGeom>
          <a:noFill/>
          <a:ln/>
        </p:spPr>
        <p:txBody>
          <a:bodyPr wrap="square" lIns="0" tIns="0" rIns="0" bIns="0" rtlCol="0" anchor="ctr"/>
          <a:lstStyle/>
          <a:p>
            <a:pPr marL="0" indent="0">
              <a:buNone/>
            </a:pPr>
            <a:r>
              <a:rPr lang="en-US" sz="950" dirty="0">
                <a:solidFill>
                  <a:srgbClr val="1A1A1A"/>
                </a:solidFill>
              </a:rPr>
              <a:t>• Tap section → expands notice list</a:t>
            </a:r>
            <a:endParaRPr lang="en-US" sz="950" dirty="0"/>
          </a:p>
          <a:p>
            <a:pPr marL="0" indent="0">
              <a:buNone/>
            </a:pPr>
            <a:r>
              <a:rPr lang="en-US" sz="950" dirty="0">
                <a:solidFill>
                  <a:srgbClr val="1A1A1A"/>
                </a:solidFill>
              </a:rPr>
              <a:t>• Tap again → collapses</a:t>
            </a:r>
            <a:endParaRPr lang="en-US" sz="950" dirty="0"/>
          </a:p>
          <a:p>
            <a:pPr marL="0" indent="0">
              <a:buNone/>
            </a:pPr>
            <a:r>
              <a:rPr lang="en-US" sz="950" dirty="0">
                <a:solidFill>
                  <a:srgbClr val="1A1A1A"/>
                </a:solidFill>
              </a:rPr>
              <a:t>• No write action — read only for students</a:t>
            </a:r>
            <a:endParaRPr lang="en-US" sz="950" dirty="0"/>
          </a:p>
        </p:txBody>
      </p:sp>
      <p:sp>
        <p:nvSpPr>
          <p:cNvPr id="12" name="Text 10"/>
          <p:cNvSpPr/>
          <p:nvPr/>
        </p:nvSpPr>
        <p:spPr>
          <a:xfrm>
            <a:off x="365760" y="315468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392424"/>
            <a:ext cx="5029200" cy="1097280"/>
          </a:xfrm>
          <a:prstGeom prst="roundRect">
            <a:avLst>
              <a:gd name="adj" fmla="val 5000"/>
            </a:avLst>
          </a:prstGeom>
          <a:solidFill>
            <a:srgbClr val="F0F8F0"/>
          </a:solidFill>
          <a:ln/>
        </p:spPr>
      </p:sp>
      <p:sp>
        <p:nvSpPr>
          <p:cNvPr id="14" name="Text 12"/>
          <p:cNvSpPr/>
          <p:nvPr/>
        </p:nvSpPr>
        <p:spPr>
          <a:xfrm>
            <a:off x="475488" y="3429000"/>
            <a:ext cx="4846320" cy="987552"/>
          </a:xfrm>
          <a:prstGeom prst="rect">
            <a:avLst/>
          </a:prstGeom>
          <a:noFill/>
          <a:ln/>
        </p:spPr>
        <p:txBody>
          <a:bodyPr wrap="square" lIns="0" tIns="0" rIns="0" bIns="0" rtlCol="0" anchor="ctr"/>
          <a:lstStyle/>
          <a:p>
            <a:pPr marL="0" indent="0">
              <a:buNone/>
            </a:pPr>
            <a:r>
              <a:rPr lang="en-US" sz="950" dirty="0">
                <a:solidFill>
                  <a:srgbClr val="1B4332"/>
                </a:solidFill>
              </a:rPr>
              <a:t>• getNotices('dining') + getNotices('canteen') in parallel</a:t>
            </a:r>
            <a:endParaRPr lang="en-US" sz="950" dirty="0"/>
          </a:p>
          <a:p>
            <a:pPr marL="0" indent="0">
              <a:buNone/>
            </a:pPr>
            <a:r>
              <a:rPr lang="en-US" sz="950" dirty="0">
                <a:solidFill>
                  <a:srgbClr val="1B4332"/>
                </a:solidFill>
              </a:rPr>
              <a:t>• Each notice: expiresAt = createdAt + expiresIn * 3,600,000 ms</a:t>
            </a:r>
            <a:endParaRPr lang="en-US" sz="950" dirty="0"/>
          </a:p>
          <a:p>
            <a:pPr marL="0" indent="0">
              <a:buNone/>
            </a:pPr>
            <a:r>
              <a:rPr lang="en-US" sz="950" dirty="0">
                <a:solidFill>
                  <a:srgbClr val="1B4332"/>
                </a:solidFill>
              </a:rPr>
              <a:t>• Filter: only notices where expiresAt &gt; now()</a:t>
            </a:r>
            <a:endParaRPr lang="en-US" sz="950" dirty="0"/>
          </a:p>
          <a:p>
            <a:pPr marL="0" indent="0">
              <a:buNone/>
            </a:pPr>
            <a:r>
              <a:rPr lang="en-US" sz="950" dirty="0">
                <a:solidFill>
                  <a:srgbClr val="1B4332"/>
                </a:solidFill>
              </a:rPr>
              <a:t>• TYPE_CONFIG maps noticeType → icon + color</a:t>
            </a:r>
            <a:endParaRPr lang="en-US" sz="950" dirty="0"/>
          </a:p>
        </p:txBody>
      </p:sp>
      <p:sp>
        <p:nvSpPr>
          <p:cNvPr id="15" name="Shape 13"/>
          <p:cNvSpPr/>
          <p:nvPr/>
        </p:nvSpPr>
        <p:spPr>
          <a:xfrm>
            <a:off x="365760" y="4690872"/>
            <a:ext cx="5029200" cy="347472"/>
          </a:xfrm>
          <a:prstGeom prst="roundRect">
            <a:avLst>
              <a:gd name="adj" fmla="val 15789"/>
            </a:avLst>
          </a:prstGeom>
          <a:solidFill>
            <a:srgbClr val="D4E6D8"/>
          </a:solidFill>
          <a:ln/>
        </p:spPr>
      </p:sp>
      <p:sp>
        <p:nvSpPr>
          <p:cNvPr id="16" name="Text 14"/>
          <p:cNvSpPr/>
          <p:nvPr/>
        </p:nvSpPr>
        <p:spPr>
          <a:xfrm>
            <a:off x="457200" y="4690872"/>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Notices Screen → (back) Hall List</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Notices</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Notice Updates</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Showing active notices only</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 Dining Notices  [2]</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  ⏰ DELAY | শহীদ হাবিবুর হল</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  Lunch delayed 30 min</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 Canteen Notices  [1]</a:t>
            </a:r>
            <a:endParaRPr lang="en-US" sz="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06.08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Feast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Shows upcoming feast events for dining and canteen in accordion sections. Past feasts are filtered out — only today's and future feasts are shown.</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481328"/>
          </a:xfrm>
          <a:prstGeom prst="rect">
            <a:avLst/>
          </a:prstGeom>
          <a:noFill/>
          <a:ln/>
        </p:spPr>
        <p:txBody>
          <a:bodyPr wrap="square" lIns="0" tIns="0" rIns="0" bIns="0" rtlCol="0" anchor="ctr"/>
          <a:lstStyle/>
          <a:p>
            <a:pPr marL="0" indent="0">
              <a:buNone/>
            </a:pPr>
            <a:r>
              <a:rPr lang="en-US" sz="950" dirty="0">
                <a:solidFill>
                  <a:srgbClr val="1A1A1A"/>
                </a:solidFill>
              </a:rPr>
              <a:t>• Page title: 'Feast Updates'</a:t>
            </a:r>
            <a:endParaRPr lang="en-US" sz="950" dirty="0"/>
          </a:p>
          <a:p>
            <a:pPr marL="0" indent="0">
              <a:buNone/>
            </a:pPr>
            <a:r>
              <a:rPr lang="en-US" sz="950" dirty="0">
                <a:solidFill>
                  <a:srgbClr val="1A1A1A"/>
                </a:solidFill>
              </a:rPr>
              <a:t>• Sub-title: 'Showing upcoming &amp; today's feasts only'</a:t>
            </a:r>
            <a:endParaRPr lang="en-US" sz="950" dirty="0"/>
          </a:p>
          <a:p>
            <a:pPr marL="0" indent="0">
              <a:buNone/>
            </a:pPr>
            <a:r>
              <a:rPr lang="en-US" sz="950" dirty="0">
                <a:solidFill>
                  <a:srgbClr val="1A1A1A"/>
                </a:solidFill>
              </a:rPr>
              <a:t>• Hall Dining Feast accordion</a:t>
            </a:r>
            <a:endParaRPr lang="en-US" sz="950" dirty="0"/>
          </a:p>
          <a:p>
            <a:pPr marL="0" indent="0">
              <a:buNone/>
            </a:pPr>
            <a:r>
              <a:rPr lang="en-US" sz="950" dirty="0">
                <a:solidFill>
                  <a:srgbClr val="1A1A1A"/>
                </a:solidFill>
              </a:rPr>
              <a:t>• Hall Canteen Feast accordion</a:t>
            </a:r>
            <a:endParaRPr lang="en-US" sz="950" dirty="0"/>
          </a:p>
          <a:p>
            <a:pPr marL="0" indent="0">
              <a:buNone/>
            </a:pPr>
            <a:r>
              <a:rPr lang="en-US" sz="950" dirty="0">
                <a:solidFill>
                  <a:srgbClr val="1A1A1A"/>
                </a:solidFill>
              </a:rPr>
              <a:t>• Each feast: hall name, title, menu, date, price, countdown badge</a:t>
            </a:r>
            <a:endParaRPr lang="en-US" sz="950" dirty="0"/>
          </a:p>
          <a:p>
            <a:pPr marL="0" indent="0">
              <a:buNone/>
            </a:pPr>
            <a:r>
              <a:rPr lang="en-US" sz="950" dirty="0">
                <a:solidFill>
                  <a:srgbClr val="1A1A1A"/>
                </a:solidFill>
              </a:rPr>
              <a:t>• daysUntil() shows 'Today!', 'Tomorrow', 'In N days'</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740664"/>
          </a:xfrm>
          <a:prstGeom prst="rect">
            <a:avLst/>
          </a:prstGeom>
          <a:noFill/>
          <a:ln/>
        </p:spPr>
        <p:txBody>
          <a:bodyPr wrap="square" lIns="0" tIns="0" rIns="0" bIns="0" rtlCol="0" anchor="ctr"/>
          <a:lstStyle/>
          <a:p>
            <a:pPr marL="0" indent="0">
              <a:buNone/>
            </a:pPr>
            <a:r>
              <a:rPr lang="en-US" sz="950" dirty="0">
                <a:solidFill>
                  <a:srgbClr val="1A1A1A"/>
                </a:solidFill>
              </a:rPr>
              <a:t>• Tap section → expands feast list</a:t>
            </a:r>
            <a:endParaRPr lang="en-US" sz="950" dirty="0"/>
          </a:p>
          <a:p>
            <a:pPr marL="0" indent="0">
              <a:buNone/>
            </a:pPr>
            <a:r>
              <a:rPr lang="en-US" sz="950" dirty="0">
                <a:solidFill>
                  <a:srgbClr val="1A1A1A"/>
                </a:solidFill>
              </a:rPr>
              <a:t>• Tap again → collapses</a:t>
            </a:r>
            <a:endParaRPr lang="en-US" sz="950" dirty="0"/>
          </a:p>
          <a:p>
            <a:pPr marL="0" indent="0">
              <a:buNone/>
            </a:pPr>
            <a:r>
              <a:rPr lang="en-US" sz="950" dirty="0">
                <a:solidFill>
                  <a:srgbClr val="1A1A1A"/>
                </a:solidFill>
              </a:rPr>
              <a:t>• Countdown badge updates per feast</a:t>
            </a:r>
            <a:endParaRPr lang="en-US" sz="950" dirty="0"/>
          </a:p>
        </p:txBody>
      </p:sp>
      <p:sp>
        <p:nvSpPr>
          <p:cNvPr id="12" name="Text 10"/>
          <p:cNvSpPr/>
          <p:nvPr/>
        </p:nvSpPr>
        <p:spPr>
          <a:xfrm>
            <a:off x="365760" y="315468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392424"/>
            <a:ext cx="5029200" cy="1097280"/>
          </a:xfrm>
          <a:prstGeom prst="roundRect">
            <a:avLst>
              <a:gd name="adj" fmla="val 5000"/>
            </a:avLst>
          </a:prstGeom>
          <a:solidFill>
            <a:srgbClr val="F0F8F0"/>
          </a:solidFill>
          <a:ln/>
        </p:spPr>
      </p:sp>
      <p:sp>
        <p:nvSpPr>
          <p:cNvPr id="14" name="Text 12"/>
          <p:cNvSpPr/>
          <p:nvPr/>
        </p:nvSpPr>
        <p:spPr>
          <a:xfrm>
            <a:off x="475488" y="3429000"/>
            <a:ext cx="4846320" cy="987552"/>
          </a:xfrm>
          <a:prstGeom prst="rect">
            <a:avLst/>
          </a:prstGeom>
          <a:noFill/>
          <a:ln/>
        </p:spPr>
        <p:txBody>
          <a:bodyPr wrap="square" lIns="0" tIns="0" rIns="0" bIns="0" rtlCol="0" anchor="ctr"/>
          <a:lstStyle/>
          <a:p>
            <a:pPr marL="0" indent="0">
              <a:buNone/>
            </a:pPr>
            <a:r>
              <a:rPr lang="en-US" sz="950" dirty="0">
                <a:solidFill>
                  <a:srgbClr val="1B4332"/>
                </a:solidFill>
              </a:rPr>
              <a:t>• getFeasts('dining') + getFeasts('canteen') in parallel</a:t>
            </a:r>
            <a:endParaRPr lang="en-US" sz="950" dirty="0"/>
          </a:p>
          <a:p>
            <a:pPr marL="0" indent="0">
              <a:buNone/>
            </a:pPr>
            <a:r>
              <a:rPr lang="en-US" sz="950" dirty="0">
                <a:solidFill>
                  <a:srgbClr val="1B4332"/>
                </a:solidFill>
              </a:rPr>
              <a:t>• filterActive: list.filter(f =&gt; f.date &gt;= today)</a:t>
            </a:r>
            <a:endParaRPr lang="en-US" sz="950" dirty="0"/>
          </a:p>
          <a:p>
            <a:pPr marL="0" indent="0">
              <a:buNone/>
            </a:pPr>
            <a:r>
              <a:rPr lang="en-US" sz="950" dirty="0">
                <a:solidFill>
                  <a:srgbClr val="1B4332"/>
                </a:solidFill>
              </a:rPr>
              <a:t>• daysUntil(f.date) computes countdown from today</a:t>
            </a:r>
            <a:endParaRPr lang="en-US" sz="950" dirty="0"/>
          </a:p>
          <a:p>
            <a:pPr marL="0" indent="0">
              <a:buNone/>
            </a:pPr>
            <a:r>
              <a:rPr lang="en-US" sz="950" dirty="0">
                <a:solidFill>
                  <a:srgbClr val="1B4332"/>
                </a:solidFill>
              </a:rPr>
              <a:t>• feasts sorted by date ascending</a:t>
            </a:r>
            <a:endParaRPr lang="en-US" sz="950" dirty="0"/>
          </a:p>
        </p:txBody>
      </p:sp>
      <p:sp>
        <p:nvSpPr>
          <p:cNvPr id="15" name="Shape 13"/>
          <p:cNvSpPr/>
          <p:nvPr/>
        </p:nvSpPr>
        <p:spPr>
          <a:xfrm>
            <a:off x="365760" y="4690872"/>
            <a:ext cx="5029200" cy="347472"/>
          </a:xfrm>
          <a:prstGeom prst="roundRect">
            <a:avLst>
              <a:gd name="adj" fmla="val 15789"/>
            </a:avLst>
          </a:prstGeom>
          <a:solidFill>
            <a:srgbClr val="D4E6D8"/>
          </a:solidFill>
          <a:ln/>
        </p:spPr>
      </p:sp>
      <p:sp>
        <p:nvSpPr>
          <p:cNvPr id="16" name="Text 14"/>
          <p:cNvSpPr/>
          <p:nvPr/>
        </p:nvSpPr>
        <p:spPr>
          <a:xfrm>
            <a:off x="457200" y="4690872"/>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Feast Screen → (back) Hall List</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Feast</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Feast Updates — Upcoming only</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 Hall Dining Feast  [2]</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  শহীদ হাবিবুর হল — 'In 2 days'</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  Briyani Feast — ৳120</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  Menu: Polao, Roast, Beef curry</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 Hall Canteen Feast  [1]</a:t>
            </a:r>
            <a:endParaRPr lang="en-US" sz="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06.09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Moderator Role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Role selection for moderators. Checks for existing session. If a session exists, shows a password re-confirmation modal instead of redirecting to login.</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481328"/>
          </a:xfrm>
          <a:prstGeom prst="rect">
            <a:avLst/>
          </a:prstGeom>
          <a:noFill/>
          <a:ln/>
        </p:spPr>
        <p:txBody>
          <a:bodyPr wrap="square" lIns="0" tIns="0" rIns="0" bIns="0" rtlCol="0" anchor="ctr"/>
          <a:lstStyle/>
          <a:p>
            <a:pPr marL="0" indent="0">
              <a:buNone/>
            </a:pPr>
            <a:r>
              <a:rPr lang="en-US" sz="950" dirty="0">
                <a:solidFill>
                  <a:srgbClr val="1A1A1A"/>
                </a:solidFill>
              </a:rPr>
              <a:t>• Shield icon (🛡️) header</a:t>
            </a:r>
            <a:endParaRPr lang="en-US" sz="950" dirty="0"/>
          </a:p>
          <a:p>
            <a:pPr marL="0" indent="0">
              <a:buNone/>
            </a:pPr>
            <a:r>
              <a:rPr lang="en-US" sz="950" dirty="0">
                <a:solidFill>
                  <a:srgbClr val="1A1A1A"/>
                </a:solidFill>
              </a:rPr>
              <a:t>• 'Moderator Login' title</a:t>
            </a:r>
            <a:endParaRPr lang="en-US" sz="950" dirty="0"/>
          </a:p>
          <a:p>
            <a:pPr marL="0" indent="0">
              <a:buNone/>
            </a:pPr>
            <a:r>
              <a:rPr lang="en-US" sz="950" dirty="0">
                <a:solidFill>
                  <a:srgbClr val="1A1A1A"/>
                </a:solidFill>
              </a:rPr>
              <a:t>• Dining Moderator card (green border)</a:t>
            </a:r>
            <a:endParaRPr lang="en-US" sz="950" dirty="0"/>
          </a:p>
          <a:p>
            <a:pPr marL="0" indent="0">
              <a:buNone/>
            </a:pPr>
            <a:r>
              <a:rPr lang="en-US" sz="950" dirty="0">
                <a:solidFill>
                  <a:srgbClr val="1A1A1A"/>
                </a:solidFill>
              </a:rPr>
              <a:t>• Canteen Moderator card (purple border)</a:t>
            </a:r>
            <a:endParaRPr lang="en-US" sz="950" dirty="0"/>
          </a:p>
          <a:p>
            <a:pPr marL="0" indent="0">
              <a:buNone/>
            </a:pPr>
            <a:r>
              <a:rPr lang="en-US" sz="950" dirty="0">
                <a:solidFill>
                  <a:srgbClr val="1A1A1A"/>
                </a:solidFill>
              </a:rPr>
              <a:t>• Password confirm modal (conditional)</a:t>
            </a:r>
            <a:endParaRPr lang="en-US" sz="950" dirty="0"/>
          </a:p>
          <a:p>
            <a:pPr marL="0" indent="0">
              <a:buNone/>
            </a:pPr>
            <a:r>
              <a:rPr lang="en-US" sz="950" dirty="0">
                <a:solidFill>
                  <a:srgbClr val="1A1A1A"/>
                </a:solidFill>
              </a:rPr>
              <a:t>• Modal: role icon, password input + eye toggle, Confirm / Cancel</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1481328"/>
          </a:xfrm>
          <a:prstGeom prst="rect">
            <a:avLst/>
          </a:prstGeom>
          <a:noFill/>
          <a:ln/>
        </p:spPr>
        <p:txBody>
          <a:bodyPr wrap="square" lIns="0" tIns="0" rIns="0" bIns="0" rtlCol="0" anchor="ctr"/>
          <a:lstStyle/>
          <a:p>
            <a:pPr marL="0" indent="0">
              <a:buNone/>
            </a:pPr>
            <a:r>
              <a:rPr lang="en-US" sz="950" dirty="0">
                <a:solidFill>
                  <a:srgbClr val="1A1A1A"/>
                </a:solidFill>
              </a:rPr>
              <a:t>• Tap Dining Moderator → checks session</a:t>
            </a:r>
            <a:endParaRPr lang="en-US" sz="950" dirty="0"/>
          </a:p>
          <a:p>
            <a:pPr marL="0" indent="0">
              <a:buNone/>
            </a:pPr>
            <a:r>
              <a:rPr lang="en-US" sz="950" dirty="0">
                <a:solidFill>
                  <a:srgbClr val="1A1A1A"/>
                </a:solidFill>
              </a:rPr>
              <a:t>• Tap Canteen Moderator → checks session</a:t>
            </a:r>
            <a:endParaRPr lang="en-US" sz="950" dirty="0"/>
          </a:p>
          <a:p>
            <a:pPr marL="0" indent="0">
              <a:buNone/>
            </a:pPr>
            <a:r>
              <a:rPr lang="en-US" sz="950" dirty="0">
                <a:solidFill>
                  <a:srgbClr val="1A1A1A"/>
                </a:solidFill>
              </a:rPr>
              <a:t>• If session → show password modal</a:t>
            </a:r>
            <a:endParaRPr lang="en-US" sz="950" dirty="0"/>
          </a:p>
          <a:p>
            <a:pPr marL="0" indent="0">
              <a:buNone/>
            </a:pPr>
            <a:r>
              <a:rPr lang="en-US" sz="950" dirty="0">
                <a:solidFill>
                  <a:srgbClr val="1A1A1A"/>
                </a:solidFill>
              </a:rPr>
              <a:t>• If no session → go to Login Screen</a:t>
            </a:r>
            <a:endParaRPr lang="en-US" sz="950" dirty="0"/>
          </a:p>
          <a:p>
            <a:pPr marL="0" indent="0">
              <a:buNone/>
            </a:pPr>
            <a:r>
              <a:rPr lang="en-US" sz="950" dirty="0">
                <a:solidFill>
                  <a:srgbClr val="1A1A1A"/>
                </a:solidFill>
              </a:rPr>
              <a:t>• Modal Confirm → re-authenticate → Dashboard</a:t>
            </a:r>
            <a:endParaRPr lang="en-US" sz="950" dirty="0"/>
          </a:p>
          <a:p>
            <a:pPr marL="0" indent="0">
              <a:buNone/>
            </a:pPr>
            <a:r>
              <a:rPr lang="en-US" sz="950" dirty="0">
                <a:solidFill>
                  <a:srgbClr val="1A1A1A"/>
                </a:solidFill>
              </a:rPr>
              <a:t>• Modal Cancel → dismiss</a:t>
            </a:r>
            <a:endParaRPr lang="en-US" sz="950" dirty="0"/>
          </a:p>
        </p:txBody>
      </p:sp>
      <p:sp>
        <p:nvSpPr>
          <p:cNvPr id="12" name="Text 10"/>
          <p:cNvSpPr/>
          <p:nvPr/>
        </p:nvSpPr>
        <p:spPr>
          <a:xfrm>
            <a:off x="365760" y="315468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392424"/>
            <a:ext cx="5029200" cy="1344168"/>
          </a:xfrm>
          <a:prstGeom prst="roundRect">
            <a:avLst>
              <a:gd name="adj" fmla="val 4082"/>
            </a:avLst>
          </a:prstGeom>
          <a:solidFill>
            <a:srgbClr val="F0F8F0"/>
          </a:solidFill>
          <a:ln/>
        </p:spPr>
      </p:sp>
      <p:sp>
        <p:nvSpPr>
          <p:cNvPr id="14" name="Text 12"/>
          <p:cNvSpPr/>
          <p:nvPr/>
        </p:nvSpPr>
        <p:spPr>
          <a:xfrm>
            <a:off x="475488" y="3429000"/>
            <a:ext cx="4846320" cy="1234440"/>
          </a:xfrm>
          <a:prstGeom prst="rect">
            <a:avLst/>
          </a:prstGeom>
          <a:noFill/>
          <a:ln/>
        </p:spPr>
        <p:txBody>
          <a:bodyPr wrap="square" lIns="0" tIns="0" rIns="0" bIns="0" rtlCol="0" anchor="ctr"/>
          <a:lstStyle/>
          <a:p>
            <a:pPr marL="0" indent="0">
              <a:buNone/>
            </a:pPr>
            <a:r>
              <a:rPr lang="en-US" sz="950" dirty="0">
                <a:solidFill>
                  <a:srgbClr val="1B4332"/>
                </a:solidFill>
              </a:rPr>
              <a:t>• auth.currentUser check on role press</a:t>
            </a:r>
            <a:endParaRPr lang="en-US" sz="950" dirty="0"/>
          </a:p>
          <a:p>
            <a:pPr marL="0" indent="0">
              <a:buNone/>
            </a:pPr>
            <a:r>
              <a:rPr lang="en-US" sz="950" dirty="0">
                <a:solidFill>
                  <a:srgbClr val="1B4332"/>
                </a:solidFill>
              </a:rPr>
              <a:t>• getModeratorData(uid) → check role match</a:t>
            </a:r>
            <a:endParaRPr lang="en-US" sz="950" dirty="0"/>
          </a:p>
          <a:p>
            <a:pPr marL="0" indent="0">
              <a:buNone/>
            </a:pPr>
            <a:r>
              <a:rPr lang="en-US" sz="950" dirty="0">
                <a:solidFill>
                  <a:srgbClr val="1B4332"/>
                </a:solidFill>
              </a:rPr>
              <a:t>• If match → show modal for re-auth</a:t>
            </a:r>
            <a:endParaRPr lang="en-US" sz="950" dirty="0"/>
          </a:p>
          <a:p>
            <a:pPr marL="0" indent="0">
              <a:buNone/>
            </a:pPr>
            <a:r>
              <a:rPr lang="en-US" sz="950" dirty="0">
                <a:solidFill>
                  <a:srgbClr val="1B4332"/>
                </a:solidFill>
              </a:rPr>
              <a:t>• signInWithEmailAndPassword(auth, email, password) in modal</a:t>
            </a:r>
            <a:endParaRPr lang="en-US" sz="950" dirty="0"/>
          </a:p>
          <a:p>
            <a:pPr marL="0" indent="0">
              <a:buNone/>
            </a:pPr>
            <a:r>
              <a:rPr lang="en-US" sz="950" dirty="0">
                <a:solidFill>
                  <a:srgbClr val="1B4332"/>
                </a:solidFill>
              </a:rPr>
              <a:t>• On success → router.replace('/ModeratorDashboard')</a:t>
            </a:r>
            <a:endParaRPr lang="en-US" sz="950" dirty="0"/>
          </a:p>
        </p:txBody>
      </p:sp>
      <p:sp>
        <p:nvSpPr>
          <p:cNvPr id="15" name="Shape 13"/>
          <p:cNvSpPr/>
          <p:nvPr/>
        </p:nvSpPr>
        <p:spPr>
          <a:xfrm>
            <a:off x="365760" y="4937760"/>
            <a:ext cx="5029200" cy="347472"/>
          </a:xfrm>
          <a:prstGeom prst="roundRect">
            <a:avLst>
              <a:gd name="adj" fmla="val 15789"/>
            </a:avLst>
          </a:prstGeom>
          <a:solidFill>
            <a:srgbClr val="D4E6D8"/>
          </a:solidFill>
          <a:ln/>
        </p:spPr>
      </p:sp>
      <p:sp>
        <p:nvSpPr>
          <p:cNvPr id="16" name="Text 14"/>
          <p:cNvSpPr/>
          <p:nvPr/>
        </p:nvSpPr>
        <p:spPr>
          <a:xfrm>
            <a:off x="457200" y="4937760"/>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Moderator Role → Login Screen  or  Dashboard (if session exists)</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Moderator</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  Moderator Login</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Select your role to continue</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  Dining Moderator</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Manage breakfast, lunch &amp; dinner</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  Canteen Moderator</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Manage canteen items &amp; availability</a:t>
            </a:r>
            <a:endParaRPr lang="en-US" sz="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06.10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Moderator Login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Email-password login for moderators. Supports shorthand username entry (auto-appends @rudining.com). Validates role mismatch after authentication.</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728216"/>
          </a:xfrm>
          <a:prstGeom prst="rect">
            <a:avLst/>
          </a:prstGeom>
          <a:noFill/>
          <a:ln/>
        </p:spPr>
        <p:txBody>
          <a:bodyPr wrap="square" lIns="0" tIns="0" rIns="0" bIns="0" rtlCol="0" anchor="ctr"/>
          <a:lstStyle/>
          <a:p>
            <a:pPr marL="0" indent="0">
              <a:buNone/>
            </a:pPr>
            <a:r>
              <a:rPr lang="en-US" sz="950" dirty="0">
                <a:solidFill>
                  <a:srgbClr val="1A1A1A"/>
                </a:solidFill>
              </a:rPr>
              <a:t>• Role badge (Dining/Canteen, color-coded)</a:t>
            </a:r>
            <a:endParaRPr lang="en-US" sz="950" dirty="0"/>
          </a:p>
          <a:p>
            <a:pPr marL="0" indent="0">
              <a:buNone/>
            </a:pPr>
            <a:r>
              <a:rPr lang="en-US" sz="950" dirty="0">
                <a:solidFill>
                  <a:srgbClr val="1A1A1A"/>
                </a:solidFill>
              </a:rPr>
              <a:t>• Login title + description</a:t>
            </a:r>
            <a:endParaRPr lang="en-US" sz="950" dirty="0"/>
          </a:p>
          <a:p>
            <a:pPr marL="0" indent="0">
              <a:buNone/>
            </a:pPr>
            <a:r>
              <a:rPr lang="en-US" sz="950" dirty="0">
                <a:solidFill>
                  <a:srgbClr val="1A1A1A"/>
                </a:solidFill>
              </a:rPr>
              <a:t>• Email/Username TextInput</a:t>
            </a:r>
            <a:endParaRPr lang="en-US" sz="950" dirty="0"/>
          </a:p>
          <a:p>
            <a:pPr marL="0" indent="0">
              <a:buNone/>
            </a:pPr>
            <a:r>
              <a:rPr lang="en-US" sz="950" dirty="0">
                <a:solidFill>
                  <a:srgbClr val="1A1A1A"/>
                </a:solidFill>
              </a:rPr>
              <a:t>• Password TextInput + eye toggle (show/hide)</a:t>
            </a:r>
            <a:endParaRPr lang="en-US" sz="950" dirty="0"/>
          </a:p>
          <a:p>
            <a:pPr marL="0" indent="0">
              <a:buNone/>
            </a:pPr>
            <a:r>
              <a:rPr lang="en-US" sz="950" dirty="0">
                <a:solidFill>
                  <a:srgbClr val="1A1A1A"/>
                </a:solidFill>
              </a:rPr>
              <a:t>• Hint box: email format explanation</a:t>
            </a:r>
            <a:endParaRPr lang="en-US" sz="950" dirty="0"/>
          </a:p>
          <a:p>
            <a:pPr marL="0" indent="0">
              <a:buNone/>
            </a:pPr>
            <a:r>
              <a:rPr lang="en-US" sz="950" dirty="0">
                <a:solidFill>
                  <a:srgbClr val="1A1A1A"/>
                </a:solidFill>
              </a:rPr>
              <a:t>• Login button (role-colored)</a:t>
            </a:r>
            <a:endParaRPr lang="en-US" sz="950" dirty="0"/>
          </a:p>
          <a:p>
            <a:pPr marL="0" indent="0">
              <a:buNone/>
            </a:pPr>
            <a:r>
              <a:rPr lang="en-US" sz="950" dirty="0">
                <a:solidFill>
                  <a:srgbClr val="1A1A1A"/>
                </a:solidFill>
              </a:rPr>
              <a:t>• Back to role select link</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1234440"/>
          </a:xfrm>
          <a:prstGeom prst="rect">
            <a:avLst/>
          </a:prstGeom>
          <a:noFill/>
          <a:ln/>
        </p:spPr>
        <p:txBody>
          <a:bodyPr wrap="square" lIns="0" tIns="0" rIns="0" bIns="0" rtlCol="0" anchor="ctr"/>
          <a:lstStyle/>
          <a:p>
            <a:pPr marL="0" indent="0">
              <a:buNone/>
            </a:pPr>
            <a:r>
              <a:rPr lang="en-US" sz="950" dirty="0">
                <a:solidFill>
                  <a:srgbClr val="1A1A1A"/>
                </a:solidFill>
              </a:rPr>
              <a:t>• Type email or username (e.g. dining.hall_id)</a:t>
            </a:r>
            <a:endParaRPr lang="en-US" sz="950" dirty="0"/>
          </a:p>
          <a:p>
            <a:pPr marL="0" indent="0">
              <a:buNone/>
            </a:pPr>
            <a:r>
              <a:rPr lang="en-US" sz="950" dirty="0">
                <a:solidFill>
                  <a:srgbClr val="1A1A1A"/>
                </a:solidFill>
              </a:rPr>
              <a:t>• Type password</a:t>
            </a:r>
            <a:endParaRPr lang="en-US" sz="950" dirty="0"/>
          </a:p>
          <a:p>
            <a:pPr marL="0" indent="0">
              <a:buNone/>
            </a:pPr>
            <a:r>
              <a:rPr lang="en-US" sz="950" dirty="0">
                <a:solidFill>
                  <a:srgbClr val="1A1A1A"/>
                </a:solidFill>
              </a:rPr>
              <a:t>• Toggle eye icon to show/hide password</a:t>
            </a:r>
            <a:endParaRPr lang="en-US" sz="950" dirty="0"/>
          </a:p>
          <a:p>
            <a:pPr marL="0" indent="0">
              <a:buNone/>
            </a:pPr>
            <a:r>
              <a:rPr lang="en-US" sz="950" dirty="0">
                <a:solidFill>
                  <a:srgbClr val="1A1A1A"/>
                </a:solidFill>
              </a:rPr>
              <a:t>• Tap Login → authenticates</a:t>
            </a:r>
            <a:endParaRPr lang="en-US" sz="950" dirty="0"/>
          </a:p>
          <a:p>
            <a:pPr marL="0" indent="0">
              <a:buNone/>
            </a:pPr>
            <a:r>
              <a:rPr lang="en-US" sz="950" dirty="0">
                <a:solidFill>
                  <a:srgbClr val="1A1A1A"/>
                </a:solidFill>
              </a:rPr>
              <a:t>• Tap Back → Moderator Role Screen</a:t>
            </a:r>
            <a:endParaRPr lang="en-US" sz="950" dirty="0"/>
          </a:p>
        </p:txBody>
      </p:sp>
      <p:sp>
        <p:nvSpPr>
          <p:cNvPr id="12" name="Text 10"/>
          <p:cNvSpPr/>
          <p:nvPr/>
        </p:nvSpPr>
        <p:spPr>
          <a:xfrm>
            <a:off x="365760" y="3401568"/>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639312"/>
            <a:ext cx="5029200" cy="1344168"/>
          </a:xfrm>
          <a:prstGeom prst="roundRect">
            <a:avLst>
              <a:gd name="adj" fmla="val 4082"/>
            </a:avLst>
          </a:prstGeom>
          <a:solidFill>
            <a:srgbClr val="F0F8F0"/>
          </a:solidFill>
          <a:ln/>
        </p:spPr>
      </p:sp>
      <p:sp>
        <p:nvSpPr>
          <p:cNvPr id="14" name="Text 12"/>
          <p:cNvSpPr/>
          <p:nvPr/>
        </p:nvSpPr>
        <p:spPr>
          <a:xfrm>
            <a:off x="475488" y="3675888"/>
            <a:ext cx="4846320" cy="1234440"/>
          </a:xfrm>
          <a:prstGeom prst="rect">
            <a:avLst/>
          </a:prstGeom>
          <a:noFill/>
          <a:ln/>
        </p:spPr>
        <p:txBody>
          <a:bodyPr wrap="square" lIns="0" tIns="0" rIns="0" bIns="0" rtlCol="0" anchor="ctr"/>
          <a:lstStyle/>
          <a:p>
            <a:pPr marL="0" indent="0">
              <a:buNone/>
            </a:pPr>
            <a:r>
              <a:rPr lang="en-US" sz="950" dirty="0">
                <a:solidFill>
                  <a:srgbClr val="1B4332"/>
                </a:solidFill>
              </a:rPr>
              <a:t>• fullEmail = email.includes('@') ? email : email + '@rudining.com'</a:t>
            </a:r>
            <a:endParaRPr lang="en-US" sz="950" dirty="0"/>
          </a:p>
          <a:p>
            <a:pPr marL="0" indent="0">
              <a:buNone/>
            </a:pPr>
            <a:r>
              <a:rPr lang="en-US" sz="950" dirty="0">
                <a:solidFill>
                  <a:srgbClr val="1B4332"/>
                </a:solidFill>
              </a:rPr>
              <a:t>• signInWithEmailAndPassword(auth, fullEmail, password)</a:t>
            </a:r>
            <a:endParaRPr lang="en-US" sz="950" dirty="0"/>
          </a:p>
          <a:p>
            <a:pPr marL="0" indent="0">
              <a:buNone/>
            </a:pPr>
            <a:r>
              <a:rPr lang="en-US" sz="950" dirty="0">
                <a:solidFill>
                  <a:srgbClr val="1B4332"/>
                </a:solidFill>
              </a:rPr>
              <a:t>• getModeratorData(cred.user.uid) → fetch role</a:t>
            </a:r>
            <a:endParaRPr lang="en-US" sz="950" dirty="0"/>
          </a:p>
          <a:p>
            <a:pPr marL="0" indent="0">
              <a:buNone/>
            </a:pPr>
            <a:r>
              <a:rPr lang="en-US" sz="950" dirty="0">
                <a:solidFill>
                  <a:srgbClr val="1B4332"/>
                </a:solidFill>
              </a:rPr>
              <a:t>• modData.role !== role → Alert 'Wrong Role'</a:t>
            </a:r>
            <a:endParaRPr lang="en-US" sz="950" dirty="0"/>
          </a:p>
          <a:p>
            <a:pPr marL="0" indent="0">
              <a:buNone/>
            </a:pPr>
            <a:r>
              <a:rPr lang="en-US" sz="950" dirty="0">
                <a:solidFill>
                  <a:srgbClr val="1B4332"/>
                </a:solidFill>
              </a:rPr>
              <a:t>• On success → router.replace('/ModeratorDashboard')</a:t>
            </a:r>
            <a:endParaRPr lang="en-US" sz="950" dirty="0"/>
          </a:p>
        </p:txBody>
      </p:sp>
      <p:sp>
        <p:nvSpPr>
          <p:cNvPr id="15" name="Shape 13"/>
          <p:cNvSpPr/>
          <p:nvPr/>
        </p:nvSpPr>
        <p:spPr>
          <a:xfrm>
            <a:off x="365760" y="5184648"/>
            <a:ext cx="5029200" cy="347472"/>
          </a:xfrm>
          <a:prstGeom prst="roundRect">
            <a:avLst>
              <a:gd name="adj" fmla="val 15789"/>
            </a:avLst>
          </a:prstGeom>
          <a:solidFill>
            <a:srgbClr val="D4E6D8"/>
          </a:solidFill>
          <a:ln/>
        </p:spPr>
      </p:sp>
      <p:sp>
        <p:nvSpPr>
          <p:cNvPr id="16" name="Text 14"/>
          <p:cNvSpPr/>
          <p:nvPr/>
        </p:nvSpPr>
        <p:spPr>
          <a:xfrm>
            <a:off x="457200" y="5184648"/>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Login Screen → Moderator Dashboard</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Moderator Login</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  DINING MODERATOR</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Dining Login</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Email or Username:</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dining.hall_id  or  email</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Password:  ••••••</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 Login → ]</a:t>
            </a:r>
            <a:endParaRPr lang="en-US" sz="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06.11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Moderator Dashboard</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Central control panel for moderators. Shows hall name, role badge, and date. Lists all available features as tappable cards. Accent color changes based on role (green for dining, purple for canteen).</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728216"/>
          </a:xfrm>
          <a:prstGeom prst="rect">
            <a:avLst/>
          </a:prstGeom>
          <a:noFill/>
          <a:ln/>
        </p:spPr>
        <p:txBody>
          <a:bodyPr wrap="square" lIns="0" tIns="0" rIns="0" bIns="0" rtlCol="0" anchor="ctr"/>
          <a:lstStyle/>
          <a:p>
            <a:pPr marL="0" indent="0">
              <a:buNone/>
            </a:pPr>
            <a:r>
              <a:rPr lang="en-US" sz="950" dirty="0">
                <a:solidFill>
                  <a:srgbClr val="1A1A1A"/>
                </a:solidFill>
              </a:rPr>
              <a:t>• Top card: hall name, role, moderator name, date</a:t>
            </a:r>
            <a:endParaRPr lang="en-US" sz="950" dirty="0"/>
          </a:p>
          <a:p>
            <a:pPr marL="0" indent="0">
              <a:buNone/>
            </a:pPr>
            <a:r>
              <a:rPr lang="en-US" sz="950" dirty="0">
                <a:solidFill>
                  <a:srgbClr val="1A1A1A"/>
                </a:solidFill>
              </a:rPr>
              <a:t>• Logout button (top-right)</a:t>
            </a:r>
            <a:endParaRPr lang="en-US" sz="950" dirty="0"/>
          </a:p>
          <a:p>
            <a:pPr marL="0" indent="0">
              <a:buNone/>
            </a:pPr>
            <a:r>
              <a:rPr lang="en-US" sz="950" dirty="0">
                <a:solidFill>
                  <a:srgbClr val="1A1A1A"/>
                </a:solidFill>
              </a:rPr>
              <a:t>• Feature cards (7): icon + label + description</a:t>
            </a:r>
            <a:endParaRPr lang="en-US" sz="950" dirty="0"/>
          </a:p>
          <a:p>
            <a:pPr marL="0" indent="0">
              <a:buNone/>
            </a:pPr>
            <a:r>
              <a:rPr lang="en-US" sz="950" dirty="0">
                <a:solidFill>
                  <a:srgbClr val="1A1A1A"/>
                </a:solidFill>
              </a:rPr>
              <a:t>• Dining: Quick Status, Menu Editor, Available Food, Notice, Feast, Reset, Verification</a:t>
            </a:r>
            <a:endParaRPr lang="en-US" sz="950" dirty="0"/>
          </a:p>
          <a:p>
            <a:pPr marL="0" indent="0">
              <a:buNone/>
            </a:pPr>
            <a:r>
              <a:rPr lang="en-US" sz="950" dirty="0">
                <a:solidFill>
                  <a:srgbClr val="1A1A1A"/>
                </a:solidFill>
              </a:rPr>
              <a:t>• Canteen: same but for canteen features</a:t>
            </a:r>
            <a:endParaRPr lang="en-US" sz="950" dirty="0"/>
          </a:p>
          <a:p>
            <a:pPr marL="0" indent="0">
              <a:buNone/>
            </a:pPr>
            <a:r>
              <a:rPr lang="en-US" sz="950" dirty="0">
                <a:solidFill>
                  <a:srgbClr val="1A1A1A"/>
                </a:solidFill>
              </a:rPr>
              <a:t>• Back to Home button</a:t>
            </a:r>
            <a:endParaRPr lang="en-US" sz="950" dirty="0"/>
          </a:p>
          <a:p>
            <a:pPr marL="0" indent="0">
              <a:buNone/>
            </a:pPr>
            <a:r>
              <a:rPr lang="en-US" sz="950" dirty="0">
                <a:solidFill>
                  <a:srgbClr val="1A1A1A"/>
                </a:solidFill>
              </a:rPr>
              <a:t>• Logout link (bottom)</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987552"/>
          </a:xfrm>
          <a:prstGeom prst="rect">
            <a:avLst/>
          </a:prstGeom>
          <a:noFill/>
          <a:ln/>
        </p:spPr>
        <p:txBody>
          <a:bodyPr wrap="square" lIns="0" tIns="0" rIns="0" bIns="0" rtlCol="0" anchor="ctr"/>
          <a:lstStyle/>
          <a:p>
            <a:pPr marL="0" indent="0">
              <a:buNone/>
            </a:pPr>
            <a:r>
              <a:rPr lang="en-US" sz="950" dirty="0">
                <a:solidFill>
                  <a:srgbClr val="1A1A1A"/>
                </a:solidFill>
              </a:rPr>
              <a:t>• Tap any feature card → navigate to that screen</a:t>
            </a:r>
            <a:endParaRPr lang="en-US" sz="950" dirty="0"/>
          </a:p>
          <a:p>
            <a:pPr marL="0" indent="0">
              <a:buNone/>
            </a:pPr>
            <a:r>
              <a:rPr lang="en-US" sz="950" dirty="0">
                <a:solidFill>
                  <a:srgbClr val="1A1A1A"/>
                </a:solidFill>
              </a:rPr>
              <a:t>• Tap Logout → confirmation Alert → signOut → Home</a:t>
            </a:r>
            <a:endParaRPr lang="en-US" sz="950" dirty="0"/>
          </a:p>
          <a:p>
            <a:pPr marL="0" indent="0">
              <a:buNone/>
            </a:pPr>
            <a:r>
              <a:rPr lang="en-US" sz="950" dirty="0">
                <a:solidFill>
                  <a:srgbClr val="1A1A1A"/>
                </a:solidFill>
              </a:rPr>
              <a:t>• Tap Back to Home → router.replace('/Home')</a:t>
            </a:r>
            <a:endParaRPr lang="en-US" sz="950" dirty="0"/>
          </a:p>
          <a:p>
            <a:pPr marL="0" indent="0">
              <a:buNone/>
            </a:pPr>
            <a:r>
              <a:rPr lang="en-US" sz="950" dirty="0">
                <a:solidFill>
                  <a:srgbClr val="1A1A1A"/>
                </a:solidFill>
              </a:rPr>
              <a:t>• Accent color adapts: green (dining), purple (canteen)</a:t>
            </a:r>
            <a:endParaRPr lang="en-US" sz="950" dirty="0"/>
          </a:p>
        </p:txBody>
      </p:sp>
      <p:sp>
        <p:nvSpPr>
          <p:cNvPr id="12" name="Text 10"/>
          <p:cNvSpPr/>
          <p:nvPr/>
        </p:nvSpPr>
        <p:spPr>
          <a:xfrm>
            <a:off x="365760" y="3401568"/>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639312"/>
            <a:ext cx="5029200" cy="1097280"/>
          </a:xfrm>
          <a:prstGeom prst="roundRect">
            <a:avLst>
              <a:gd name="adj" fmla="val 5000"/>
            </a:avLst>
          </a:prstGeom>
          <a:solidFill>
            <a:srgbClr val="F0F8F0"/>
          </a:solidFill>
          <a:ln/>
        </p:spPr>
      </p:sp>
      <p:sp>
        <p:nvSpPr>
          <p:cNvPr id="14" name="Text 12"/>
          <p:cNvSpPr/>
          <p:nvPr/>
        </p:nvSpPr>
        <p:spPr>
          <a:xfrm>
            <a:off x="475488" y="3675888"/>
            <a:ext cx="4846320" cy="987552"/>
          </a:xfrm>
          <a:prstGeom prst="rect">
            <a:avLst/>
          </a:prstGeom>
          <a:noFill/>
          <a:ln/>
        </p:spPr>
        <p:txBody>
          <a:bodyPr wrap="square" lIns="0" tIns="0" rIns="0" bIns="0" rtlCol="0" anchor="ctr"/>
          <a:lstStyle/>
          <a:p>
            <a:pPr marL="0" indent="0">
              <a:buNone/>
            </a:pPr>
            <a:r>
              <a:rPr lang="en-US" sz="950" dirty="0">
                <a:solidFill>
                  <a:srgbClr val="1B4332"/>
                </a:solidFill>
              </a:rPr>
              <a:t>• No Firestore read on mount</a:t>
            </a:r>
            <a:endParaRPr lang="en-US" sz="950" dirty="0"/>
          </a:p>
          <a:p>
            <a:pPr marL="0" indent="0">
              <a:buNone/>
            </a:pPr>
            <a:r>
              <a:rPr lang="en-US" sz="950" dirty="0">
                <a:solidFill>
                  <a:srgbClr val="1B4332"/>
                </a:solidFill>
              </a:rPr>
              <a:t>• params from login: hallId, hallName, role, moderatorName</a:t>
            </a:r>
            <a:endParaRPr lang="en-US" sz="950" dirty="0"/>
          </a:p>
          <a:p>
            <a:pPr marL="0" indent="0">
              <a:buNone/>
            </a:pPr>
            <a:r>
              <a:rPr lang="en-US" sz="950" dirty="0">
                <a:solidFill>
                  <a:srgbClr val="1B4332"/>
                </a:solidFill>
              </a:rPr>
              <a:t>• signOut(auth) on logout → clears Firebase session</a:t>
            </a:r>
            <a:endParaRPr lang="en-US" sz="950" dirty="0"/>
          </a:p>
          <a:p>
            <a:pPr marL="0" indent="0">
              <a:buNone/>
            </a:pPr>
            <a:r>
              <a:rPr lang="en-US" sz="950" dirty="0">
                <a:solidFill>
                  <a:srgbClr val="1B4332"/>
                </a:solidFill>
              </a:rPr>
              <a:t>• isDining = role === 'dining' → dynamic menu list</a:t>
            </a:r>
            <a:endParaRPr lang="en-US" sz="950" dirty="0"/>
          </a:p>
        </p:txBody>
      </p:sp>
      <p:sp>
        <p:nvSpPr>
          <p:cNvPr id="15" name="Shape 13"/>
          <p:cNvSpPr/>
          <p:nvPr/>
        </p:nvSpPr>
        <p:spPr>
          <a:xfrm>
            <a:off x="365760" y="4937760"/>
            <a:ext cx="5029200" cy="347472"/>
          </a:xfrm>
          <a:prstGeom prst="roundRect">
            <a:avLst>
              <a:gd name="adj" fmla="val 15789"/>
            </a:avLst>
          </a:prstGeom>
          <a:solidFill>
            <a:srgbClr val="D4E6D8"/>
          </a:solidFill>
          <a:ln/>
        </p:spPr>
      </p:sp>
      <p:sp>
        <p:nvSpPr>
          <p:cNvPr id="16" name="Text 14"/>
          <p:cNvSpPr/>
          <p:nvPr/>
        </p:nvSpPr>
        <p:spPr>
          <a:xfrm>
            <a:off x="457200" y="4937760"/>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Dashboard → Any Feature Screen</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Dashboard</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শহীদ হাবিবুর রহমান হল</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dining • 🍽️ Dining Moderator  📅 today</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 Quick Status</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 Update Dining Menu</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 Available Food Menu</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 Post Notice  •  🎉 Add Feast</a:t>
            </a:r>
            <a:endParaRPr lang="en-US" sz="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06.12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Menu Editor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Full menu editor for Dining Moderators. Three meal tabs (Breakfast/Lunch/Dinner). Each tab supports multiple food items with name, price, count, and status. Includes a Preview mode before saving.</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975104"/>
          </a:xfrm>
          <a:prstGeom prst="rect">
            <a:avLst/>
          </a:prstGeom>
          <a:noFill/>
          <a:ln/>
        </p:spPr>
        <p:txBody>
          <a:bodyPr wrap="square" lIns="0" tIns="0" rIns="0" bIns="0" rtlCol="0" anchor="ctr"/>
          <a:lstStyle/>
          <a:p>
            <a:pPr marL="0" indent="0">
              <a:buNone/>
            </a:pPr>
            <a:r>
              <a:rPr lang="en-US" sz="950" dirty="0">
                <a:solidFill>
                  <a:srgbClr val="1A1A1A"/>
                </a:solidFill>
              </a:rPr>
              <a:t>• Page title + hall info</a:t>
            </a:r>
            <a:endParaRPr lang="en-US" sz="950" dirty="0"/>
          </a:p>
          <a:p>
            <a:pPr marL="0" indent="0">
              <a:buNone/>
            </a:pPr>
            <a:r>
              <a:rPr lang="en-US" sz="950" dirty="0">
                <a:solidFill>
                  <a:srgbClr val="1A1A1A"/>
                </a:solidFill>
              </a:rPr>
              <a:t>• Meal tabs: 🌅 Breakfast | ☀️ Lunch | 🌙 Dinner</a:t>
            </a:r>
            <a:endParaRPr lang="en-US" sz="950" dirty="0"/>
          </a:p>
          <a:p>
            <a:pPr marL="0" indent="0">
              <a:buNone/>
            </a:pPr>
            <a:r>
              <a:rPr lang="en-US" sz="950" dirty="0">
                <a:solidFill>
                  <a:srgbClr val="1A1A1A"/>
                </a:solidFill>
              </a:rPr>
              <a:t>• Time input field per meal</a:t>
            </a:r>
            <a:endParaRPr lang="en-US" sz="950" dirty="0"/>
          </a:p>
          <a:p>
            <a:pPr marL="0" indent="0">
              <a:buNone/>
            </a:pPr>
            <a:r>
              <a:rPr lang="en-US" sz="950" dirty="0">
                <a:solidFill>
                  <a:srgbClr val="1A1A1A"/>
                </a:solidFill>
              </a:rPr>
              <a:t>• 'Add item' button → adds item card</a:t>
            </a:r>
            <a:endParaRPr lang="en-US" sz="950" dirty="0"/>
          </a:p>
          <a:p>
            <a:pPr marL="0" indent="0">
              <a:buNone/>
            </a:pPr>
            <a:r>
              <a:rPr lang="en-US" sz="950" dirty="0">
                <a:solidFill>
                  <a:srgbClr val="1A1A1A"/>
                </a:solidFill>
              </a:rPr>
              <a:t>• Item card: name, price, count, status chips</a:t>
            </a:r>
            <a:endParaRPr lang="en-US" sz="950" dirty="0"/>
          </a:p>
          <a:p>
            <a:pPr marL="0" indent="0">
              <a:buNone/>
            </a:pPr>
            <a:r>
              <a:rPr lang="en-US" sz="950" dirty="0">
                <a:solidFill>
                  <a:srgbClr val="1A1A1A"/>
                </a:solidFill>
              </a:rPr>
              <a:t>• 'Remove' button per item</a:t>
            </a:r>
            <a:endParaRPr lang="en-US" sz="950" dirty="0"/>
          </a:p>
          <a:p>
            <a:pPr marL="0" indent="0">
              <a:buNone/>
            </a:pPr>
            <a:r>
              <a:rPr lang="en-US" sz="950" dirty="0">
                <a:solidFill>
                  <a:srgbClr val="1A1A1A"/>
                </a:solidFill>
              </a:rPr>
              <a:t>• Note input (optional)</a:t>
            </a:r>
            <a:endParaRPr lang="en-US" sz="950" dirty="0"/>
          </a:p>
          <a:p>
            <a:pPr marL="0" indent="0">
              <a:buNone/>
            </a:pPr>
            <a:r>
              <a:rPr lang="en-US" sz="950" dirty="0">
                <a:solidFill>
                  <a:srgbClr val="1A1A1A"/>
                </a:solidFill>
              </a:rPr>
              <a:t>• Preview button + Save Menu button</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1481328"/>
          </a:xfrm>
          <a:prstGeom prst="rect">
            <a:avLst/>
          </a:prstGeom>
          <a:noFill/>
          <a:ln/>
        </p:spPr>
        <p:txBody>
          <a:bodyPr wrap="square" lIns="0" tIns="0" rIns="0" bIns="0" rtlCol="0" anchor="ctr"/>
          <a:lstStyle/>
          <a:p>
            <a:pPr marL="0" indent="0">
              <a:buNone/>
            </a:pPr>
            <a:r>
              <a:rPr lang="en-US" sz="950" dirty="0">
                <a:solidFill>
                  <a:srgbClr val="1A1A1A"/>
                </a:solidFill>
              </a:rPr>
              <a:t>• Switch meal tabs → shows that meal's items</a:t>
            </a:r>
            <a:endParaRPr lang="en-US" sz="950" dirty="0"/>
          </a:p>
          <a:p>
            <a:pPr marL="0" indent="0">
              <a:buNone/>
            </a:pPr>
            <a:r>
              <a:rPr lang="en-US" sz="950" dirty="0">
                <a:solidFill>
                  <a:srgbClr val="1A1A1A"/>
                </a:solidFill>
              </a:rPr>
              <a:t>• Tap '+ Add item' → new item row appears</a:t>
            </a:r>
            <a:endParaRPr lang="en-US" sz="950" dirty="0"/>
          </a:p>
          <a:p>
            <a:pPr marL="0" indent="0">
              <a:buNone/>
            </a:pPr>
            <a:r>
              <a:rPr lang="en-US" sz="950" dirty="0">
                <a:solidFill>
                  <a:srgbClr val="1A1A1A"/>
                </a:solidFill>
              </a:rPr>
              <a:t>• Fill name, price, count → updates state immutably</a:t>
            </a:r>
            <a:endParaRPr lang="en-US" sz="950" dirty="0"/>
          </a:p>
          <a:p>
            <a:pPr marL="0" indent="0">
              <a:buNone/>
            </a:pPr>
            <a:r>
              <a:rPr lang="en-US" sz="950" dirty="0">
                <a:solidFill>
                  <a:srgbClr val="1A1A1A"/>
                </a:solidFill>
              </a:rPr>
              <a:t>• Select status chip (Available/Low/Finished)</a:t>
            </a:r>
            <a:endParaRPr lang="en-US" sz="950" dirty="0"/>
          </a:p>
          <a:p>
            <a:pPr marL="0" indent="0">
              <a:buNone/>
            </a:pPr>
            <a:r>
              <a:rPr lang="en-US" sz="950" dirty="0">
                <a:solidFill>
                  <a:srgbClr val="1A1A1A"/>
                </a:solidFill>
              </a:rPr>
              <a:t>• Tap Preview → Preview Mode</a:t>
            </a:r>
            <a:endParaRPr lang="en-US" sz="950" dirty="0"/>
          </a:p>
          <a:p>
            <a:pPr marL="0" indent="0">
              <a:buNone/>
            </a:pPr>
            <a:r>
              <a:rPr lang="en-US" sz="950" dirty="0">
                <a:solidFill>
                  <a:srgbClr val="1A1A1A"/>
                </a:solidFill>
              </a:rPr>
              <a:t>• Tap Save Menu → validate + save to Firestore</a:t>
            </a:r>
            <a:endParaRPr lang="en-US" sz="950" dirty="0"/>
          </a:p>
        </p:txBody>
      </p:sp>
      <p:sp>
        <p:nvSpPr>
          <p:cNvPr id="12" name="Text 10"/>
          <p:cNvSpPr/>
          <p:nvPr/>
        </p:nvSpPr>
        <p:spPr>
          <a:xfrm>
            <a:off x="365760" y="3648456"/>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886200"/>
            <a:ext cx="5029200" cy="1344168"/>
          </a:xfrm>
          <a:prstGeom prst="roundRect">
            <a:avLst>
              <a:gd name="adj" fmla="val 4082"/>
            </a:avLst>
          </a:prstGeom>
          <a:solidFill>
            <a:srgbClr val="F0F8F0"/>
          </a:solidFill>
          <a:ln/>
        </p:spPr>
      </p:sp>
      <p:sp>
        <p:nvSpPr>
          <p:cNvPr id="14" name="Text 12"/>
          <p:cNvSpPr/>
          <p:nvPr/>
        </p:nvSpPr>
        <p:spPr>
          <a:xfrm>
            <a:off x="475488" y="3922776"/>
            <a:ext cx="4846320" cy="1234440"/>
          </a:xfrm>
          <a:prstGeom prst="rect">
            <a:avLst/>
          </a:prstGeom>
          <a:noFill/>
          <a:ln/>
        </p:spPr>
        <p:txBody>
          <a:bodyPr wrap="square" lIns="0" tIns="0" rIns="0" bIns="0" rtlCol="0" anchor="ctr"/>
          <a:lstStyle/>
          <a:p>
            <a:pPr marL="0" indent="0">
              <a:buNone/>
            </a:pPr>
            <a:r>
              <a:rPr lang="en-US" sz="950" dirty="0">
                <a:solidFill>
                  <a:srgbClr val="1B4332"/>
                </a:solidFill>
              </a:rPr>
              <a:t>• getMenu() on mount → loads existing menu</a:t>
            </a:r>
            <a:endParaRPr lang="en-US" sz="950" dirty="0"/>
          </a:p>
          <a:p>
            <a:pPr marL="0" indent="0">
              <a:buNone/>
            </a:pPr>
            <a:r>
              <a:rPr lang="en-US" sz="950" dirty="0">
                <a:solidFill>
                  <a:srgbClr val="1B4332"/>
                </a:solidFill>
              </a:rPr>
              <a:t>• Immutable state updates via setMeals(prev =&gt; ...)</a:t>
            </a:r>
            <a:endParaRPr lang="en-US" sz="950" dirty="0"/>
          </a:p>
          <a:p>
            <a:pPr marL="0" indent="0">
              <a:buNone/>
            </a:pPr>
            <a:r>
              <a:rPr lang="en-US" sz="950" dirty="0">
                <a:solidFill>
                  <a:srgbClr val="1B4332"/>
                </a:solidFill>
              </a:rPr>
              <a:t>• saveDiningMenu(hallId, today, cleaned, modName) → upsertMenu()</a:t>
            </a:r>
            <a:endParaRPr lang="en-US" sz="950" dirty="0"/>
          </a:p>
          <a:p>
            <a:pPr marL="0" indent="0">
              <a:buNone/>
            </a:pPr>
            <a:r>
              <a:rPr lang="en-US" sz="950" dirty="0">
                <a:solidFill>
                  <a:srgbClr val="1B4332"/>
                </a:solidFill>
              </a:rPr>
              <a:t>• logUpdate(hallId, modName, 'dining', 'Updated dining menu')</a:t>
            </a:r>
            <a:endParaRPr lang="en-US" sz="950" dirty="0"/>
          </a:p>
          <a:p>
            <a:pPr marL="0" indent="0">
              <a:buNone/>
            </a:pPr>
            <a:r>
              <a:rPr lang="en-US" sz="950" dirty="0">
                <a:solidFill>
                  <a:srgbClr val="1B4332"/>
                </a:solidFill>
              </a:rPr>
              <a:t>• Validates price/count (non-negative, numeric) before save</a:t>
            </a:r>
            <a:endParaRPr lang="en-US" sz="950" dirty="0"/>
          </a:p>
        </p:txBody>
      </p:sp>
      <p:sp>
        <p:nvSpPr>
          <p:cNvPr id="15" name="Shape 13"/>
          <p:cNvSpPr/>
          <p:nvPr/>
        </p:nvSpPr>
        <p:spPr>
          <a:xfrm>
            <a:off x="365760" y="5431536"/>
            <a:ext cx="5029200" cy="347472"/>
          </a:xfrm>
          <a:prstGeom prst="roundRect">
            <a:avLst>
              <a:gd name="adj" fmla="val 15789"/>
            </a:avLst>
          </a:prstGeom>
          <a:solidFill>
            <a:srgbClr val="D4E6D8"/>
          </a:solidFill>
          <a:ln/>
        </p:spPr>
      </p:sp>
      <p:sp>
        <p:nvSpPr>
          <p:cNvPr id="16" name="Text 14"/>
          <p:cNvSpPr/>
          <p:nvPr/>
        </p:nvSpPr>
        <p:spPr>
          <a:xfrm>
            <a:off x="457200" y="5431536"/>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Menu Editor → Preview → Success Screen</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Update Menu</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Update Today Menu (Item-wise)</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 Breakfast  ☀️ Lunch  🌙 Dinner</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Time: 7:00 AM - 9:00 AM</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[Item 1] Vat  ৳10  Count: 50</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  Available | Low | Finished</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 Add item     [ Preview ]  [ Save ]</a:t>
            </a:r>
            <a:endParaRPr lang="en-US" sz="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06.13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Quick Status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Faster status update tool. Moderators can change item status (Available/Low/Finished) and count for all meal items without editing the full menu. Includes bulk 'All Available/Low/Finished' buttons.</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728216"/>
          </a:xfrm>
          <a:prstGeom prst="rect">
            <a:avLst/>
          </a:prstGeom>
          <a:noFill/>
          <a:ln/>
        </p:spPr>
        <p:txBody>
          <a:bodyPr wrap="square" lIns="0" tIns="0" rIns="0" bIns="0" rtlCol="0" anchor="ctr"/>
          <a:lstStyle/>
          <a:p>
            <a:pPr marL="0" indent="0">
              <a:buNone/>
            </a:pPr>
            <a:r>
              <a:rPr lang="en-US" sz="950" dirty="0">
                <a:solidFill>
                  <a:srgbClr val="1A1A1A"/>
                </a:solidFill>
              </a:rPr>
              <a:t>• Page title + hall/date info</a:t>
            </a:r>
            <a:endParaRPr lang="en-US" sz="950" dirty="0"/>
          </a:p>
          <a:p>
            <a:pPr marL="0" indent="0">
              <a:buNone/>
            </a:pPr>
            <a:r>
              <a:rPr lang="en-US" sz="950" dirty="0">
                <a:solidFill>
                  <a:srgbClr val="1A1A1A"/>
                </a:solidFill>
              </a:rPr>
              <a:t>• Meal blocks: Breakfast, Lunch, Dinner</a:t>
            </a:r>
            <a:endParaRPr lang="en-US" sz="950" dirty="0"/>
          </a:p>
          <a:p>
            <a:pPr marL="0" indent="0">
              <a:buNone/>
            </a:pPr>
            <a:r>
              <a:rPr lang="en-US" sz="950" dirty="0">
                <a:solidFill>
                  <a:srgbClr val="1A1A1A"/>
                </a:solidFill>
              </a:rPr>
              <a:t>• Bulk action row per meal: All Available / All Low / All Finished</a:t>
            </a:r>
            <a:endParaRPr lang="en-US" sz="950" dirty="0"/>
          </a:p>
          <a:p>
            <a:pPr marL="0" indent="0">
              <a:buNone/>
            </a:pPr>
            <a:r>
              <a:rPr lang="en-US" sz="950" dirty="0">
                <a:solidFill>
                  <a:srgbClr val="1A1A1A"/>
                </a:solidFill>
              </a:rPr>
              <a:t>• Item card per food item: name, price</a:t>
            </a:r>
            <a:endParaRPr lang="en-US" sz="950" dirty="0"/>
          </a:p>
          <a:p>
            <a:pPr marL="0" indent="0">
              <a:buNone/>
            </a:pPr>
            <a:r>
              <a:rPr lang="en-US" sz="950" dirty="0">
                <a:solidFill>
                  <a:srgbClr val="1A1A1A"/>
                </a:solidFill>
              </a:rPr>
              <a:t>• Count TextInput (editable inline)</a:t>
            </a:r>
            <a:endParaRPr lang="en-US" sz="950" dirty="0"/>
          </a:p>
          <a:p>
            <a:pPr marL="0" indent="0">
              <a:buNone/>
            </a:pPr>
            <a:r>
              <a:rPr lang="en-US" sz="950" dirty="0">
                <a:solidFill>
                  <a:srgbClr val="1A1A1A"/>
                </a:solidFill>
              </a:rPr>
              <a:t>• Status chips per item</a:t>
            </a:r>
            <a:endParaRPr lang="en-US" sz="950" dirty="0"/>
          </a:p>
          <a:p>
            <a:pPr marL="0" indent="0">
              <a:buNone/>
            </a:pPr>
            <a:r>
              <a:rPr lang="en-US" sz="950" dirty="0">
                <a:solidFill>
                  <a:srgbClr val="1A1A1A"/>
                </a:solidFill>
              </a:rPr>
              <a:t>• Save Updates button</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1234440"/>
          </a:xfrm>
          <a:prstGeom prst="rect">
            <a:avLst/>
          </a:prstGeom>
          <a:noFill/>
          <a:ln/>
        </p:spPr>
        <p:txBody>
          <a:bodyPr wrap="square" lIns="0" tIns="0" rIns="0" bIns="0" rtlCol="0" anchor="ctr"/>
          <a:lstStyle/>
          <a:p>
            <a:pPr marL="0" indent="0">
              <a:buNone/>
            </a:pPr>
            <a:r>
              <a:rPr lang="en-US" sz="950" dirty="0">
                <a:solidFill>
                  <a:srgbClr val="1A1A1A"/>
                </a:solidFill>
              </a:rPr>
              <a:t>• Tap 'All Available' → sets all items in that meal to available</a:t>
            </a:r>
            <a:endParaRPr lang="en-US" sz="950" dirty="0"/>
          </a:p>
          <a:p>
            <a:pPr marL="0" indent="0">
              <a:buNone/>
            </a:pPr>
            <a:r>
              <a:rPr lang="en-US" sz="950" dirty="0">
                <a:solidFill>
                  <a:srgbClr val="1A1A1A"/>
                </a:solidFill>
              </a:rPr>
              <a:t>• Tap 'All Low' / 'All Finished' → bulk update</a:t>
            </a:r>
            <a:endParaRPr lang="en-US" sz="950" dirty="0"/>
          </a:p>
          <a:p>
            <a:pPr marL="0" indent="0">
              <a:buNone/>
            </a:pPr>
            <a:r>
              <a:rPr lang="en-US" sz="950" dirty="0">
                <a:solidFill>
                  <a:srgbClr val="1A1A1A"/>
                </a:solidFill>
              </a:rPr>
              <a:t>• Tap individual status chip → changes that item only</a:t>
            </a:r>
            <a:endParaRPr lang="en-US" sz="950" dirty="0"/>
          </a:p>
          <a:p>
            <a:pPr marL="0" indent="0">
              <a:buNone/>
            </a:pPr>
            <a:r>
              <a:rPr lang="en-US" sz="950" dirty="0">
                <a:solidFill>
                  <a:srgbClr val="1A1A1A"/>
                </a:solidFill>
              </a:rPr>
              <a:t>• Edit count → updates state</a:t>
            </a:r>
            <a:endParaRPr lang="en-US" sz="950" dirty="0"/>
          </a:p>
          <a:p>
            <a:pPr marL="0" indent="0">
              <a:buNone/>
            </a:pPr>
            <a:r>
              <a:rPr lang="en-US" sz="950" dirty="0">
                <a:solidFill>
                  <a:srgbClr val="1A1A1A"/>
                </a:solidFill>
              </a:rPr>
              <a:t>• Tap Save Updates → saves to Firestore</a:t>
            </a:r>
            <a:endParaRPr lang="en-US" sz="950" dirty="0"/>
          </a:p>
        </p:txBody>
      </p:sp>
      <p:sp>
        <p:nvSpPr>
          <p:cNvPr id="12" name="Text 10"/>
          <p:cNvSpPr/>
          <p:nvPr/>
        </p:nvSpPr>
        <p:spPr>
          <a:xfrm>
            <a:off x="365760" y="3401568"/>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639312"/>
            <a:ext cx="5029200" cy="1344168"/>
          </a:xfrm>
          <a:prstGeom prst="roundRect">
            <a:avLst>
              <a:gd name="adj" fmla="val 4082"/>
            </a:avLst>
          </a:prstGeom>
          <a:solidFill>
            <a:srgbClr val="F0F8F0"/>
          </a:solidFill>
          <a:ln/>
        </p:spPr>
      </p:sp>
      <p:sp>
        <p:nvSpPr>
          <p:cNvPr id="14" name="Text 12"/>
          <p:cNvSpPr/>
          <p:nvPr/>
        </p:nvSpPr>
        <p:spPr>
          <a:xfrm>
            <a:off x="475488" y="3675888"/>
            <a:ext cx="4846320" cy="1234440"/>
          </a:xfrm>
          <a:prstGeom prst="rect">
            <a:avLst/>
          </a:prstGeom>
          <a:noFill/>
          <a:ln/>
        </p:spPr>
        <p:txBody>
          <a:bodyPr wrap="square" lIns="0" tIns="0" rIns="0" bIns="0" rtlCol="0" anchor="ctr"/>
          <a:lstStyle/>
          <a:p>
            <a:pPr marL="0" indent="0">
              <a:buNone/>
            </a:pPr>
            <a:r>
              <a:rPr lang="en-US" sz="950" dirty="0">
                <a:solidFill>
                  <a:srgbClr val="1B4332"/>
                </a:solidFill>
              </a:rPr>
              <a:t>• getMenu(hallId, today) on mount</a:t>
            </a:r>
            <a:endParaRPr lang="en-US" sz="950" dirty="0"/>
          </a:p>
          <a:p>
            <a:pPr marL="0" indent="0">
              <a:buNone/>
            </a:pPr>
            <a:r>
              <a:rPr lang="en-US" sz="950" dirty="0">
                <a:solidFill>
                  <a:srgbClr val="1B4332"/>
                </a:solidFill>
              </a:rPr>
              <a:t>• updateItemStatus/updateItemCount use immutable spread pattern</a:t>
            </a:r>
            <a:endParaRPr lang="en-US" sz="950" dirty="0"/>
          </a:p>
          <a:p>
            <a:pPr marL="0" indent="0">
              <a:buNone/>
            </a:pPr>
            <a:r>
              <a:rPr lang="en-US" sz="950" dirty="0">
                <a:solidFill>
                  <a:srgbClr val="1B4332"/>
                </a:solidFill>
              </a:rPr>
              <a:t>• applyAll(meal, status) → maps all items to new status</a:t>
            </a:r>
            <a:endParaRPr lang="en-US" sz="950" dirty="0"/>
          </a:p>
          <a:p>
            <a:pPr marL="0" indent="0">
              <a:buNone/>
            </a:pPr>
            <a:r>
              <a:rPr lang="en-US" sz="950" dirty="0">
                <a:solidFill>
                  <a:srgbClr val="1B4332"/>
                </a:solidFill>
              </a:rPr>
              <a:t>• quickUpdateDining(hallId, today, meals) → upsertMenu({ dining: meals })</a:t>
            </a:r>
            <a:endParaRPr lang="en-US" sz="950" dirty="0"/>
          </a:p>
          <a:p>
            <a:pPr marL="0" indent="0">
              <a:buNone/>
            </a:pPr>
            <a:r>
              <a:rPr lang="en-US" sz="950" dirty="0">
                <a:solidFill>
                  <a:srgbClr val="1B4332"/>
                </a:solidFill>
              </a:rPr>
              <a:t>• Alert on success → router.back()</a:t>
            </a:r>
            <a:endParaRPr lang="en-US" sz="950" dirty="0"/>
          </a:p>
        </p:txBody>
      </p:sp>
      <p:sp>
        <p:nvSpPr>
          <p:cNvPr id="15" name="Shape 13"/>
          <p:cNvSpPr/>
          <p:nvPr/>
        </p:nvSpPr>
        <p:spPr>
          <a:xfrm>
            <a:off x="365760" y="5184648"/>
            <a:ext cx="5029200" cy="347472"/>
          </a:xfrm>
          <a:prstGeom prst="roundRect">
            <a:avLst>
              <a:gd name="adj" fmla="val 15789"/>
            </a:avLst>
          </a:prstGeom>
          <a:solidFill>
            <a:srgbClr val="D4E6D8"/>
          </a:solidFill>
          <a:ln/>
        </p:spPr>
      </p:sp>
      <p:sp>
        <p:nvSpPr>
          <p:cNvPr id="16" name="Text 14"/>
          <p:cNvSpPr/>
          <p:nvPr/>
        </p:nvSpPr>
        <p:spPr>
          <a:xfrm>
            <a:off x="457200" y="5184648"/>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Quick Status → Dashboard (on save)</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Quick Update</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Quick Status Update (Item-wise)</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Breakfast:</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[All Available] [All Low] [All Finished]</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Vat  ৳10   Count: [45]</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  ✅ Available | Low | Finished</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Dim  ৳20   Count: [5]  ⚠️ Low</a:t>
            </a:r>
            <a:endParaRPr lang="en-US" sz="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06.14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Available Food (Serve Count)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Live serving interface. Moderators tap '−' to serve one portion — the count decrements and the status automatically updates to Limited (≤10) or Finished (0).</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975104"/>
          </a:xfrm>
          <a:prstGeom prst="rect">
            <a:avLst/>
          </a:prstGeom>
          <a:noFill/>
          <a:ln/>
        </p:spPr>
        <p:txBody>
          <a:bodyPr wrap="square" lIns="0" tIns="0" rIns="0" bIns="0" rtlCol="0" anchor="ctr"/>
          <a:lstStyle/>
          <a:p>
            <a:pPr marL="0" indent="0">
              <a:buNone/>
            </a:pPr>
            <a:r>
              <a:rPr lang="en-US" sz="950" dirty="0">
                <a:solidFill>
                  <a:srgbClr val="1A1A1A"/>
                </a:solidFill>
              </a:rPr>
              <a:t>• Page title (Dining/Canteen adaptive)</a:t>
            </a:r>
            <a:endParaRPr lang="en-US" sz="950" dirty="0"/>
          </a:p>
          <a:p>
            <a:pPr marL="0" indent="0">
              <a:buNone/>
            </a:pPr>
            <a:r>
              <a:rPr lang="en-US" sz="950" dirty="0">
                <a:solidFill>
                  <a:srgbClr val="1A1A1A"/>
                </a:solidFill>
              </a:rPr>
              <a:t>• Info banner: 'Tap − to reduce count by 1'</a:t>
            </a:r>
            <a:endParaRPr lang="en-US" sz="950" dirty="0"/>
          </a:p>
          <a:p>
            <a:pPr marL="0" indent="0">
              <a:buNone/>
            </a:pPr>
            <a:r>
              <a:rPr lang="en-US" sz="950" dirty="0">
                <a:solidFill>
                  <a:srgbClr val="1A1A1A"/>
                </a:solidFill>
              </a:rPr>
              <a:t>• Dining: meal tabs (Breakfast/Lunch/Dinner)</a:t>
            </a:r>
            <a:endParaRPr lang="en-US" sz="950" dirty="0"/>
          </a:p>
          <a:p>
            <a:pPr marL="0" indent="0">
              <a:buNone/>
            </a:pPr>
            <a:r>
              <a:rPr lang="en-US" sz="950" dirty="0">
                <a:solidFill>
                  <a:srgbClr val="1A1A1A"/>
                </a:solidFill>
              </a:rPr>
              <a:t>• Canteen: no tabs — all items shown</a:t>
            </a:r>
            <a:endParaRPr lang="en-US" sz="950" dirty="0"/>
          </a:p>
          <a:p>
            <a:pPr marL="0" indent="0">
              <a:buNone/>
            </a:pPr>
            <a:r>
              <a:rPr lang="en-US" sz="950" dirty="0">
                <a:solidFill>
                  <a:srgbClr val="1A1A1A"/>
                </a:solidFill>
              </a:rPr>
              <a:t>• Item cards: emoji, name, price</a:t>
            </a:r>
            <a:endParaRPr lang="en-US" sz="950" dirty="0"/>
          </a:p>
          <a:p>
            <a:pPr marL="0" indent="0">
              <a:buNone/>
            </a:pPr>
            <a:r>
              <a:rPr lang="en-US" sz="950" dirty="0">
                <a:solidFill>
                  <a:srgbClr val="1A1A1A"/>
                </a:solidFill>
              </a:rPr>
              <a:t>• Remaining count badge (green/orange/red)</a:t>
            </a:r>
            <a:endParaRPr lang="en-US" sz="950" dirty="0"/>
          </a:p>
          <a:p>
            <a:pPr marL="0" indent="0">
              <a:buNone/>
            </a:pPr>
            <a:r>
              <a:rPr lang="en-US" sz="950" dirty="0">
                <a:solidFill>
                  <a:srgbClr val="1A1A1A"/>
                </a:solidFill>
              </a:rPr>
              <a:t>• '−' serve button per available item</a:t>
            </a:r>
            <a:endParaRPr lang="en-US" sz="950" dirty="0"/>
          </a:p>
          <a:p>
            <a:pPr marL="0" indent="0">
              <a:buNone/>
            </a:pPr>
            <a:r>
              <a:rPr lang="en-US" sz="950" dirty="0">
                <a:solidFill>
                  <a:srgbClr val="1A1A1A"/>
                </a:solidFill>
              </a:rPr>
              <a:t>• 'Details' link for finished items</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1234440"/>
          </a:xfrm>
          <a:prstGeom prst="rect">
            <a:avLst/>
          </a:prstGeom>
          <a:noFill/>
          <a:ln/>
        </p:spPr>
        <p:txBody>
          <a:bodyPr wrap="square" lIns="0" tIns="0" rIns="0" bIns="0" rtlCol="0" anchor="ctr"/>
          <a:lstStyle/>
          <a:p>
            <a:pPr marL="0" indent="0">
              <a:buNone/>
            </a:pPr>
            <a:r>
              <a:rPr lang="en-US" sz="950" dirty="0">
                <a:solidFill>
                  <a:srgbClr val="1A1A1A"/>
                </a:solidFill>
              </a:rPr>
              <a:t>• Switch meal tab → shows that meal</a:t>
            </a:r>
            <a:endParaRPr lang="en-US" sz="950" dirty="0"/>
          </a:p>
          <a:p>
            <a:pPr marL="0" indent="0">
              <a:buNone/>
            </a:pPr>
            <a:r>
              <a:rPr lang="en-US" sz="950" dirty="0">
                <a:solidFill>
                  <a:srgbClr val="1A1A1A"/>
                </a:solidFill>
              </a:rPr>
              <a:t>• Tap '−' → reduces count by 1</a:t>
            </a:r>
            <a:endParaRPr lang="en-US" sz="950" dirty="0"/>
          </a:p>
          <a:p>
            <a:pPr marL="0" indent="0">
              <a:buNone/>
            </a:pPr>
            <a:r>
              <a:rPr lang="en-US" sz="950" dirty="0">
                <a:solidFill>
                  <a:srgbClr val="1A1A1A"/>
                </a:solidFill>
              </a:rPr>
              <a:t>• Count = 0 → Alert 'Finished!', badge turns red</a:t>
            </a:r>
            <a:endParaRPr lang="en-US" sz="950" dirty="0"/>
          </a:p>
          <a:p>
            <a:pPr marL="0" indent="0">
              <a:buNone/>
            </a:pPr>
            <a:r>
              <a:rPr lang="en-US" sz="950" dirty="0">
                <a:solidFill>
                  <a:srgbClr val="1A1A1A"/>
                </a:solidFill>
              </a:rPr>
              <a:t>• Count ≤ 10 → badge turns orange (LOW)</a:t>
            </a:r>
            <a:endParaRPr lang="en-US" sz="950" dirty="0"/>
          </a:p>
          <a:p>
            <a:pPr marL="0" indent="0">
              <a:buNone/>
            </a:pPr>
            <a:r>
              <a:rPr lang="en-US" sz="950" dirty="0">
                <a:solidFill>
                  <a:srgbClr val="1A1A1A"/>
                </a:solidFill>
              </a:rPr>
              <a:t>• Tap 'Details' (finished) → Food Detail Screen</a:t>
            </a:r>
            <a:endParaRPr lang="en-US" sz="950" dirty="0"/>
          </a:p>
        </p:txBody>
      </p:sp>
      <p:sp>
        <p:nvSpPr>
          <p:cNvPr id="12" name="Text 10"/>
          <p:cNvSpPr/>
          <p:nvPr/>
        </p:nvSpPr>
        <p:spPr>
          <a:xfrm>
            <a:off x="365760" y="3648456"/>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886200"/>
            <a:ext cx="5029200" cy="1344168"/>
          </a:xfrm>
          <a:prstGeom prst="roundRect">
            <a:avLst>
              <a:gd name="adj" fmla="val 4082"/>
            </a:avLst>
          </a:prstGeom>
          <a:solidFill>
            <a:srgbClr val="F0F8F0"/>
          </a:solidFill>
          <a:ln/>
        </p:spPr>
      </p:sp>
      <p:sp>
        <p:nvSpPr>
          <p:cNvPr id="14" name="Text 12"/>
          <p:cNvSpPr/>
          <p:nvPr/>
        </p:nvSpPr>
        <p:spPr>
          <a:xfrm>
            <a:off x="475488" y="3922776"/>
            <a:ext cx="4846320" cy="1234440"/>
          </a:xfrm>
          <a:prstGeom prst="rect">
            <a:avLst/>
          </a:prstGeom>
          <a:noFill/>
          <a:ln/>
        </p:spPr>
        <p:txBody>
          <a:bodyPr wrap="square" lIns="0" tIns="0" rIns="0" bIns="0" rtlCol="0" anchor="ctr"/>
          <a:lstStyle/>
          <a:p>
            <a:pPr marL="0" indent="0">
              <a:buNone/>
            </a:pPr>
            <a:r>
              <a:rPr lang="en-US" sz="950" dirty="0">
                <a:solidFill>
                  <a:srgbClr val="1B4332"/>
                </a:solidFill>
              </a:rPr>
              <a:t>• getMenu(hallId, today) on mount</a:t>
            </a:r>
            <a:endParaRPr lang="en-US" sz="950" dirty="0"/>
          </a:p>
          <a:p>
            <a:pPr marL="0" indent="0">
              <a:buNone/>
            </a:pPr>
            <a:r>
              <a:rPr lang="en-US" sz="950" dirty="0">
                <a:solidFill>
                  <a:srgbClr val="1B4332"/>
                </a:solidFill>
              </a:rPr>
              <a:t>• handleServe() → item.count - 1, status auto-set</a:t>
            </a:r>
            <a:endParaRPr lang="en-US" sz="950" dirty="0"/>
          </a:p>
          <a:p>
            <a:pPr marL="0" indent="0">
              <a:buNone/>
            </a:pPr>
            <a:r>
              <a:rPr lang="en-US" sz="950" dirty="0">
                <a:solidFill>
                  <a:srgbClr val="1B4332"/>
                </a:solidFill>
              </a:rPr>
              <a:t>• upsertMenu(hallId, today, { dining: updatedMeals })</a:t>
            </a:r>
            <a:endParaRPr lang="en-US" sz="950" dirty="0"/>
          </a:p>
          <a:p>
            <a:pPr marL="0" indent="0">
              <a:buNone/>
            </a:pPr>
            <a:r>
              <a:rPr lang="en-US" sz="950" dirty="0">
                <a:solidFill>
                  <a:srgbClr val="1B4332"/>
                </a:solidFill>
              </a:rPr>
              <a:t>• Alert when count hits 0 (FINISHED)</a:t>
            </a:r>
            <a:endParaRPr lang="en-US" sz="950" dirty="0"/>
          </a:p>
          <a:p>
            <a:pPr marL="0" indent="0">
              <a:buNone/>
            </a:pPr>
            <a:r>
              <a:rPr lang="en-US" sz="950" dirty="0">
                <a:solidFill>
                  <a:srgbClr val="1B4332"/>
                </a:solidFill>
              </a:rPr>
              <a:t>• Known: race condition if two devices serve simultaneously</a:t>
            </a:r>
            <a:endParaRPr lang="en-US" sz="950" dirty="0"/>
          </a:p>
        </p:txBody>
      </p:sp>
      <p:sp>
        <p:nvSpPr>
          <p:cNvPr id="15" name="Shape 13"/>
          <p:cNvSpPr/>
          <p:nvPr/>
        </p:nvSpPr>
        <p:spPr>
          <a:xfrm>
            <a:off x="365760" y="5431536"/>
            <a:ext cx="5029200" cy="347472"/>
          </a:xfrm>
          <a:prstGeom prst="roundRect">
            <a:avLst>
              <a:gd name="adj" fmla="val 15789"/>
            </a:avLst>
          </a:prstGeom>
          <a:solidFill>
            <a:srgbClr val="D4E6D8"/>
          </a:solidFill>
          <a:ln/>
        </p:spPr>
      </p:sp>
      <p:sp>
        <p:nvSpPr>
          <p:cNvPr id="16" name="Text 14"/>
          <p:cNvSpPr/>
          <p:nvPr/>
        </p:nvSpPr>
        <p:spPr>
          <a:xfrm>
            <a:off x="457200" y="5431536"/>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Available Food → Dashboard  /  Food Detail (for finished items)</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Available Food</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 Available Food Menu</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Tap − to reduce count when serving</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 Breakfast  ☀️ Lunch  🌙 Dinner</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 Vat  ৳10   [Remaining: 45] [−]</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 Dim  ৳20   [Remaining: 8]  ⚠️ [−]</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 Chicken  [FINISHED]  [Details]</a:t>
            </a:r>
            <a:endParaRPr lang="en-US" sz="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06.15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Canteen Menu Editor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Canteen menu creation and editing. Similar to Dining Menu Editor but with a single list (no meal tabs). Includes Preview mode and Save. Price and count per item.</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481328"/>
          </a:xfrm>
          <a:prstGeom prst="rect">
            <a:avLst/>
          </a:prstGeom>
          <a:noFill/>
          <a:ln/>
        </p:spPr>
        <p:txBody>
          <a:bodyPr wrap="square" lIns="0" tIns="0" rIns="0" bIns="0" rtlCol="0" anchor="ctr"/>
          <a:lstStyle/>
          <a:p>
            <a:pPr marL="0" indent="0">
              <a:buNone/>
            </a:pPr>
            <a:r>
              <a:rPr lang="en-US" sz="950" dirty="0">
                <a:solidFill>
                  <a:srgbClr val="1A1A1A"/>
                </a:solidFill>
              </a:rPr>
              <a:t>• Page title + hall/date info</a:t>
            </a:r>
            <a:endParaRPr lang="en-US" sz="950" dirty="0"/>
          </a:p>
          <a:p>
            <a:pPr marL="0" indent="0">
              <a:buNone/>
            </a:pPr>
            <a:r>
              <a:rPr lang="en-US" sz="950" dirty="0">
                <a:solidFill>
                  <a:srgbClr val="1A1A1A"/>
                </a:solidFill>
              </a:rPr>
              <a:t>• Canteen block header + '+ Add item' button</a:t>
            </a:r>
            <a:endParaRPr lang="en-US" sz="950" dirty="0"/>
          </a:p>
          <a:p>
            <a:pPr marL="0" indent="0">
              <a:buNone/>
            </a:pPr>
            <a:r>
              <a:rPr lang="en-US" sz="950" dirty="0">
                <a:solidFill>
                  <a:srgbClr val="1A1A1A"/>
                </a:solidFill>
              </a:rPr>
              <a:t>• Item cards: name, price, count inputs, status chips</a:t>
            </a:r>
            <a:endParaRPr lang="en-US" sz="950" dirty="0"/>
          </a:p>
          <a:p>
            <a:pPr marL="0" indent="0">
              <a:buNone/>
            </a:pPr>
            <a:r>
              <a:rPr lang="en-US" sz="950" dirty="0">
                <a:solidFill>
                  <a:srgbClr val="1A1A1A"/>
                </a:solidFill>
              </a:rPr>
              <a:t>• Remove button per item</a:t>
            </a:r>
            <a:endParaRPr lang="en-US" sz="950" dirty="0"/>
          </a:p>
          <a:p>
            <a:pPr marL="0" indent="0">
              <a:buNone/>
            </a:pPr>
            <a:r>
              <a:rPr lang="en-US" sz="950" dirty="0">
                <a:solidFill>
                  <a:srgbClr val="1A1A1A"/>
                </a:solidFill>
              </a:rPr>
              <a:t>• Preview button → student-facing preview</a:t>
            </a:r>
            <a:endParaRPr lang="en-US" sz="950" dirty="0"/>
          </a:p>
          <a:p>
            <a:pPr marL="0" indent="0">
              <a:buNone/>
            </a:pPr>
            <a:r>
              <a:rPr lang="en-US" sz="950" dirty="0">
                <a:solidFill>
                  <a:srgbClr val="1A1A1A"/>
                </a:solidFill>
              </a:rPr>
              <a:t>• Save Canteen Menu button</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1234440"/>
          </a:xfrm>
          <a:prstGeom prst="rect">
            <a:avLst/>
          </a:prstGeom>
          <a:noFill/>
          <a:ln/>
        </p:spPr>
        <p:txBody>
          <a:bodyPr wrap="square" lIns="0" tIns="0" rIns="0" bIns="0" rtlCol="0" anchor="ctr"/>
          <a:lstStyle/>
          <a:p>
            <a:pPr marL="0" indent="0">
              <a:buNone/>
            </a:pPr>
            <a:r>
              <a:rPr lang="en-US" sz="950" dirty="0">
                <a:solidFill>
                  <a:srgbClr val="1A1A1A"/>
                </a:solidFill>
              </a:rPr>
              <a:t>• Tap '+ Add item' → add new canteen item</a:t>
            </a:r>
            <a:endParaRPr lang="en-US" sz="950" dirty="0"/>
          </a:p>
          <a:p>
            <a:pPr marL="0" indent="0">
              <a:buNone/>
            </a:pPr>
            <a:r>
              <a:rPr lang="en-US" sz="950" dirty="0">
                <a:solidFill>
                  <a:srgbClr val="1A1A1A"/>
                </a:solidFill>
              </a:rPr>
              <a:t>• Fill name/price/count → state updates</a:t>
            </a:r>
            <a:endParaRPr lang="en-US" sz="950" dirty="0"/>
          </a:p>
          <a:p>
            <a:pPr marL="0" indent="0">
              <a:buNone/>
            </a:pPr>
            <a:r>
              <a:rPr lang="en-US" sz="950" dirty="0">
                <a:solidFill>
                  <a:srgbClr val="1A1A1A"/>
                </a:solidFill>
              </a:rPr>
              <a:t>• Set status per item</a:t>
            </a:r>
            <a:endParaRPr lang="en-US" sz="950" dirty="0"/>
          </a:p>
          <a:p>
            <a:pPr marL="0" indent="0">
              <a:buNone/>
            </a:pPr>
            <a:r>
              <a:rPr lang="en-US" sz="950" dirty="0">
                <a:solidFill>
                  <a:srgbClr val="1A1A1A"/>
                </a:solidFill>
              </a:rPr>
              <a:t>• Tap Preview → see canteen preview screen</a:t>
            </a:r>
            <a:endParaRPr lang="en-US" sz="950" dirty="0"/>
          </a:p>
          <a:p>
            <a:pPr marL="0" indent="0">
              <a:buNone/>
            </a:pPr>
            <a:r>
              <a:rPr lang="en-US" sz="950" dirty="0">
                <a:solidFill>
                  <a:srgbClr val="1A1A1A"/>
                </a:solidFill>
              </a:rPr>
              <a:t>• Tap Save → validate + write to Firestore</a:t>
            </a:r>
            <a:endParaRPr lang="en-US" sz="950" dirty="0"/>
          </a:p>
        </p:txBody>
      </p:sp>
      <p:sp>
        <p:nvSpPr>
          <p:cNvPr id="12" name="Text 10"/>
          <p:cNvSpPr/>
          <p:nvPr/>
        </p:nvSpPr>
        <p:spPr>
          <a:xfrm>
            <a:off x="365760" y="315468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392424"/>
            <a:ext cx="5029200" cy="1097280"/>
          </a:xfrm>
          <a:prstGeom prst="roundRect">
            <a:avLst>
              <a:gd name="adj" fmla="val 5000"/>
            </a:avLst>
          </a:prstGeom>
          <a:solidFill>
            <a:srgbClr val="F0F8F0"/>
          </a:solidFill>
          <a:ln/>
        </p:spPr>
      </p:sp>
      <p:sp>
        <p:nvSpPr>
          <p:cNvPr id="14" name="Text 12"/>
          <p:cNvSpPr/>
          <p:nvPr/>
        </p:nvSpPr>
        <p:spPr>
          <a:xfrm>
            <a:off x="475488" y="3429000"/>
            <a:ext cx="4846320" cy="987552"/>
          </a:xfrm>
          <a:prstGeom prst="rect">
            <a:avLst/>
          </a:prstGeom>
          <a:noFill/>
          <a:ln/>
        </p:spPr>
        <p:txBody>
          <a:bodyPr wrap="square" lIns="0" tIns="0" rIns="0" bIns="0" rtlCol="0" anchor="ctr"/>
          <a:lstStyle/>
          <a:p>
            <a:pPr marL="0" indent="0">
              <a:buNone/>
            </a:pPr>
            <a:r>
              <a:rPr lang="en-US" sz="950" dirty="0">
                <a:solidFill>
                  <a:srgbClr val="1B4332"/>
                </a:solidFill>
              </a:rPr>
              <a:t>• getMenu() on mount → loads canteen.items</a:t>
            </a:r>
            <a:endParaRPr lang="en-US" sz="950" dirty="0"/>
          </a:p>
          <a:p>
            <a:pPr marL="0" indent="0">
              <a:buNone/>
            </a:pPr>
            <a:r>
              <a:rPr lang="en-US" sz="950" dirty="0">
                <a:solidFill>
                  <a:srgbClr val="1B4332"/>
                </a:solidFill>
              </a:rPr>
              <a:t>• saveCanteenMenu(hallId, today, cleaned, modName) → upsertMenu({ canteen: { items } })</a:t>
            </a:r>
            <a:endParaRPr lang="en-US" sz="950" dirty="0"/>
          </a:p>
          <a:p>
            <a:pPr marL="0" indent="0">
              <a:buNone/>
            </a:pPr>
            <a:r>
              <a:rPr lang="en-US" sz="950" dirty="0">
                <a:solidFill>
                  <a:srgbClr val="1B4332"/>
                </a:solidFill>
              </a:rPr>
              <a:t>• logUpdate(hallId, modName, 'canteen', 'Updated canteen menu')</a:t>
            </a:r>
            <a:endParaRPr lang="en-US" sz="950" dirty="0"/>
          </a:p>
          <a:p>
            <a:pPr marL="0" indent="0">
              <a:buNone/>
            </a:pPr>
            <a:r>
              <a:rPr lang="en-US" sz="950" dirty="0">
                <a:solidFill>
                  <a:srgbClr val="1B4332"/>
                </a:solidFill>
              </a:rPr>
              <a:t>• Cleaned items: name.trim(), Number(price), Number(count) or null</a:t>
            </a:r>
            <a:endParaRPr lang="en-US" sz="950" dirty="0"/>
          </a:p>
        </p:txBody>
      </p:sp>
      <p:sp>
        <p:nvSpPr>
          <p:cNvPr id="15" name="Shape 13"/>
          <p:cNvSpPr/>
          <p:nvPr/>
        </p:nvSpPr>
        <p:spPr>
          <a:xfrm>
            <a:off x="365760" y="4690872"/>
            <a:ext cx="5029200" cy="347472"/>
          </a:xfrm>
          <a:prstGeom prst="roundRect">
            <a:avLst>
              <a:gd name="adj" fmla="val 15789"/>
            </a:avLst>
          </a:prstGeom>
          <a:solidFill>
            <a:srgbClr val="D4E6D8"/>
          </a:solidFill>
          <a:ln/>
        </p:spPr>
      </p:sp>
      <p:sp>
        <p:nvSpPr>
          <p:cNvPr id="16" name="Text 14"/>
          <p:cNvSpPr/>
          <p:nvPr/>
        </p:nvSpPr>
        <p:spPr>
          <a:xfrm>
            <a:off x="457200" y="4690872"/>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Canteen Menu Editor → Preview → Success Screen</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Update Canteen</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Update Canteen Menu (Item-wise)</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Canteen:  [ + Add item ]</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[Briyani]  Price: 50  Count: 70</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  Available | Low | Finished</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[Pizza]    Price: 100  Count: 30</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 Preview ]    [ Save Canteen Menu ]</a:t>
            </a:r>
            <a:endParaRPr lang="en-US" sz="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06.16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Canteen Quick Status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Quick status update for canteen items. Same concept as Dining Quick Status — count and status per item, plus bulk actions. Designed for mid-service speed.</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234440"/>
          </a:xfrm>
          <a:prstGeom prst="rect">
            <a:avLst/>
          </a:prstGeom>
          <a:noFill/>
          <a:ln/>
        </p:spPr>
        <p:txBody>
          <a:bodyPr wrap="square" lIns="0" tIns="0" rIns="0" bIns="0" rtlCol="0" anchor="ctr"/>
          <a:lstStyle/>
          <a:p>
            <a:pPr marL="0" indent="0">
              <a:buNone/>
            </a:pPr>
            <a:r>
              <a:rPr lang="en-US" sz="950" dirty="0">
                <a:solidFill>
                  <a:srgbClr val="1A1A1A"/>
                </a:solidFill>
              </a:rPr>
              <a:t>• Page title + hall/date info</a:t>
            </a:r>
            <a:endParaRPr lang="en-US" sz="950" dirty="0"/>
          </a:p>
          <a:p>
            <a:pPr marL="0" indent="0">
              <a:buNone/>
            </a:pPr>
            <a:r>
              <a:rPr lang="en-US" sz="950" dirty="0">
                <a:solidFill>
                  <a:srgbClr val="1A1A1A"/>
                </a:solidFill>
              </a:rPr>
              <a:t>• Canteen Items block</a:t>
            </a:r>
            <a:endParaRPr lang="en-US" sz="950" dirty="0"/>
          </a:p>
          <a:p>
            <a:pPr marL="0" indent="0">
              <a:buNone/>
            </a:pPr>
            <a:r>
              <a:rPr lang="en-US" sz="950" dirty="0">
                <a:solidFill>
                  <a:srgbClr val="1A1A1A"/>
                </a:solidFill>
              </a:rPr>
              <a:t>• Bulk action row: All Available / Low / Finished</a:t>
            </a:r>
            <a:endParaRPr lang="en-US" sz="950" dirty="0"/>
          </a:p>
          <a:p>
            <a:pPr marL="0" indent="0">
              <a:buNone/>
            </a:pPr>
            <a:r>
              <a:rPr lang="en-US" sz="950" dirty="0">
                <a:solidFill>
                  <a:srgbClr val="1A1A1A"/>
                </a:solidFill>
              </a:rPr>
              <a:t>• Item cards: name, price, count input, status chips</a:t>
            </a:r>
            <a:endParaRPr lang="en-US" sz="950" dirty="0"/>
          </a:p>
          <a:p>
            <a:pPr marL="0" indent="0">
              <a:buNone/>
            </a:pPr>
            <a:r>
              <a:rPr lang="en-US" sz="950" dirty="0">
                <a:solidFill>
                  <a:srgbClr val="1A1A1A"/>
                </a:solidFill>
              </a:rPr>
              <a:t>• Save Updates button</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987552"/>
          </a:xfrm>
          <a:prstGeom prst="rect">
            <a:avLst/>
          </a:prstGeom>
          <a:noFill/>
          <a:ln/>
        </p:spPr>
        <p:txBody>
          <a:bodyPr wrap="square" lIns="0" tIns="0" rIns="0" bIns="0" rtlCol="0" anchor="ctr"/>
          <a:lstStyle/>
          <a:p>
            <a:pPr marL="0" indent="0">
              <a:buNone/>
            </a:pPr>
            <a:r>
              <a:rPr lang="en-US" sz="950" dirty="0">
                <a:solidFill>
                  <a:srgbClr val="1A1A1A"/>
                </a:solidFill>
              </a:rPr>
              <a:t>• Tap bulk button → applies status to all items</a:t>
            </a:r>
            <a:endParaRPr lang="en-US" sz="950" dirty="0"/>
          </a:p>
          <a:p>
            <a:pPr marL="0" indent="0">
              <a:buNone/>
            </a:pPr>
            <a:r>
              <a:rPr lang="en-US" sz="950" dirty="0">
                <a:solidFill>
                  <a:srgbClr val="1A1A1A"/>
                </a:solidFill>
              </a:rPr>
              <a:t>• Edit count per item inline</a:t>
            </a:r>
            <a:endParaRPr lang="en-US" sz="950" dirty="0"/>
          </a:p>
          <a:p>
            <a:pPr marL="0" indent="0">
              <a:buNone/>
            </a:pPr>
            <a:r>
              <a:rPr lang="en-US" sz="950" dirty="0">
                <a:solidFill>
                  <a:srgbClr val="1A1A1A"/>
                </a:solidFill>
              </a:rPr>
              <a:t>• Tap status chip → individual item update</a:t>
            </a:r>
            <a:endParaRPr lang="en-US" sz="950" dirty="0"/>
          </a:p>
          <a:p>
            <a:pPr marL="0" indent="0">
              <a:buNone/>
            </a:pPr>
            <a:r>
              <a:rPr lang="en-US" sz="950" dirty="0">
                <a:solidFill>
                  <a:srgbClr val="1A1A1A"/>
                </a:solidFill>
              </a:rPr>
              <a:t>• Tap Save → writes to Firestore</a:t>
            </a:r>
            <a:endParaRPr lang="en-US" sz="950" dirty="0"/>
          </a:p>
        </p:txBody>
      </p:sp>
      <p:sp>
        <p:nvSpPr>
          <p:cNvPr id="12" name="Text 10"/>
          <p:cNvSpPr/>
          <p:nvPr/>
        </p:nvSpPr>
        <p:spPr>
          <a:xfrm>
            <a:off x="365760" y="2907792"/>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145536"/>
            <a:ext cx="5029200" cy="1097280"/>
          </a:xfrm>
          <a:prstGeom prst="roundRect">
            <a:avLst>
              <a:gd name="adj" fmla="val 5000"/>
            </a:avLst>
          </a:prstGeom>
          <a:solidFill>
            <a:srgbClr val="F0F8F0"/>
          </a:solidFill>
          <a:ln/>
        </p:spPr>
      </p:sp>
      <p:sp>
        <p:nvSpPr>
          <p:cNvPr id="14" name="Text 12"/>
          <p:cNvSpPr/>
          <p:nvPr/>
        </p:nvSpPr>
        <p:spPr>
          <a:xfrm>
            <a:off x="475488" y="3182112"/>
            <a:ext cx="4846320" cy="987552"/>
          </a:xfrm>
          <a:prstGeom prst="rect">
            <a:avLst/>
          </a:prstGeom>
          <a:noFill/>
          <a:ln/>
        </p:spPr>
        <p:txBody>
          <a:bodyPr wrap="square" lIns="0" tIns="0" rIns="0" bIns="0" rtlCol="0" anchor="ctr"/>
          <a:lstStyle/>
          <a:p>
            <a:pPr marL="0" indent="0">
              <a:buNone/>
            </a:pPr>
            <a:r>
              <a:rPr lang="en-US" sz="950" dirty="0">
                <a:solidFill>
                  <a:srgbClr val="1B4332"/>
                </a:solidFill>
              </a:rPr>
              <a:t>• getMenu(hallId, today) → loads canteen.items</a:t>
            </a:r>
            <a:endParaRPr lang="en-US" sz="950" dirty="0"/>
          </a:p>
          <a:p>
            <a:pPr marL="0" indent="0">
              <a:buNone/>
            </a:pPr>
            <a:r>
              <a:rPr lang="en-US" sz="950" dirty="0">
                <a:solidFill>
                  <a:srgbClr val="1B4332"/>
                </a:solidFill>
              </a:rPr>
              <a:t>• applyAll(status) → maps all items to new status</a:t>
            </a:r>
            <a:endParaRPr lang="en-US" sz="950" dirty="0"/>
          </a:p>
          <a:p>
            <a:pPr marL="0" indent="0">
              <a:buNone/>
            </a:pPr>
            <a:r>
              <a:rPr lang="en-US" sz="950" dirty="0">
                <a:solidFill>
                  <a:srgbClr val="1B4332"/>
                </a:solidFill>
              </a:rPr>
              <a:t>• quickUpdateCanteen(hallId, today, items) → upsertMenu({ canteen: { items } })</a:t>
            </a:r>
            <a:endParaRPr lang="en-US" sz="950" dirty="0"/>
          </a:p>
          <a:p>
            <a:pPr marL="0" indent="0">
              <a:buNone/>
            </a:pPr>
            <a:r>
              <a:rPr lang="en-US" sz="950" dirty="0">
                <a:solidFill>
                  <a:srgbClr val="1B4332"/>
                </a:solidFill>
              </a:rPr>
              <a:t>• Alert on success → router.back()</a:t>
            </a:r>
            <a:endParaRPr lang="en-US" sz="950" dirty="0"/>
          </a:p>
        </p:txBody>
      </p:sp>
      <p:sp>
        <p:nvSpPr>
          <p:cNvPr id="15" name="Shape 13"/>
          <p:cNvSpPr/>
          <p:nvPr/>
        </p:nvSpPr>
        <p:spPr>
          <a:xfrm>
            <a:off x="365760" y="4443984"/>
            <a:ext cx="5029200" cy="347472"/>
          </a:xfrm>
          <a:prstGeom prst="roundRect">
            <a:avLst>
              <a:gd name="adj" fmla="val 15789"/>
            </a:avLst>
          </a:prstGeom>
          <a:solidFill>
            <a:srgbClr val="D4E6D8"/>
          </a:solidFill>
          <a:ln/>
        </p:spPr>
      </p:sp>
      <p:sp>
        <p:nvSpPr>
          <p:cNvPr id="16" name="Text 14"/>
          <p:cNvSpPr/>
          <p:nvPr/>
        </p:nvSpPr>
        <p:spPr>
          <a:xfrm>
            <a:off x="457200" y="4443984"/>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Canteen Quick Status → Dashboard</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Canteen Status</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Quick Canteen Status (Item-wise)</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Canteen Items:</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[All Available] [All Low] [All Finished]</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Briyani ৳50   Count: [70]  ✅ Available</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Pizza   ৳100  Count: [15]  ⚠️ Low</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 Save Updates ]</a:t>
            </a:r>
            <a:endParaRPr lang="en-US" sz="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06.17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Notice Editor Screen (Post Notice)</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Moderators post dining or canteen notices. Supports 5 notice types: Delay, Shortage, Closure, Update, Other. Each notice has a configurable expiry time in hours.</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975104"/>
          </a:xfrm>
          <a:prstGeom prst="rect">
            <a:avLst/>
          </a:prstGeom>
          <a:noFill/>
          <a:ln/>
        </p:spPr>
        <p:txBody>
          <a:bodyPr wrap="square" lIns="0" tIns="0" rIns="0" bIns="0" rtlCol="0" anchor="ctr"/>
          <a:lstStyle/>
          <a:p>
            <a:pPr marL="0" indent="0">
              <a:buNone/>
            </a:pPr>
            <a:r>
              <a:rPr lang="en-US" sz="950" dirty="0">
                <a:solidFill>
                  <a:srgbClr val="1A1A1A"/>
                </a:solidFill>
              </a:rPr>
              <a:t>• Page title + hall/role info</a:t>
            </a:r>
            <a:endParaRPr lang="en-US" sz="950" dirty="0"/>
          </a:p>
          <a:p>
            <a:pPr marL="0" indent="0">
              <a:buNone/>
            </a:pPr>
            <a:r>
              <a:rPr lang="en-US" sz="950" dirty="0">
                <a:solidFill>
                  <a:srgbClr val="1A1A1A"/>
                </a:solidFill>
              </a:rPr>
              <a:t>• Type selector (horizontal scroll chips)</a:t>
            </a:r>
            <a:endParaRPr lang="en-US" sz="950" dirty="0"/>
          </a:p>
          <a:p>
            <a:pPr marL="0" indent="0">
              <a:buNone/>
            </a:pPr>
            <a:r>
              <a:rPr lang="en-US" sz="950" dirty="0">
                <a:solidFill>
                  <a:srgbClr val="1A1A1A"/>
                </a:solidFill>
              </a:rPr>
              <a:t>• Selected type preview box with icon</a:t>
            </a:r>
            <a:endParaRPr lang="en-US" sz="950" dirty="0"/>
          </a:p>
          <a:p>
            <a:pPr marL="0" indent="0">
              <a:buNone/>
            </a:pPr>
            <a:r>
              <a:rPr lang="en-US" sz="950" dirty="0">
                <a:solidFill>
                  <a:srgbClr val="1A1A1A"/>
                </a:solidFill>
              </a:rPr>
              <a:t>• Title input</a:t>
            </a:r>
            <a:endParaRPr lang="en-US" sz="950" dirty="0"/>
          </a:p>
          <a:p>
            <a:pPr marL="0" indent="0">
              <a:buNone/>
            </a:pPr>
            <a:r>
              <a:rPr lang="en-US" sz="950" dirty="0">
                <a:solidFill>
                  <a:srgbClr val="1A1A1A"/>
                </a:solidFill>
              </a:rPr>
              <a:t>• Message textarea</a:t>
            </a:r>
            <a:endParaRPr lang="en-US" sz="950" dirty="0"/>
          </a:p>
          <a:p>
            <a:pPr marL="0" indent="0">
              <a:buNone/>
            </a:pPr>
            <a:r>
              <a:rPr lang="en-US" sz="950" dirty="0">
                <a:solidFill>
                  <a:srgbClr val="1A1A1A"/>
                </a:solidFill>
              </a:rPr>
              <a:t>• Expires in (hours) input</a:t>
            </a:r>
            <a:endParaRPr lang="en-US" sz="950" dirty="0"/>
          </a:p>
          <a:p>
            <a:pPr marL="0" indent="0">
              <a:buNone/>
            </a:pPr>
            <a:r>
              <a:rPr lang="en-US" sz="950" dirty="0">
                <a:solidFill>
                  <a:srgbClr val="1A1A1A"/>
                </a:solidFill>
              </a:rPr>
              <a:t>• 'Edit Notice' link → EditNotice screen</a:t>
            </a:r>
            <a:endParaRPr lang="en-US" sz="950" dirty="0"/>
          </a:p>
          <a:p>
            <a:pPr marL="0" indent="0">
              <a:buNone/>
            </a:pPr>
            <a:r>
              <a:rPr lang="en-US" sz="950" dirty="0">
                <a:solidFill>
                  <a:srgbClr val="1A1A1A"/>
                </a:solidFill>
              </a:rPr>
              <a:t>• Post Notice button</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987552"/>
          </a:xfrm>
          <a:prstGeom prst="rect">
            <a:avLst/>
          </a:prstGeom>
          <a:noFill/>
          <a:ln/>
        </p:spPr>
        <p:txBody>
          <a:bodyPr wrap="square" lIns="0" tIns="0" rIns="0" bIns="0" rtlCol="0" anchor="ctr"/>
          <a:lstStyle/>
          <a:p>
            <a:pPr marL="0" indent="0">
              <a:buNone/>
            </a:pPr>
            <a:r>
              <a:rPr lang="en-US" sz="950" dirty="0">
                <a:solidFill>
                  <a:srgbClr val="1A1A1A"/>
                </a:solidFill>
              </a:rPr>
              <a:t>• Tap type chip → selects notice type</a:t>
            </a:r>
            <a:endParaRPr lang="en-US" sz="950" dirty="0"/>
          </a:p>
          <a:p>
            <a:pPr marL="0" indent="0">
              <a:buNone/>
            </a:pPr>
            <a:r>
              <a:rPr lang="en-US" sz="950" dirty="0">
                <a:solidFill>
                  <a:srgbClr val="1A1A1A"/>
                </a:solidFill>
              </a:rPr>
              <a:t>• Fill title + message + expiry hours</a:t>
            </a:r>
            <a:endParaRPr lang="en-US" sz="950" dirty="0"/>
          </a:p>
          <a:p>
            <a:pPr marL="0" indent="0">
              <a:buNone/>
            </a:pPr>
            <a:r>
              <a:rPr lang="en-US" sz="950" dirty="0">
                <a:solidFill>
                  <a:srgbClr val="1A1A1A"/>
                </a:solidFill>
              </a:rPr>
              <a:t>• Tap Edit Notice → goes to EditNotice screen</a:t>
            </a:r>
            <a:endParaRPr lang="en-US" sz="950" dirty="0"/>
          </a:p>
          <a:p>
            <a:pPr marL="0" indent="0">
              <a:buNone/>
            </a:pPr>
            <a:r>
              <a:rPr lang="en-US" sz="950" dirty="0">
                <a:solidFill>
                  <a:srgbClr val="1A1A1A"/>
                </a:solidFill>
              </a:rPr>
              <a:t>• Tap Post Notice → validates + posts</a:t>
            </a:r>
            <a:endParaRPr lang="en-US" sz="950" dirty="0"/>
          </a:p>
        </p:txBody>
      </p:sp>
      <p:sp>
        <p:nvSpPr>
          <p:cNvPr id="12" name="Text 10"/>
          <p:cNvSpPr/>
          <p:nvPr/>
        </p:nvSpPr>
        <p:spPr>
          <a:xfrm>
            <a:off x="365760" y="3648456"/>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886200"/>
            <a:ext cx="5029200" cy="1097280"/>
          </a:xfrm>
          <a:prstGeom prst="roundRect">
            <a:avLst>
              <a:gd name="adj" fmla="val 5000"/>
            </a:avLst>
          </a:prstGeom>
          <a:solidFill>
            <a:srgbClr val="F0F8F0"/>
          </a:solidFill>
          <a:ln/>
        </p:spPr>
      </p:sp>
      <p:sp>
        <p:nvSpPr>
          <p:cNvPr id="14" name="Text 12"/>
          <p:cNvSpPr/>
          <p:nvPr/>
        </p:nvSpPr>
        <p:spPr>
          <a:xfrm>
            <a:off x="475488" y="3922776"/>
            <a:ext cx="4846320" cy="987552"/>
          </a:xfrm>
          <a:prstGeom prst="rect">
            <a:avLst/>
          </a:prstGeom>
          <a:noFill/>
          <a:ln/>
        </p:spPr>
        <p:txBody>
          <a:bodyPr wrap="square" lIns="0" tIns="0" rIns="0" bIns="0" rtlCol="0" anchor="ctr"/>
          <a:lstStyle/>
          <a:p>
            <a:pPr marL="0" indent="0">
              <a:buNone/>
            </a:pPr>
            <a:r>
              <a:rPr lang="en-US" sz="950" dirty="0">
                <a:solidFill>
                  <a:srgbClr val="1B4332"/>
                </a:solidFill>
              </a:rPr>
              <a:t>• Validation: message.trim() required</a:t>
            </a:r>
            <a:endParaRPr lang="en-US" sz="950" dirty="0"/>
          </a:p>
          <a:p>
            <a:pPr marL="0" indent="0">
              <a:buNone/>
            </a:pPr>
            <a:r>
              <a:rPr lang="en-US" sz="950" dirty="0">
                <a:solidFill>
                  <a:srgbClr val="1B4332"/>
                </a:solidFill>
              </a:rPr>
              <a:t>• postNotice(hallId, hallName, role, payload) → addDoc(notices)</a:t>
            </a:r>
            <a:endParaRPr lang="en-US" sz="950" dirty="0"/>
          </a:p>
          <a:p>
            <a:pPr marL="0" indent="0">
              <a:buNone/>
            </a:pPr>
            <a:r>
              <a:rPr lang="en-US" sz="950" dirty="0">
                <a:solidFill>
                  <a:srgbClr val="1B4332"/>
                </a:solidFill>
              </a:rPr>
              <a:t>• Fields stored: hallId, hallName, type (role), noticeType, title, message, expiresIn, moderatorName, createdAt</a:t>
            </a:r>
            <a:endParaRPr lang="en-US" sz="950" dirty="0"/>
          </a:p>
          <a:p>
            <a:pPr marL="0" indent="0">
              <a:buNone/>
            </a:pPr>
            <a:r>
              <a:rPr lang="en-US" sz="950" dirty="0">
                <a:solidFill>
                  <a:srgbClr val="1B4332"/>
                </a:solidFill>
              </a:rPr>
              <a:t>• On success → router.replace('/SuccessScreen')</a:t>
            </a:r>
            <a:endParaRPr lang="en-US" sz="950" dirty="0"/>
          </a:p>
        </p:txBody>
      </p:sp>
      <p:sp>
        <p:nvSpPr>
          <p:cNvPr id="15" name="Shape 13"/>
          <p:cNvSpPr/>
          <p:nvPr/>
        </p:nvSpPr>
        <p:spPr>
          <a:xfrm>
            <a:off x="365760" y="5184648"/>
            <a:ext cx="5029200" cy="347472"/>
          </a:xfrm>
          <a:prstGeom prst="roundRect">
            <a:avLst>
              <a:gd name="adj" fmla="val 15789"/>
            </a:avLst>
          </a:prstGeom>
          <a:solidFill>
            <a:srgbClr val="D4E6D8"/>
          </a:solidFill>
          <a:ln/>
        </p:spPr>
      </p:sp>
      <p:sp>
        <p:nvSpPr>
          <p:cNvPr id="16" name="Text 14"/>
          <p:cNvSpPr/>
          <p:nvPr/>
        </p:nvSpPr>
        <p:spPr>
          <a:xfrm>
            <a:off x="457200" y="5184648"/>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Notice Editor → Edit Notice  or  Success Screen</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Post Notice</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Post Notice | Hall: hb • Dining</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Type: [⏰Delay] [⚠️Shortage] [🔒Closure]</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Selected: ⏰ Delay Notice</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Title: _______________</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Message: _______________</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Expires in: [6] hours   [Edit]  [Post]</a:t>
            </a:r>
            <a:endParaRPr lang="en-US" sz="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06.18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Edit Notice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Loads the most recent notice for this hall and lets moderators edit or delete it. Fetches via getNotices() filtered by hallId, sorted by createdAt descending.</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728216"/>
          </a:xfrm>
          <a:prstGeom prst="rect">
            <a:avLst/>
          </a:prstGeom>
          <a:noFill/>
          <a:ln/>
        </p:spPr>
        <p:txBody>
          <a:bodyPr wrap="square" lIns="0" tIns="0" rIns="0" bIns="0" rtlCol="0" anchor="ctr"/>
          <a:lstStyle/>
          <a:p>
            <a:pPr marL="0" indent="0">
              <a:buNone/>
            </a:pPr>
            <a:r>
              <a:rPr lang="en-US" sz="950" dirty="0">
                <a:solidFill>
                  <a:srgbClr val="1A1A1A"/>
                </a:solidFill>
              </a:rPr>
              <a:t>• Page title: 'Edit Notice'</a:t>
            </a:r>
            <a:endParaRPr lang="en-US" sz="950" dirty="0"/>
          </a:p>
          <a:p>
            <a:pPr marL="0" indent="0">
              <a:buNone/>
            </a:pPr>
            <a:r>
              <a:rPr lang="en-US" sz="950" dirty="0">
                <a:solidFill>
                  <a:srgbClr val="1A1A1A"/>
                </a:solidFill>
              </a:rPr>
              <a:t>• Type display + type selector chips</a:t>
            </a:r>
            <a:endParaRPr lang="en-US" sz="950" dirty="0"/>
          </a:p>
          <a:p>
            <a:pPr marL="0" indent="0">
              <a:buNone/>
            </a:pPr>
            <a:r>
              <a:rPr lang="en-US" sz="950" dirty="0">
                <a:solidFill>
                  <a:srgbClr val="1A1A1A"/>
                </a:solidFill>
              </a:rPr>
              <a:t>• Title input (pre-filled)</a:t>
            </a:r>
            <a:endParaRPr lang="en-US" sz="950" dirty="0"/>
          </a:p>
          <a:p>
            <a:pPr marL="0" indent="0">
              <a:buNone/>
            </a:pPr>
            <a:r>
              <a:rPr lang="en-US" sz="950" dirty="0">
                <a:solidFill>
                  <a:srgbClr val="1A1A1A"/>
                </a:solidFill>
              </a:rPr>
              <a:t>• Message textarea (pre-filled)</a:t>
            </a:r>
            <a:endParaRPr lang="en-US" sz="950" dirty="0"/>
          </a:p>
          <a:p>
            <a:pPr marL="0" indent="0">
              <a:buNone/>
            </a:pPr>
            <a:r>
              <a:rPr lang="en-US" sz="950" dirty="0">
                <a:solidFill>
                  <a:srgbClr val="1A1A1A"/>
                </a:solidFill>
              </a:rPr>
              <a:t>• Expires in input (pre-filled)</a:t>
            </a:r>
            <a:endParaRPr lang="en-US" sz="950" dirty="0"/>
          </a:p>
          <a:p>
            <a:pPr marL="0" indent="0">
              <a:buNone/>
            </a:pPr>
            <a:r>
              <a:rPr lang="en-US" sz="950" dirty="0">
                <a:solidFill>
                  <a:srgbClr val="1A1A1A"/>
                </a:solidFill>
              </a:rPr>
              <a:t>• Delete button (red)</a:t>
            </a:r>
            <a:endParaRPr lang="en-US" sz="950" dirty="0"/>
          </a:p>
          <a:p>
            <a:pPr marL="0" indent="0">
              <a:buNone/>
            </a:pPr>
            <a:r>
              <a:rPr lang="en-US" sz="950" dirty="0">
                <a:solidFill>
                  <a:srgbClr val="1A1A1A"/>
                </a:solidFill>
              </a:rPr>
              <a:t>• Save Changes button (green)</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987552"/>
          </a:xfrm>
          <a:prstGeom prst="rect">
            <a:avLst/>
          </a:prstGeom>
          <a:noFill/>
          <a:ln/>
        </p:spPr>
        <p:txBody>
          <a:bodyPr wrap="square" lIns="0" tIns="0" rIns="0" bIns="0" rtlCol="0" anchor="ctr"/>
          <a:lstStyle/>
          <a:p>
            <a:pPr marL="0" indent="0">
              <a:buNone/>
            </a:pPr>
            <a:r>
              <a:rPr lang="en-US" sz="950" dirty="0">
                <a:solidFill>
                  <a:srgbClr val="1A1A1A"/>
                </a:solidFill>
              </a:rPr>
              <a:t>• All fields pre-loaded from latest notice</a:t>
            </a:r>
            <a:endParaRPr lang="en-US" sz="950" dirty="0"/>
          </a:p>
          <a:p>
            <a:pPr marL="0" indent="0">
              <a:buNone/>
            </a:pPr>
            <a:r>
              <a:rPr lang="en-US" sz="950" dirty="0">
                <a:solidFill>
                  <a:srgbClr val="1A1A1A"/>
                </a:solidFill>
              </a:rPr>
              <a:t>• Change type/title/message/expiry</a:t>
            </a:r>
            <a:endParaRPr lang="en-US" sz="950" dirty="0"/>
          </a:p>
          <a:p>
            <a:pPr marL="0" indent="0">
              <a:buNone/>
            </a:pPr>
            <a:r>
              <a:rPr lang="en-US" sz="950" dirty="0">
                <a:solidFill>
                  <a:srgbClr val="1A1A1A"/>
                </a:solidFill>
              </a:rPr>
              <a:t>• Tap Delete → Alert confirm → deleteNotice → Dashboard</a:t>
            </a:r>
            <a:endParaRPr lang="en-US" sz="950" dirty="0"/>
          </a:p>
          <a:p>
            <a:pPr marL="0" indent="0">
              <a:buNone/>
            </a:pPr>
            <a:r>
              <a:rPr lang="en-US" sz="950" dirty="0">
                <a:solidFill>
                  <a:srgbClr val="1A1A1A"/>
                </a:solidFill>
              </a:rPr>
              <a:t>• Tap Save Changes → updateNotice → Dashboard</a:t>
            </a:r>
            <a:endParaRPr lang="en-US" sz="950" dirty="0"/>
          </a:p>
        </p:txBody>
      </p:sp>
      <p:sp>
        <p:nvSpPr>
          <p:cNvPr id="12" name="Text 10"/>
          <p:cNvSpPr/>
          <p:nvPr/>
        </p:nvSpPr>
        <p:spPr>
          <a:xfrm>
            <a:off x="365760" y="3401568"/>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639312"/>
            <a:ext cx="5029200" cy="1097280"/>
          </a:xfrm>
          <a:prstGeom prst="roundRect">
            <a:avLst>
              <a:gd name="adj" fmla="val 5000"/>
            </a:avLst>
          </a:prstGeom>
          <a:solidFill>
            <a:srgbClr val="F0F8F0"/>
          </a:solidFill>
          <a:ln/>
        </p:spPr>
      </p:sp>
      <p:sp>
        <p:nvSpPr>
          <p:cNvPr id="14" name="Text 12"/>
          <p:cNvSpPr/>
          <p:nvPr/>
        </p:nvSpPr>
        <p:spPr>
          <a:xfrm>
            <a:off x="475488" y="3675888"/>
            <a:ext cx="4846320" cy="987552"/>
          </a:xfrm>
          <a:prstGeom prst="rect">
            <a:avLst/>
          </a:prstGeom>
          <a:noFill/>
          <a:ln/>
        </p:spPr>
        <p:txBody>
          <a:bodyPr wrap="square" lIns="0" tIns="0" rIns="0" bIns="0" rtlCol="0" anchor="ctr"/>
          <a:lstStyle/>
          <a:p>
            <a:pPr marL="0" indent="0">
              <a:buNone/>
            </a:pPr>
            <a:r>
              <a:rPr lang="en-US" sz="950" dirty="0">
                <a:solidFill>
                  <a:srgbClr val="1B4332"/>
                </a:solidFill>
              </a:rPr>
              <a:t>• getNotices(role) → filter hallId → sort createdAt desc → take [0]</a:t>
            </a:r>
            <a:endParaRPr lang="en-US" sz="950" dirty="0"/>
          </a:p>
          <a:p>
            <a:pPr marL="0" indent="0">
              <a:buNone/>
            </a:pPr>
            <a:r>
              <a:rPr lang="en-US" sz="950" dirty="0">
                <a:solidFill>
                  <a:srgbClr val="1B4332"/>
                </a:solidFill>
              </a:rPr>
              <a:t>• updateNotice(noticeId, payload) → updateDoc(notices/id, {...payload, updatedAt})</a:t>
            </a:r>
            <a:endParaRPr lang="en-US" sz="950" dirty="0"/>
          </a:p>
          <a:p>
            <a:pPr marL="0" indent="0">
              <a:buNone/>
            </a:pPr>
            <a:r>
              <a:rPr lang="en-US" sz="950" dirty="0">
                <a:solidFill>
                  <a:srgbClr val="1B4332"/>
                </a:solidFill>
              </a:rPr>
              <a:t>• deleteNotice(noticeId) → deleteDoc(notices/id)</a:t>
            </a:r>
            <a:endParaRPr lang="en-US" sz="950" dirty="0"/>
          </a:p>
          <a:p>
            <a:pPr marL="0" indent="0">
              <a:buNone/>
            </a:pPr>
            <a:r>
              <a:rPr lang="en-US" sz="950" dirty="0">
                <a:solidFill>
                  <a:srgbClr val="1B4332"/>
                </a:solidFill>
              </a:rPr>
              <a:t>• Alert confirm before destructive delete action</a:t>
            </a:r>
            <a:endParaRPr lang="en-US" sz="950" dirty="0"/>
          </a:p>
        </p:txBody>
      </p:sp>
      <p:sp>
        <p:nvSpPr>
          <p:cNvPr id="15" name="Shape 13"/>
          <p:cNvSpPr/>
          <p:nvPr/>
        </p:nvSpPr>
        <p:spPr>
          <a:xfrm>
            <a:off x="365760" y="4937760"/>
            <a:ext cx="5029200" cy="347472"/>
          </a:xfrm>
          <a:prstGeom prst="roundRect">
            <a:avLst>
              <a:gd name="adj" fmla="val 15789"/>
            </a:avLst>
          </a:prstGeom>
          <a:solidFill>
            <a:srgbClr val="D4E6D8"/>
          </a:solidFill>
          <a:ln/>
        </p:spPr>
      </p:sp>
      <p:sp>
        <p:nvSpPr>
          <p:cNvPr id="16" name="Text 14"/>
          <p:cNvSpPr/>
          <p:nvPr/>
        </p:nvSpPr>
        <p:spPr>
          <a:xfrm>
            <a:off x="457200" y="4937760"/>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Edit Notice → Dashboard (on save/delete)</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Edit Notice</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Edit Notice | Hall: hb • Dining</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Type: ⏰ Delay  [Delay][Shortage]...</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Title: Lunch Delay Notice</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Message: Lunch will be 30 min late...</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Expires in: [6] hours</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[Delete]          [Save Changes]</a:t>
            </a:r>
            <a:endParaRPr lang="en-US" sz="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06.19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Feast Editor Screen (Add Feast)</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Moderators schedule new feast events. Requires date (YYYY-MM-DD), title, time range, comma-separated menu items, and price. Edit Feast link leads to the most recent feast.</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975104"/>
          </a:xfrm>
          <a:prstGeom prst="rect">
            <a:avLst/>
          </a:prstGeom>
          <a:noFill/>
          <a:ln/>
        </p:spPr>
        <p:txBody>
          <a:bodyPr wrap="square" lIns="0" tIns="0" rIns="0" bIns="0" rtlCol="0" anchor="ctr"/>
          <a:lstStyle/>
          <a:p>
            <a:pPr marL="0" indent="0">
              <a:buNone/>
            </a:pPr>
            <a:r>
              <a:rPr lang="en-US" sz="950" dirty="0">
                <a:solidFill>
                  <a:srgbClr val="1A1A1A"/>
                </a:solidFill>
              </a:rPr>
              <a:t>• Page title + hall/role info</a:t>
            </a:r>
            <a:endParaRPr lang="en-US" sz="950" dirty="0"/>
          </a:p>
          <a:p>
            <a:pPr marL="0" indent="0">
              <a:buNone/>
            </a:pPr>
            <a:r>
              <a:rPr lang="en-US" sz="950" dirty="0">
                <a:solidFill>
                  <a:srgbClr val="1A1A1A"/>
                </a:solidFill>
              </a:rPr>
              <a:t>• Date input (YYYY-MM-DD)</a:t>
            </a:r>
            <a:endParaRPr lang="en-US" sz="950" dirty="0"/>
          </a:p>
          <a:p>
            <a:pPr marL="0" indent="0">
              <a:buNone/>
            </a:pPr>
            <a:r>
              <a:rPr lang="en-US" sz="950" dirty="0">
                <a:solidFill>
                  <a:srgbClr val="1A1A1A"/>
                </a:solidFill>
              </a:rPr>
              <a:t>• Title input</a:t>
            </a:r>
            <a:endParaRPr lang="en-US" sz="950" dirty="0"/>
          </a:p>
          <a:p>
            <a:pPr marL="0" indent="0">
              <a:buNone/>
            </a:pPr>
            <a:r>
              <a:rPr lang="en-US" sz="950" dirty="0">
                <a:solidFill>
                  <a:srgbClr val="1A1A1A"/>
                </a:solidFill>
              </a:rPr>
              <a:t>• Time Range input (e.g. 8:00 PM - 9:00 PM)</a:t>
            </a:r>
            <a:endParaRPr lang="en-US" sz="950" dirty="0"/>
          </a:p>
          <a:p>
            <a:pPr marL="0" indent="0">
              <a:buNone/>
            </a:pPr>
            <a:r>
              <a:rPr lang="en-US" sz="950" dirty="0">
                <a:solidFill>
                  <a:srgbClr val="1A1A1A"/>
                </a:solidFill>
              </a:rPr>
              <a:t>• Menu textarea (comma-separated items)</a:t>
            </a:r>
            <a:endParaRPr lang="en-US" sz="950" dirty="0"/>
          </a:p>
          <a:p>
            <a:pPr marL="0" indent="0">
              <a:buNone/>
            </a:pPr>
            <a:r>
              <a:rPr lang="en-US" sz="950" dirty="0">
                <a:solidFill>
                  <a:srgbClr val="1A1A1A"/>
                </a:solidFill>
              </a:rPr>
              <a:t>• Price input (numeric)</a:t>
            </a:r>
            <a:endParaRPr lang="en-US" sz="950" dirty="0"/>
          </a:p>
          <a:p>
            <a:pPr marL="0" indent="0">
              <a:buNone/>
            </a:pPr>
            <a:r>
              <a:rPr lang="en-US" sz="950" dirty="0">
                <a:solidFill>
                  <a:srgbClr val="1A1A1A"/>
                </a:solidFill>
              </a:rPr>
              <a:t>• Edit Feast link button</a:t>
            </a:r>
            <a:endParaRPr lang="en-US" sz="950" dirty="0"/>
          </a:p>
          <a:p>
            <a:pPr marL="0" indent="0">
              <a:buNone/>
            </a:pPr>
            <a:r>
              <a:rPr lang="en-US" sz="950" dirty="0">
                <a:solidFill>
                  <a:srgbClr val="1A1A1A"/>
                </a:solidFill>
              </a:rPr>
              <a:t>• Save Feast button</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740664"/>
          </a:xfrm>
          <a:prstGeom prst="rect">
            <a:avLst/>
          </a:prstGeom>
          <a:noFill/>
          <a:ln/>
        </p:spPr>
        <p:txBody>
          <a:bodyPr wrap="square" lIns="0" tIns="0" rIns="0" bIns="0" rtlCol="0" anchor="ctr"/>
          <a:lstStyle/>
          <a:p>
            <a:pPr marL="0" indent="0">
              <a:buNone/>
            </a:pPr>
            <a:r>
              <a:rPr lang="en-US" sz="950" dirty="0">
                <a:solidFill>
                  <a:srgbClr val="1A1A1A"/>
                </a:solidFill>
              </a:rPr>
              <a:t>• Fill all fields</a:t>
            </a:r>
            <a:endParaRPr lang="en-US" sz="950" dirty="0"/>
          </a:p>
          <a:p>
            <a:pPr marL="0" indent="0">
              <a:buNone/>
            </a:pPr>
            <a:r>
              <a:rPr lang="en-US" sz="950" dirty="0">
                <a:solidFill>
                  <a:srgbClr val="1A1A1A"/>
                </a:solidFill>
              </a:rPr>
              <a:t>• Tap Edit Feast → EditFeast screen</a:t>
            </a:r>
            <a:endParaRPr lang="en-US" sz="950" dirty="0"/>
          </a:p>
          <a:p>
            <a:pPr marL="0" indent="0">
              <a:buNone/>
            </a:pPr>
            <a:r>
              <a:rPr lang="en-US" sz="950" dirty="0">
                <a:solidFill>
                  <a:srgbClr val="1A1A1A"/>
                </a:solidFill>
              </a:rPr>
              <a:t>• Tap Save Feast → validate (date + title required) + save</a:t>
            </a:r>
            <a:endParaRPr lang="en-US" sz="950" dirty="0"/>
          </a:p>
        </p:txBody>
      </p:sp>
      <p:sp>
        <p:nvSpPr>
          <p:cNvPr id="12" name="Text 10"/>
          <p:cNvSpPr/>
          <p:nvPr/>
        </p:nvSpPr>
        <p:spPr>
          <a:xfrm>
            <a:off x="365760" y="3648456"/>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886200"/>
            <a:ext cx="5029200" cy="1344168"/>
          </a:xfrm>
          <a:prstGeom prst="roundRect">
            <a:avLst>
              <a:gd name="adj" fmla="val 4082"/>
            </a:avLst>
          </a:prstGeom>
          <a:solidFill>
            <a:srgbClr val="F0F8F0"/>
          </a:solidFill>
          <a:ln/>
        </p:spPr>
      </p:sp>
      <p:sp>
        <p:nvSpPr>
          <p:cNvPr id="14" name="Text 12"/>
          <p:cNvSpPr/>
          <p:nvPr/>
        </p:nvSpPr>
        <p:spPr>
          <a:xfrm>
            <a:off x="475488" y="3922776"/>
            <a:ext cx="4846320" cy="1234440"/>
          </a:xfrm>
          <a:prstGeom prst="rect">
            <a:avLst/>
          </a:prstGeom>
          <a:noFill/>
          <a:ln/>
        </p:spPr>
        <p:txBody>
          <a:bodyPr wrap="square" lIns="0" tIns="0" rIns="0" bIns="0" rtlCol="0" anchor="ctr"/>
          <a:lstStyle/>
          <a:p>
            <a:pPr marL="0" indent="0">
              <a:buNone/>
            </a:pPr>
            <a:r>
              <a:rPr lang="en-US" sz="950" dirty="0">
                <a:solidFill>
                  <a:srgbClr val="1B4332"/>
                </a:solidFill>
              </a:rPr>
              <a:t>• addFeast(hallId, hallName, role, payload) → addDoc(feasts)</a:t>
            </a:r>
            <a:endParaRPr lang="en-US" sz="950" dirty="0"/>
          </a:p>
          <a:p>
            <a:pPr marL="0" indent="0">
              <a:buNone/>
            </a:pPr>
            <a:r>
              <a:rPr lang="en-US" sz="950" dirty="0">
                <a:solidFill>
                  <a:srgbClr val="1B4332"/>
                </a:solidFill>
              </a:rPr>
              <a:t>• menu items: menu.split(',').map(s =&gt; s.trim()).filter(Boolean)</a:t>
            </a:r>
            <a:endParaRPr lang="en-US" sz="950" dirty="0"/>
          </a:p>
          <a:p>
            <a:pPr marL="0" indent="0">
              <a:buNone/>
            </a:pPr>
            <a:r>
              <a:rPr lang="en-US" sz="950" dirty="0">
                <a:solidFill>
                  <a:srgbClr val="1B4332"/>
                </a:solidFill>
              </a:rPr>
              <a:t>• price: Number(price) || 0</a:t>
            </a:r>
            <a:endParaRPr lang="en-US" sz="950" dirty="0"/>
          </a:p>
          <a:p>
            <a:pPr marL="0" indent="0">
              <a:buNone/>
            </a:pPr>
            <a:r>
              <a:rPr lang="en-US" sz="950" dirty="0">
                <a:solidFill>
                  <a:srgbClr val="1B4332"/>
                </a:solidFill>
              </a:rPr>
              <a:t>• Stored fields: hallId, hallName, role, date, title, timeRange, menu[], price, moderatorName, createdAt</a:t>
            </a:r>
            <a:endParaRPr lang="en-US" sz="950" dirty="0"/>
          </a:p>
          <a:p>
            <a:pPr marL="0" indent="0">
              <a:buNone/>
            </a:pPr>
            <a:r>
              <a:rPr lang="en-US" sz="950" dirty="0">
                <a:solidFill>
                  <a:srgbClr val="1B4332"/>
                </a:solidFill>
              </a:rPr>
              <a:t>• On success → router.replace('/SuccessScreen')</a:t>
            </a:r>
            <a:endParaRPr lang="en-US" sz="950" dirty="0"/>
          </a:p>
        </p:txBody>
      </p:sp>
      <p:sp>
        <p:nvSpPr>
          <p:cNvPr id="15" name="Shape 13"/>
          <p:cNvSpPr/>
          <p:nvPr/>
        </p:nvSpPr>
        <p:spPr>
          <a:xfrm>
            <a:off x="365760" y="5431536"/>
            <a:ext cx="5029200" cy="347472"/>
          </a:xfrm>
          <a:prstGeom prst="roundRect">
            <a:avLst>
              <a:gd name="adj" fmla="val 15789"/>
            </a:avLst>
          </a:prstGeom>
          <a:solidFill>
            <a:srgbClr val="D4E6D8"/>
          </a:solidFill>
          <a:ln/>
        </p:spPr>
      </p:sp>
      <p:sp>
        <p:nvSpPr>
          <p:cNvPr id="16" name="Text 14"/>
          <p:cNvSpPr/>
          <p:nvPr/>
        </p:nvSpPr>
        <p:spPr>
          <a:xfrm>
            <a:off x="457200" y="5431536"/>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Feast Editor → Edit Feast  or  Success Screen</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Add Feast</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Add Feast | Hall: hb • Dining</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Date: [2026-07-15]</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Title: [Eid Special Feast]</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Time: [8:00 PM - 9:00 PM]</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Menu: [Polao, Roast, Beef curry, Salad]</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Price: [150]   [Edit Feast]  [Save Feast]</a:t>
            </a:r>
            <a:endParaRPr lang="en-US" sz="4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06.20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Edit Feast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Loads the most recent feast for this hall and allows editing or deletion. Same pattern as Edit Notice — loads latest, pre-fills all fields.</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975104"/>
          </a:xfrm>
          <a:prstGeom prst="rect">
            <a:avLst/>
          </a:prstGeom>
          <a:noFill/>
          <a:ln/>
        </p:spPr>
        <p:txBody>
          <a:bodyPr wrap="square" lIns="0" tIns="0" rIns="0" bIns="0" rtlCol="0" anchor="ctr"/>
          <a:lstStyle/>
          <a:p>
            <a:pPr marL="0" indent="0">
              <a:buNone/>
            </a:pPr>
            <a:r>
              <a:rPr lang="en-US" sz="950" dirty="0">
                <a:solidFill>
                  <a:srgbClr val="1A1A1A"/>
                </a:solidFill>
              </a:rPr>
              <a:t>• Page title: 'Edit Feast'</a:t>
            </a:r>
            <a:endParaRPr lang="en-US" sz="950" dirty="0"/>
          </a:p>
          <a:p>
            <a:pPr marL="0" indent="0">
              <a:buNone/>
            </a:pPr>
            <a:r>
              <a:rPr lang="en-US" sz="950" dirty="0">
                <a:solidFill>
                  <a:srgbClr val="1A1A1A"/>
                </a:solidFill>
              </a:rPr>
              <a:t>• Hall/role subtitle</a:t>
            </a:r>
            <a:endParaRPr lang="en-US" sz="950" dirty="0"/>
          </a:p>
          <a:p>
            <a:pPr marL="0" indent="0">
              <a:buNone/>
            </a:pPr>
            <a:r>
              <a:rPr lang="en-US" sz="950" dirty="0">
                <a:solidFill>
                  <a:srgbClr val="1A1A1A"/>
                </a:solidFill>
              </a:rPr>
              <a:t>• Date input (pre-filled)</a:t>
            </a:r>
            <a:endParaRPr lang="en-US" sz="950" dirty="0"/>
          </a:p>
          <a:p>
            <a:pPr marL="0" indent="0">
              <a:buNone/>
            </a:pPr>
            <a:r>
              <a:rPr lang="en-US" sz="950" dirty="0">
                <a:solidFill>
                  <a:srgbClr val="1A1A1A"/>
                </a:solidFill>
              </a:rPr>
              <a:t>• Title input (pre-filled)</a:t>
            </a:r>
            <a:endParaRPr lang="en-US" sz="950" dirty="0"/>
          </a:p>
          <a:p>
            <a:pPr marL="0" indent="0">
              <a:buNone/>
            </a:pPr>
            <a:r>
              <a:rPr lang="en-US" sz="950" dirty="0">
                <a:solidFill>
                  <a:srgbClr val="1A1A1A"/>
                </a:solidFill>
              </a:rPr>
              <a:t>• Time Range input (pre-filled)</a:t>
            </a:r>
            <a:endParaRPr lang="en-US" sz="950" dirty="0"/>
          </a:p>
          <a:p>
            <a:pPr marL="0" indent="0">
              <a:buNone/>
            </a:pPr>
            <a:r>
              <a:rPr lang="en-US" sz="950" dirty="0">
                <a:solidFill>
                  <a:srgbClr val="1A1A1A"/>
                </a:solidFill>
              </a:rPr>
              <a:t>• Menu textarea (pre-filled, joined as comma string)</a:t>
            </a:r>
            <a:endParaRPr lang="en-US" sz="950" dirty="0"/>
          </a:p>
          <a:p>
            <a:pPr marL="0" indent="0">
              <a:buNone/>
            </a:pPr>
            <a:r>
              <a:rPr lang="en-US" sz="950" dirty="0">
                <a:solidFill>
                  <a:srgbClr val="1A1A1A"/>
                </a:solidFill>
              </a:rPr>
              <a:t>• Price input (pre-filled)</a:t>
            </a:r>
            <a:endParaRPr lang="en-US" sz="950" dirty="0"/>
          </a:p>
          <a:p>
            <a:pPr marL="0" indent="0">
              <a:buNone/>
            </a:pPr>
            <a:r>
              <a:rPr lang="en-US" sz="950" dirty="0">
                <a:solidFill>
                  <a:srgbClr val="1A1A1A"/>
                </a:solidFill>
              </a:rPr>
              <a:t>• Delete (red) + Save Changes (green) buttons</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987552"/>
          </a:xfrm>
          <a:prstGeom prst="rect">
            <a:avLst/>
          </a:prstGeom>
          <a:noFill/>
          <a:ln/>
        </p:spPr>
        <p:txBody>
          <a:bodyPr wrap="square" lIns="0" tIns="0" rIns="0" bIns="0" rtlCol="0" anchor="ctr"/>
          <a:lstStyle/>
          <a:p>
            <a:pPr marL="0" indent="0">
              <a:buNone/>
            </a:pPr>
            <a:r>
              <a:rPr lang="en-US" sz="950" dirty="0">
                <a:solidFill>
                  <a:srgbClr val="1A1A1A"/>
                </a:solidFill>
              </a:rPr>
              <a:t>• All fields auto-loaded on mount</a:t>
            </a:r>
            <a:endParaRPr lang="en-US" sz="950" dirty="0"/>
          </a:p>
          <a:p>
            <a:pPr marL="0" indent="0">
              <a:buNone/>
            </a:pPr>
            <a:r>
              <a:rPr lang="en-US" sz="950" dirty="0">
                <a:solidFill>
                  <a:srgbClr val="1A1A1A"/>
                </a:solidFill>
              </a:rPr>
              <a:t>• Edit any field</a:t>
            </a:r>
            <a:endParaRPr lang="en-US" sz="950" dirty="0"/>
          </a:p>
          <a:p>
            <a:pPr marL="0" indent="0">
              <a:buNone/>
            </a:pPr>
            <a:r>
              <a:rPr lang="en-US" sz="950" dirty="0">
                <a:solidFill>
                  <a:srgbClr val="1A1A1A"/>
                </a:solidFill>
              </a:rPr>
              <a:t>• Tap Delete → Alert confirm → deleteFeast → Dashboard</a:t>
            </a:r>
            <a:endParaRPr lang="en-US" sz="950" dirty="0"/>
          </a:p>
          <a:p>
            <a:pPr marL="0" indent="0">
              <a:buNone/>
            </a:pPr>
            <a:r>
              <a:rPr lang="en-US" sz="950" dirty="0">
                <a:solidFill>
                  <a:srgbClr val="1A1A1A"/>
                </a:solidFill>
              </a:rPr>
              <a:t>• Tap Save Changes → updateFeast → Dashboard</a:t>
            </a:r>
            <a:endParaRPr lang="en-US" sz="950" dirty="0"/>
          </a:p>
        </p:txBody>
      </p:sp>
      <p:sp>
        <p:nvSpPr>
          <p:cNvPr id="12" name="Text 10"/>
          <p:cNvSpPr/>
          <p:nvPr/>
        </p:nvSpPr>
        <p:spPr>
          <a:xfrm>
            <a:off x="365760" y="3648456"/>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886200"/>
            <a:ext cx="5029200" cy="1097280"/>
          </a:xfrm>
          <a:prstGeom prst="roundRect">
            <a:avLst>
              <a:gd name="adj" fmla="val 5000"/>
            </a:avLst>
          </a:prstGeom>
          <a:solidFill>
            <a:srgbClr val="F0F8F0"/>
          </a:solidFill>
          <a:ln/>
        </p:spPr>
      </p:sp>
      <p:sp>
        <p:nvSpPr>
          <p:cNvPr id="14" name="Text 12"/>
          <p:cNvSpPr/>
          <p:nvPr/>
        </p:nvSpPr>
        <p:spPr>
          <a:xfrm>
            <a:off x="475488" y="3922776"/>
            <a:ext cx="4846320" cy="987552"/>
          </a:xfrm>
          <a:prstGeom prst="rect">
            <a:avLst/>
          </a:prstGeom>
          <a:noFill/>
          <a:ln/>
        </p:spPr>
        <p:txBody>
          <a:bodyPr wrap="square" lIns="0" tIns="0" rIns="0" bIns="0" rtlCol="0" anchor="ctr"/>
          <a:lstStyle/>
          <a:p>
            <a:pPr marL="0" indent="0">
              <a:buNone/>
            </a:pPr>
            <a:r>
              <a:rPr lang="en-US" sz="950" dirty="0">
                <a:solidFill>
                  <a:srgbClr val="1B4332"/>
                </a:solidFill>
              </a:rPr>
              <a:t>• getFeasts(role) → filter hallId → sort by createdAt desc → take [0]</a:t>
            </a:r>
            <a:endParaRPr lang="en-US" sz="950" dirty="0"/>
          </a:p>
          <a:p>
            <a:pPr marL="0" indent="0">
              <a:buNone/>
            </a:pPr>
            <a:r>
              <a:rPr lang="en-US" sz="950" dirty="0">
                <a:solidFill>
                  <a:srgbClr val="1B4332"/>
                </a:solidFill>
              </a:rPr>
              <a:t>• updateFeast(feastId, payload) → updateDoc(feasts/id, {...payload, updatedAt})</a:t>
            </a:r>
            <a:endParaRPr lang="en-US" sz="950" dirty="0"/>
          </a:p>
          <a:p>
            <a:pPr marL="0" indent="0">
              <a:buNone/>
            </a:pPr>
            <a:r>
              <a:rPr lang="en-US" sz="950" dirty="0">
                <a:solidFill>
                  <a:srgbClr val="1B4332"/>
                </a:solidFill>
              </a:rPr>
              <a:t>• deleteFeast(feastId) → deleteDoc(feasts/id)</a:t>
            </a:r>
            <a:endParaRPr lang="en-US" sz="950" dirty="0"/>
          </a:p>
          <a:p>
            <a:pPr marL="0" indent="0">
              <a:buNone/>
            </a:pPr>
            <a:r>
              <a:rPr lang="en-US" sz="950" dirty="0">
                <a:solidFill>
                  <a:srgbClr val="1B4332"/>
                </a:solidFill>
              </a:rPr>
              <a:t>• menu stored as Array&lt;String&gt;, displayed as joined string for editing</a:t>
            </a:r>
            <a:endParaRPr lang="en-US" sz="950" dirty="0"/>
          </a:p>
        </p:txBody>
      </p:sp>
      <p:sp>
        <p:nvSpPr>
          <p:cNvPr id="15" name="Shape 13"/>
          <p:cNvSpPr/>
          <p:nvPr/>
        </p:nvSpPr>
        <p:spPr>
          <a:xfrm>
            <a:off x="365760" y="5184648"/>
            <a:ext cx="5029200" cy="347472"/>
          </a:xfrm>
          <a:prstGeom prst="roundRect">
            <a:avLst>
              <a:gd name="adj" fmla="val 15789"/>
            </a:avLst>
          </a:prstGeom>
          <a:solidFill>
            <a:srgbClr val="D4E6D8"/>
          </a:solidFill>
          <a:ln/>
        </p:spPr>
      </p:sp>
      <p:sp>
        <p:nvSpPr>
          <p:cNvPr id="16" name="Text 14"/>
          <p:cNvSpPr/>
          <p:nvPr/>
        </p:nvSpPr>
        <p:spPr>
          <a:xfrm>
            <a:off x="457200" y="5184648"/>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Edit Feast → Dashboard (on save/delete)</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Edit Feast</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Edit Feast | Hall: hb • Dining</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Date: 2026-07-15</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Title: Eid Special Feast</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Menu: Polao, Roast, Beef curry, Salad</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Price: 150</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[Delete]          [Save Changes]</a:t>
            </a:r>
            <a:endParaRPr lang="en-US" sz="4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06.21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Daily Reset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Two reset actions for a new day: Duplicate Yesterday (copies previous day's menu as today's starting point) or Clear Everything (wipes today's menu for a fresh start).</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987552"/>
          </a:xfrm>
          <a:prstGeom prst="rect">
            <a:avLst/>
          </a:prstGeom>
          <a:noFill/>
          <a:ln/>
        </p:spPr>
        <p:txBody>
          <a:bodyPr wrap="square" lIns="0" tIns="0" rIns="0" bIns="0" rtlCol="0" anchor="ctr"/>
          <a:lstStyle/>
          <a:p>
            <a:pPr marL="0" indent="0">
              <a:buNone/>
            </a:pPr>
            <a:r>
              <a:rPr lang="en-US" sz="950" dirty="0">
                <a:solidFill>
                  <a:srgbClr val="1A1A1A"/>
                </a:solidFill>
              </a:rPr>
              <a:t>• Page title 'Start New Day' + hall/date info</a:t>
            </a:r>
            <a:endParaRPr lang="en-US" sz="950" dirty="0"/>
          </a:p>
          <a:p>
            <a:pPr marL="0" indent="0">
              <a:buNone/>
            </a:pPr>
            <a:r>
              <a:rPr lang="en-US" sz="950" dirty="0">
                <a:solidFill>
                  <a:srgbClr val="1A1A1A"/>
                </a:solidFill>
              </a:rPr>
              <a:t>• Duplicate Yesterday card: title, description, green button</a:t>
            </a:r>
            <a:endParaRPr lang="en-US" sz="950" dirty="0"/>
          </a:p>
          <a:p>
            <a:pPr marL="0" indent="0">
              <a:buNone/>
            </a:pPr>
            <a:r>
              <a:rPr lang="en-US" sz="950" dirty="0">
                <a:solidFill>
                  <a:srgbClr val="1A1A1A"/>
                </a:solidFill>
              </a:rPr>
              <a:t>• Clear All card: title, description, red-bordered danger button</a:t>
            </a:r>
            <a:endParaRPr lang="en-US" sz="950" dirty="0"/>
          </a:p>
          <a:p>
            <a:pPr marL="0" indent="0">
              <a:buNone/>
            </a:pPr>
            <a:r>
              <a:rPr lang="en-US" sz="950" dirty="0">
                <a:solidFill>
                  <a:srgbClr val="1A1A1A"/>
                </a:solidFill>
              </a:rPr>
              <a:t>• Confirmation Alert before each action</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740664"/>
          </a:xfrm>
          <a:prstGeom prst="rect">
            <a:avLst/>
          </a:prstGeom>
          <a:noFill/>
          <a:ln/>
        </p:spPr>
        <p:txBody>
          <a:bodyPr wrap="square" lIns="0" tIns="0" rIns="0" bIns="0" rtlCol="0" anchor="ctr"/>
          <a:lstStyle/>
          <a:p>
            <a:pPr marL="0" indent="0">
              <a:buNone/>
            </a:pPr>
            <a:r>
              <a:rPr lang="en-US" sz="950" dirty="0">
                <a:solidFill>
                  <a:srgbClr val="1A1A1A"/>
                </a:solidFill>
              </a:rPr>
              <a:t>• Tap Duplicate Yesterday → Alert confirm → duplicateYesterday() → router.back()</a:t>
            </a:r>
            <a:endParaRPr lang="en-US" sz="950" dirty="0"/>
          </a:p>
          <a:p>
            <a:pPr marL="0" indent="0">
              <a:buNone/>
            </a:pPr>
            <a:r>
              <a:rPr lang="en-US" sz="950" dirty="0">
                <a:solidFill>
                  <a:srgbClr val="1A1A1A"/>
                </a:solidFill>
              </a:rPr>
              <a:t>• Tap Clear Everything → Alert confirm → upsertMenu() with empty items → router.back()</a:t>
            </a:r>
            <a:endParaRPr lang="en-US" sz="950" dirty="0"/>
          </a:p>
          <a:p>
            <a:pPr marL="0" indent="0">
              <a:buNone/>
            </a:pPr>
            <a:r>
              <a:rPr lang="en-US" sz="950" dirty="0">
                <a:solidFill>
                  <a:srgbClr val="1A1A1A"/>
                </a:solidFill>
              </a:rPr>
              <a:t>• Both actions disabled while processing (spinner shown)</a:t>
            </a:r>
            <a:endParaRPr lang="en-US" sz="950" dirty="0"/>
          </a:p>
        </p:txBody>
      </p:sp>
      <p:sp>
        <p:nvSpPr>
          <p:cNvPr id="12" name="Text 10"/>
          <p:cNvSpPr/>
          <p:nvPr/>
        </p:nvSpPr>
        <p:spPr>
          <a:xfrm>
            <a:off x="365760" y="2660904"/>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2898648"/>
            <a:ext cx="5029200" cy="1591056"/>
          </a:xfrm>
          <a:prstGeom prst="roundRect">
            <a:avLst>
              <a:gd name="adj" fmla="val 3448"/>
            </a:avLst>
          </a:prstGeom>
          <a:solidFill>
            <a:srgbClr val="F0F8F0"/>
          </a:solidFill>
          <a:ln/>
        </p:spPr>
      </p:sp>
      <p:sp>
        <p:nvSpPr>
          <p:cNvPr id="14" name="Text 12"/>
          <p:cNvSpPr/>
          <p:nvPr/>
        </p:nvSpPr>
        <p:spPr>
          <a:xfrm>
            <a:off x="475488" y="2935224"/>
            <a:ext cx="4846320" cy="1481328"/>
          </a:xfrm>
          <a:prstGeom prst="rect">
            <a:avLst/>
          </a:prstGeom>
          <a:noFill/>
          <a:ln/>
        </p:spPr>
        <p:txBody>
          <a:bodyPr wrap="square" lIns="0" tIns="0" rIns="0" bIns="0" rtlCol="0" anchor="ctr"/>
          <a:lstStyle/>
          <a:p>
            <a:pPr marL="0" indent="0">
              <a:buNone/>
            </a:pPr>
            <a:r>
              <a:rPr lang="en-US" sz="950" dirty="0">
                <a:solidFill>
                  <a:srgbClr val="1B4332"/>
                </a:solidFill>
              </a:rPr>
              <a:t>• duplicateYesterday(hallId, today, role):</a:t>
            </a:r>
            <a:endParaRPr lang="en-US" sz="950" dirty="0"/>
          </a:p>
          <a:p>
            <a:pPr marL="0" indent="0">
              <a:buNone/>
            </a:pPr>
            <a:r>
              <a:rPr lang="en-US" sz="950" dirty="0">
                <a:solidFill>
                  <a:srgbClr val="1B4332"/>
                </a:solidFill>
              </a:rPr>
              <a:t>  → getYesterdayKey() uses Asia/Dhaka timezone</a:t>
            </a:r>
            <a:endParaRPr lang="en-US" sz="950" dirty="0"/>
          </a:p>
          <a:p>
            <a:pPr marL="0" indent="0">
              <a:buNone/>
            </a:pPr>
            <a:r>
              <a:rPr lang="en-US" sz="950" dirty="0">
                <a:solidFill>
                  <a:srgbClr val="1B4332"/>
                </a:solidFill>
              </a:rPr>
              <a:t>  → getMenu(hallId, yesterdayKey)</a:t>
            </a:r>
            <a:endParaRPr lang="en-US" sz="950" dirty="0"/>
          </a:p>
          <a:p>
            <a:pPr marL="0" indent="0">
              <a:buNone/>
            </a:pPr>
            <a:r>
              <a:rPr lang="en-US" sz="950" dirty="0">
                <a:solidFill>
                  <a:srgbClr val="1B4332"/>
                </a:solidFill>
              </a:rPr>
              <a:t>  → upsertMenu(hallId, today, { dining: yMenu.dining })</a:t>
            </a:r>
            <a:endParaRPr lang="en-US" sz="950" dirty="0"/>
          </a:p>
          <a:p>
            <a:pPr marL="0" indent="0">
              <a:buNone/>
            </a:pPr>
            <a:r>
              <a:rPr lang="en-US" sz="950" dirty="0">
                <a:solidFill>
                  <a:srgbClr val="1B4332"/>
                </a:solidFill>
              </a:rPr>
              <a:t>• Clear: upsertMenu with empty items arrays for all meals</a:t>
            </a:r>
            <a:endParaRPr lang="en-US" sz="950" dirty="0"/>
          </a:p>
          <a:p>
            <a:pPr marL="0" indent="0">
              <a:buNone/>
            </a:pPr>
            <a:r>
              <a:rPr lang="en-US" sz="950" dirty="0">
                <a:solidFill>
                  <a:srgbClr val="1B4332"/>
                </a:solidFill>
              </a:rPr>
              <a:t>• Returns false if yesterday had no menu data</a:t>
            </a:r>
            <a:endParaRPr lang="en-US" sz="950" dirty="0"/>
          </a:p>
        </p:txBody>
      </p:sp>
      <p:sp>
        <p:nvSpPr>
          <p:cNvPr id="15" name="Shape 13"/>
          <p:cNvSpPr/>
          <p:nvPr/>
        </p:nvSpPr>
        <p:spPr>
          <a:xfrm>
            <a:off x="365760" y="4690872"/>
            <a:ext cx="5029200" cy="347472"/>
          </a:xfrm>
          <a:prstGeom prst="roundRect">
            <a:avLst>
              <a:gd name="adj" fmla="val 15789"/>
            </a:avLst>
          </a:prstGeom>
          <a:solidFill>
            <a:srgbClr val="D4E6D8"/>
          </a:solidFill>
          <a:ln/>
        </p:spPr>
      </p:sp>
      <p:sp>
        <p:nvSpPr>
          <p:cNvPr id="16" name="Text 14"/>
          <p:cNvSpPr/>
          <p:nvPr/>
        </p:nvSpPr>
        <p:spPr>
          <a:xfrm>
            <a:off x="457200" y="4690872"/>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Daily Reset → Dashboard (after action)</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Daily Reset</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Start New Day | Hall: hb</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Date: 2026-06-27</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 Duplicate Yesterday Menu</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Copy yesterday as today's start point</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[Duplicate Yesterday]</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 Clear All  [Clear Everything]</a:t>
            </a:r>
            <a:endParaRPr lang="en-US" sz="4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06.22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Verification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Shows today's update record and the update history (last 50 entries). Displays who updated, their role, last update time, and verification status.</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728216"/>
          </a:xfrm>
          <a:prstGeom prst="rect">
            <a:avLst/>
          </a:prstGeom>
          <a:noFill/>
          <a:ln/>
        </p:spPr>
        <p:txBody>
          <a:bodyPr wrap="square" lIns="0" tIns="0" rIns="0" bIns="0" rtlCol="0" anchor="ctr"/>
          <a:lstStyle/>
          <a:p>
            <a:pPr marL="0" indent="0">
              <a:buNone/>
            </a:pPr>
            <a:r>
              <a:rPr lang="en-US" sz="950" dirty="0">
                <a:solidFill>
                  <a:srgbClr val="1A1A1A"/>
                </a:solidFill>
              </a:rPr>
              <a:t>• Page title: 'Verification Details' + hall/role/date</a:t>
            </a:r>
            <a:endParaRPr lang="en-US" sz="950" dirty="0"/>
          </a:p>
          <a:p>
            <a:pPr marL="0" indent="0">
              <a:buNone/>
            </a:pPr>
            <a:r>
              <a:rPr lang="en-US" sz="950" dirty="0">
                <a:solidFill>
                  <a:srgbClr val="1A1A1A"/>
                </a:solidFill>
              </a:rPr>
              <a:t>• Current Record card:</a:t>
            </a:r>
            <a:endParaRPr lang="en-US" sz="950" dirty="0"/>
          </a:p>
          <a:p>
            <a:pPr marL="0" indent="0">
              <a:buNone/>
            </a:pPr>
            <a:r>
              <a:rPr lang="en-US" sz="950" dirty="0">
                <a:solidFill>
                  <a:srgbClr val="1A1A1A"/>
                </a:solidFill>
              </a:rPr>
              <a:t>  – Updated by (moderator name)</a:t>
            </a:r>
            <a:endParaRPr lang="en-US" sz="950" dirty="0"/>
          </a:p>
          <a:p>
            <a:pPr marL="0" indent="0">
              <a:buNone/>
            </a:pPr>
            <a:r>
              <a:rPr lang="en-US" sz="950" dirty="0">
                <a:solidFill>
                  <a:srgbClr val="1A1A1A"/>
                </a:solidFill>
              </a:rPr>
              <a:t>  – Role (Dining/Canteen Moderator)</a:t>
            </a:r>
            <a:endParaRPr lang="en-US" sz="950" dirty="0"/>
          </a:p>
          <a:p>
            <a:pPr marL="0" indent="0">
              <a:buNone/>
            </a:pPr>
            <a:r>
              <a:rPr lang="en-US" sz="950" dirty="0">
                <a:solidFill>
                  <a:srgbClr val="1A1A1A"/>
                </a:solidFill>
              </a:rPr>
              <a:t>  – Last updated timestamp</a:t>
            </a:r>
            <a:endParaRPr lang="en-US" sz="950" dirty="0"/>
          </a:p>
          <a:p>
            <a:pPr marL="0" indent="0">
              <a:buNone/>
            </a:pPr>
            <a:r>
              <a:rPr lang="en-US" sz="950" dirty="0">
                <a:solidFill>
                  <a:srgbClr val="1A1A1A"/>
                </a:solidFill>
              </a:rPr>
              <a:t>  – Verification status badge (Pending / Not Updated)</a:t>
            </a:r>
            <a:endParaRPr lang="en-US" sz="950" dirty="0"/>
          </a:p>
          <a:p>
            <a:pPr marL="0" indent="0">
              <a:buNone/>
            </a:pPr>
            <a:r>
              <a:rPr lang="en-US" sz="950" dirty="0">
                <a:solidFill>
                  <a:srgbClr val="1A1A1A"/>
                </a:solidFill>
              </a:rPr>
              <a:t>• Update History card: list of past updates with name, time, action</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493776"/>
          </a:xfrm>
          <a:prstGeom prst="rect">
            <a:avLst/>
          </a:prstGeom>
          <a:noFill/>
          <a:ln/>
        </p:spPr>
        <p:txBody>
          <a:bodyPr wrap="square" lIns="0" tIns="0" rIns="0" bIns="0" rtlCol="0" anchor="ctr"/>
          <a:lstStyle/>
          <a:p>
            <a:pPr marL="0" indent="0">
              <a:buNone/>
            </a:pPr>
            <a:r>
              <a:rPr lang="en-US" sz="950" dirty="0">
                <a:solidFill>
                  <a:srgbClr val="1A1A1A"/>
                </a:solidFill>
              </a:rPr>
              <a:t>• Read-only screen — no user actions</a:t>
            </a:r>
            <a:endParaRPr lang="en-US" sz="950" dirty="0"/>
          </a:p>
          <a:p>
            <a:pPr marL="0" indent="0">
              <a:buNone/>
            </a:pPr>
            <a:r>
              <a:rPr lang="en-US" sz="950" dirty="0">
                <a:solidFill>
                  <a:srgbClr val="1A1A1A"/>
                </a:solidFill>
              </a:rPr>
              <a:t>• Scrollable history list</a:t>
            </a:r>
            <a:endParaRPr lang="en-US" sz="950" dirty="0"/>
          </a:p>
        </p:txBody>
      </p:sp>
      <p:sp>
        <p:nvSpPr>
          <p:cNvPr id="12" name="Text 10"/>
          <p:cNvSpPr/>
          <p:nvPr/>
        </p:nvSpPr>
        <p:spPr>
          <a:xfrm>
            <a:off x="365760" y="3401568"/>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639312"/>
            <a:ext cx="5029200" cy="1097280"/>
          </a:xfrm>
          <a:prstGeom prst="roundRect">
            <a:avLst>
              <a:gd name="adj" fmla="val 5000"/>
            </a:avLst>
          </a:prstGeom>
          <a:solidFill>
            <a:srgbClr val="F0F8F0"/>
          </a:solidFill>
          <a:ln/>
        </p:spPr>
      </p:sp>
      <p:sp>
        <p:nvSpPr>
          <p:cNvPr id="14" name="Text 12"/>
          <p:cNvSpPr/>
          <p:nvPr/>
        </p:nvSpPr>
        <p:spPr>
          <a:xfrm>
            <a:off x="475488" y="3675888"/>
            <a:ext cx="4846320" cy="987552"/>
          </a:xfrm>
          <a:prstGeom prst="rect">
            <a:avLst/>
          </a:prstGeom>
          <a:noFill/>
          <a:ln/>
        </p:spPr>
        <p:txBody>
          <a:bodyPr wrap="square" lIns="0" tIns="0" rIns="0" bIns="0" rtlCol="0" anchor="ctr"/>
          <a:lstStyle/>
          <a:p>
            <a:pPr marL="0" indent="0">
              <a:buNone/>
            </a:pPr>
            <a:r>
              <a:rPr lang="en-US" sz="950" dirty="0">
                <a:solidFill>
                  <a:srgbClr val="1B4332"/>
                </a:solidFill>
              </a:rPr>
              <a:t>• getMenu(hallId, today) → reads diningUpdatedBy + diningUpdatedAt</a:t>
            </a:r>
            <a:endParaRPr lang="en-US" sz="950" dirty="0"/>
          </a:p>
          <a:p>
            <a:pPr marL="0" indent="0">
              <a:buNone/>
            </a:pPr>
            <a:r>
              <a:rPr lang="en-US" sz="950" dirty="0">
                <a:solidFill>
                  <a:srgbClr val="1B4332"/>
                </a:solidFill>
              </a:rPr>
              <a:t>• getUpdateHistory(hallId) → query updateHistory where hallId, orderBy timestamp desc, limit 50</a:t>
            </a:r>
            <a:endParaRPr lang="en-US" sz="950" dirty="0"/>
          </a:p>
          <a:p>
            <a:pPr marL="0" indent="0">
              <a:buNone/>
            </a:pPr>
            <a:r>
              <a:rPr lang="en-US" sz="950" dirty="0">
                <a:solidFill>
                  <a:srgbClr val="1B4332"/>
                </a:solidFill>
              </a:rPr>
              <a:t>• formatTime() formats Firestore Timestamp to readable local string</a:t>
            </a:r>
            <a:endParaRPr lang="en-US" sz="950" dirty="0"/>
          </a:p>
          <a:p>
            <a:pPr marL="0" indent="0">
              <a:buNone/>
            </a:pPr>
            <a:r>
              <a:rPr lang="en-US" sz="950" dirty="0">
                <a:solidFill>
                  <a:srgbClr val="1B4332"/>
                </a:solidFill>
              </a:rPr>
              <a:t>• History populated by logUpdate() calls from Menu Editor, Canteen Editor, etc.</a:t>
            </a:r>
            <a:endParaRPr lang="en-US" sz="950" dirty="0"/>
          </a:p>
        </p:txBody>
      </p:sp>
      <p:sp>
        <p:nvSpPr>
          <p:cNvPr id="15" name="Shape 13"/>
          <p:cNvSpPr/>
          <p:nvPr/>
        </p:nvSpPr>
        <p:spPr>
          <a:xfrm>
            <a:off x="365760" y="4937760"/>
            <a:ext cx="5029200" cy="347472"/>
          </a:xfrm>
          <a:prstGeom prst="roundRect">
            <a:avLst>
              <a:gd name="adj" fmla="val 15789"/>
            </a:avLst>
          </a:prstGeom>
          <a:solidFill>
            <a:srgbClr val="D4E6D8"/>
          </a:solidFill>
          <a:ln/>
        </p:spPr>
      </p:sp>
      <p:sp>
        <p:nvSpPr>
          <p:cNvPr id="16" name="Text 14"/>
          <p:cNvSpPr/>
          <p:nvPr/>
        </p:nvSpPr>
        <p:spPr>
          <a:xfrm>
            <a:off x="457200" y="4937760"/>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Verification → Dashboard (back)</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Verification</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r>
              <a:rPr lang="en-US" sz="450" dirty="0">
                <a:solidFill>
                  <a:srgbClr val="1A1A1A"/>
                </a:solidFill>
              </a:rPr>
              <a:t>Verification Details | hb • Dining</a:t>
            </a: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Current Record:</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Updated by: Dining Moderator</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Last updated: 27 Jun 2026, 7:30 AM</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Status: [Pending]</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History: Dining Mod — Updated menu</a:t>
            </a:r>
            <a:endParaRPr lang="en-US" sz="4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D5A3D"/>
          </a:solidFill>
          <a:ln/>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06.23 · Screen</a:t>
            </a:r>
            <a:endParaRPr lang="en-US" sz="900" dirty="0"/>
          </a:p>
        </p:txBody>
      </p:sp>
      <p:sp>
        <p:nvSpPr>
          <p:cNvPr id="4" name="Text 2"/>
          <p:cNvSpPr/>
          <p:nvPr/>
        </p:nvSpPr>
        <p:spPr>
          <a:xfrm>
            <a:off x="365760" y="146304"/>
            <a:ext cx="5943600" cy="40233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Success Screen</a:t>
            </a:r>
            <a:endParaRPr lang="en-US" sz="2200" dirty="0"/>
          </a:p>
        </p:txBody>
      </p:sp>
      <p:sp>
        <p:nvSpPr>
          <p:cNvPr id="5" name="Text 3"/>
          <p:cNvSpPr/>
          <p:nvPr/>
        </p:nvSpPr>
        <p:spPr>
          <a:xfrm>
            <a:off x="6858000" y="109728"/>
            <a:ext cx="1920240" cy="329184"/>
          </a:xfrm>
          <a:prstGeom prst="rect">
            <a:avLst/>
          </a:prstGeom>
          <a:noFill/>
          <a:ln/>
        </p:spPr>
        <p:txBody>
          <a:bodyPr wrap="square" lIns="0" tIns="0" rIns="0" bIns="0" rtlCol="0" anchor="ctr"/>
          <a:lstStyle/>
          <a:p>
            <a:pPr marL="0" indent="0" algn="r">
              <a:buNone/>
            </a:pPr>
            <a:r>
              <a:rPr lang="en-US" sz="1000" b="1" kern="0" spc="300" dirty="0">
                <a:solidFill>
                  <a:srgbClr val="40916C"/>
                </a:solidFill>
              </a:rPr>
              <a:t>SCREEN</a:t>
            </a:r>
            <a:endParaRPr lang="en-US" sz="1000" dirty="0"/>
          </a:p>
        </p:txBody>
      </p:sp>
      <p:sp>
        <p:nvSpPr>
          <p:cNvPr id="6" name="Text 4"/>
          <p:cNvSpPr/>
          <p:nvPr/>
        </p:nvSpPr>
        <p:spPr>
          <a:xfrm>
            <a:off x="365760" y="685800"/>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Purpose</a:t>
            </a:r>
            <a:endParaRPr lang="en-US" sz="1100" dirty="0"/>
          </a:p>
        </p:txBody>
      </p:sp>
      <p:sp>
        <p:nvSpPr>
          <p:cNvPr id="7" name="Text 5"/>
          <p:cNvSpPr/>
          <p:nvPr/>
        </p:nvSpPr>
        <p:spPr>
          <a:xfrm>
            <a:off x="365760" y="886968"/>
            <a:ext cx="5029200" cy="347472"/>
          </a:xfrm>
          <a:prstGeom prst="rect">
            <a:avLst/>
          </a:prstGeom>
          <a:noFill/>
          <a:ln/>
        </p:spPr>
        <p:txBody>
          <a:bodyPr wrap="square" lIns="0" tIns="0" rIns="0" bIns="0" rtlCol="0" anchor="ctr"/>
          <a:lstStyle/>
          <a:p>
            <a:pPr marL="0" indent="0">
              <a:buNone/>
            </a:pPr>
            <a:r>
              <a:rPr lang="en-US" sz="1000" dirty="0">
                <a:solidFill>
                  <a:srgbClr val="1A1A1A"/>
                </a:solidFill>
              </a:rPr>
              <a:t>Confirmation screen shown after any successful save operation (menu, canteen, notice, feast). Displays a green checkmark with a success message and two navigation options.</a:t>
            </a:r>
            <a:endParaRPr lang="en-US" sz="1000" dirty="0"/>
          </a:p>
        </p:txBody>
      </p:sp>
      <p:sp>
        <p:nvSpPr>
          <p:cNvPr id="8" name="Text 6"/>
          <p:cNvSpPr/>
          <p:nvPr/>
        </p:nvSpPr>
        <p:spPr>
          <a:xfrm>
            <a:off x="365760" y="1325880"/>
            <a:ext cx="2377440" cy="219456"/>
          </a:xfrm>
          <a:prstGeom prst="rect">
            <a:avLst/>
          </a:prstGeom>
          <a:noFill/>
          <a:ln/>
        </p:spPr>
        <p:txBody>
          <a:bodyPr wrap="square" lIns="0" tIns="0" rIns="0" bIns="0" rtlCol="0" anchor="ctr"/>
          <a:lstStyle/>
          <a:p>
            <a:pPr marL="0" indent="0">
              <a:buNone/>
            </a:pPr>
            <a:r>
              <a:rPr lang="en-US" sz="1100" b="1" dirty="0">
                <a:solidFill>
                  <a:srgbClr val="2D5A3D"/>
                </a:solidFill>
              </a:rPr>
              <a:t>UI Components</a:t>
            </a:r>
            <a:endParaRPr lang="en-US" sz="1100" dirty="0"/>
          </a:p>
        </p:txBody>
      </p:sp>
      <p:sp>
        <p:nvSpPr>
          <p:cNvPr id="9" name="Text 7"/>
          <p:cNvSpPr/>
          <p:nvPr/>
        </p:nvSpPr>
        <p:spPr>
          <a:xfrm>
            <a:off x="365760" y="1536192"/>
            <a:ext cx="2377440" cy="1234440"/>
          </a:xfrm>
          <a:prstGeom prst="rect">
            <a:avLst/>
          </a:prstGeom>
          <a:noFill/>
          <a:ln/>
        </p:spPr>
        <p:txBody>
          <a:bodyPr wrap="square" lIns="0" tIns="0" rIns="0" bIns="0" rtlCol="0" anchor="ctr"/>
          <a:lstStyle/>
          <a:p>
            <a:pPr marL="0" indent="0">
              <a:buNone/>
            </a:pPr>
            <a:r>
              <a:rPr lang="en-US" sz="950" dirty="0">
                <a:solidFill>
                  <a:srgbClr val="1A1A1A"/>
                </a:solidFill>
              </a:rPr>
              <a:t>• Green checkmark circle (large)</a:t>
            </a:r>
            <a:endParaRPr lang="en-US" sz="950" dirty="0"/>
          </a:p>
          <a:p>
            <a:pPr marL="0" indent="0">
              <a:buNone/>
            </a:pPr>
            <a:r>
              <a:rPr lang="en-US" sz="950" dirty="0">
                <a:solidFill>
                  <a:srgbClr val="1A1A1A"/>
                </a:solidFill>
              </a:rPr>
              <a:t>• 'Success' heading</a:t>
            </a:r>
            <a:endParaRPr lang="en-US" sz="950" dirty="0"/>
          </a:p>
          <a:p>
            <a:pPr marL="0" indent="0">
              <a:buNone/>
            </a:pPr>
            <a:r>
              <a:rPr lang="en-US" sz="950" dirty="0">
                <a:solidFill>
                  <a:srgbClr val="1A1A1A"/>
                </a:solidFill>
              </a:rPr>
              <a:t>• Description: 'Menu saved. Students can now see updates.'</a:t>
            </a:r>
            <a:endParaRPr lang="en-US" sz="950" dirty="0"/>
          </a:p>
          <a:p>
            <a:pPr marL="0" indent="0">
              <a:buNone/>
            </a:pPr>
            <a:r>
              <a:rPr lang="en-US" sz="950" dirty="0">
                <a:solidFill>
                  <a:srgbClr val="1A1A1A"/>
                </a:solidFill>
              </a:rPr>
              <a:t>• Back to Dashboard button (primary)</a:t>
            </a:r>
            <a:endParaRPr lang="en-US" sz="950" dirty="0"/>
          </a:p>
          <a:p>
            <a:pPr marL="0" indent="0">
              <a:buNone/>
            </a:pPr>
            <a:r>
              <a:rPr lang="en-US" sz="950" dirty="0">
                <a:solidFill>
                  <a:srgbClr val="1A1A1A"/>
                </a:solidFill>
              </a:rPr>
              <a:t>• Edit Again button (secondary)</a:t>
            </a:r>
            <a:endParaRPr lang="en-US" sz="950" dirty="0"/>
          </a:p>
        </p:txBody>
      </p:sp>
      <p:sp>
        <p:nvSpPr>
          <p:cNvPr id="10" name="Text 8"/>
          <p:cNvSpPr/>
          <p:nvPr/>
        </p:nvSpPr>
        <p:spPr>
          <a:xfrm>
            <a:off x="2880360" y="1325880"/>
            <a:ext cx="2560320" cy="219456"/>
          </a:xfrm>
          <a:prstGeom prst="rect">
            <a:avLst/>
          </a:prstGeom>
          <a:noFill/>
          <a:ln/>
        </p:spPr>
        <p:txBody>
          <a:bodyPr wrap="square" lIns="0" tIns="0" rIns="0" bIns="0" rtlCol="0" anchor="ctr"/>
          <a:lstStyle/>
          <a:p>
            <a:pPr marL="0" indent="0">
              <a:buNone/>
            </a:pPr>
            <a:r>
              <a:rPr lang="en-US" sz="1100" b="1" dirty="0">
                <a:solidFill>
                  <a:srgbClr val="2D5A3D"/>
                </a:solidFill>
              </a:rPr>
              <a:t>User Actions</a:t>
            </a:r>
            <a:endParaRPr lang="en-US" sz="1100" dirty="0"/>
          </a:p>
        </p:txBody>
      </p:sp>
      <p:sp>
        <p:nvSpPr>
          <p:cNvPr id="11" name="Text 9"/>
          <p:cNvSpPr/>
          <p:nvPr/>
        </p:nvSpPr>
        <p:spPr>
          <a:xfrm>
            <a:off x="2880360" y="1536192"/>
            <a:ext cx="2560320" cy="493776"/>
          </a:xfrm>
          <a:prstGeom prst="rect">
            <a:avLst/>
          </a:prstGeom>
          <a:noFill/>
          <a:ln/>
        </p:spPr>
        <p:txBody>
          <a:bodyPr wrap="square" lIns="0" tIns="0" rIns="0" bIns="0" rtlCol="0" anchor="ctr"/>
          <a:lstStyle/>
          <a:p>
            <a:pPr marL="0" indent="0">
              <a:buNone/>
            </a:pPr>
            <a:r>
              <a:rPr lang="en-US" sz="950" dirty="0">
                <a:solidFill>
                  <a:srgbClr val="1A1A1A"/>
                </a:solidFill>
              </a:rPr>
              <a:t>• Tap Back to Dashboard → router.replace('/ModeratorDashboard') with params</a:t>
            </a:r>
            <a:endParaRPr lang="en-US" sz="950" dirty="0"/>
          </a:p>
          <a:p>
            <a:pPr marL="0" indent="0">
              <a:buNone/>
            </a:pPr>
            <a:r>
              <a:rPr lang="en-US" sz="950" dirty="0">
                <a:solidFill>
                  <a:srgbClr val="1A1A1A"/>
                </a:solidFill>
              </a:rPr>
              <a:t>• Tap Edit Again → router.back() to previous screen</a:t>
            </a:r>
            <a:endParaRPr lang="en-US" sz="950" dirty="0"/>
          </a:p>
        </p:txBody>
      </p:sp>
      <p:sp>
        <p:nvSpPr>
          <p:cNvPr id="12" name="Text 10"/>
          <p:cNvSpPr/>
          <p:nvPr/>
        </p:nvSpPr>
        <p:spPr>
          <a:xfrm>
            <a:off x="365760" y="2907792"/>
            <a:ext cx="5029200" cy="219456"/>
          </a:xfrm>
          <a:prstGeom prst="rect">
            <a:avLst/>
          </a:prstGeom>
          <a:noFill/>
          <a:ln/>
        </p:spPr>
        <p:txBody>
          <a:bodyPr wrap="square" lIns="0" tIns="0" rIns="0" bIns="0" rtlCol="0" anchor="ctr"/>
          <a:lstStyle/>
          <a:p>
            <a:pPr marL="0" indent="0">
              <a:buNone/>
            </a:pPr>
            <a:r>
              <a:rPr lang="en-US" sz="1100" b="1" dirty="0">
                <a:solidFill>
                  <a:srgbClr val="2D5A3D"/>
                </a:solidFill>
              </a:rPr>
              <a:t>Backend Process</a:t>
            </a:r>
            <a:endParaRPr lang="en-US" sz="1100" dirty="0"/>
          </a:p>
        </p:txBody>
      </p:sp>
      <p:sp>
        <p:nvSpPr>
          <p:cNvPr id="13" name="Shape 11"/>
          <p:cNvSpPr/>
          <p:nvPr/>
        </p:nvSpPr>
        <p:spPr>
          <a:xfrm>
            <a:off x="365760" y="3145536"/>
            <a:ext cx="5029200" cy="850392"/>
          </a:xfrm>
          <a:prstGeom prst="roundRect">
            <a:avLst>
              <a:gd name="adj" fmla="val 6452"/>
            </a:avLst>
          </a:prstGeom>
          <a:solidFill>
            <a:srgbClr val="F0F8F0"/>
          </a:solidFill>
          <a:ln/>
        </p:spPr>
      </p:sp>
      <p:sp>
        <p:nvSpPr>
          <p:cNvPr id="14" name="Text 12"/>
          <p:cNvSpPr/>
          <p:nvPr/>
        </p:nvSpPr>
        <p:spPr>
          <a:xfrm>
            <a:off x="475488" y="3182112"/>
            <a:ext cx="4846320" cy="740664"/>
          </a:xfrm>
          <a:prstGeom prst="rect">
            <a:avLst/>
          </a:prstGeom>
          <a:noFill/>
          <a:ln/>
        </p:spPr>
        <p:txBody>
          <a:bodyPr wrap="square" lIns="0" tIns="0" rIns="0" bIns="0" rtlCol="0" anchor="ctr"/>
          <a:lstStyle/>
          <a:p>
            <a:pPr marL="0" indent="0">
              <a:buNone/>
            </a:pPr>
            <a:r>
              <a:rPr lang="en-US" sz="950" dirty="0">
                <a:solidFill>
                  <a:srgbClr val="1B4332"/>
                </a:solidFill>
              </a:rPr>
              <a:t>• No Firebase call on this screen</a:t>
            </a:r>
            <a:endParaRPr lang="en-US" sz="950" dirty="0"/>
          </a:p>
          <a:p>
            <a:pPr marL="0" indent="0">
              <a:buNone/>
            </a:pPr>
            <a:r>
              <a:rPr lang="en-US" sz="950" dirty="0">
                <a:solidFill>
                  <a:srgbClr val="1B4332"/>
                </a:solidFill>
              </a:rPr>
              <a:t>• Receives hallId, hallName, role, moderatorName as params</a:t>
            </a:r>
            <a:endParaRPr lang="en-US" sz="950" dirty="0"/>
          </a:p>
          <a:p>
            <a:pPr marL="0" indent="0">
              <a:buNone/>
            </a:pPr>
            <a:r>
              <a:rPr lang="en-US" sz="950" dirty="0">
                <a:solidFill>
                  <a:srgbClr val="1B4332"/>
                </a:solidFill>
              </a:rPr>
              <a:t>• router.replace ensures back button won't return here</a:t>
            </a:r>
            <a:endParaRPr lang="en-US" sz="950" dirty="0"/>
          </a:p>
        </p:txBody>
      </p:sp>
      <p:sp>
        <p:nvSpPr>
          <p:cNvPr id="15" name="Shape 13"/>
          <p:cNvSpPr/>
          <p:nvPr/>
        </p:nvSpPr>
        <p:spPr>
          <a:xfrm>
            <a:off x="365760" y="4197096"/>
            <a:ext cx="5029200" cy="347472"/>
          </a:xfrm>
          <a:prstGeom prst="roundRect">
            <a:avLst>
              <a:gd name="adj" fmla="val 15789"/>
            </a:avLst>
          </a:prstGeom>
          <a:solidFill>
            <a:srgbClr val="D4E6D8"/>
          </a:solidFill>
          <a:ln/>
        </p:spPr>
      </p:sp>
      <p:sp>
        <p:nvSpPr>
          <p:cNvPr id="16" name="Text 14"/>
          <p:cNvSpPr/>
          <p:nvPr/>
        </p:nvSpPr>
        <p:spPr>
          <a:xfrm>
            <a:off x="457200" y="4197096"/>
            <a:ext cx="4846320" cy="347472"/>
          </a:xfrm>
          <a:prstGeom prst="rect">
            <a:avLst/>
          </a:prstGeom>
          <a:noFill/>
          <a:ln/>
        </p:spPr>
        <p:txBody>
          <a:bodyPr wrap="square" lIns="0" tIns="0" rIns="0" bIns="0" rtlCol="0" anchor="ctr"/>
          <a:lstStyle/>
          <a:p>
            <a:pPr marL="0" indent="0">
              <a:buNone/>
            </a:pPr>
            <a:r>
              <a:rPr lang="en-US" sz="950" dirty="0">
                <a:solidFill>
                  <a:srgbClr val="2D5A3D"/>
                </a:solidFill>
              </a:rPr>
              <a:t>Navigation:  Success Screen → Dashboard  or  Previous Editor Screen</a:t>
            </a:r>
            <a:endParaRPr lang="en-US" sz="950" dirty="0"/>
          </a:p>
        </p:txBody>
      </p:sp>
      <p:sp>
        <p:nvSpPr>
          <p:cNvPr id="17" name="Shape 15"/>
          <p:cNvSpPr/>
          <p:nvPr/>
        </p:nvSpPr>
        <p:spPr>
          <a:xfrm>
            <a:off x="5806440" y="594360"/>
            <a:ext cx="2971800" cy="4297680"/>
          </a:xfrm>
          <a:prstGeom prst="roundRect">
            <a:avLst>
              <a:gd name="adj" fmla="val 5538"/>
            </a:avLst>
          </a:prstGeom>
          <a:solidFill>
            <a:srgbClr val="222222"/>
          </a:solidFill>
          <a:ln/>
          <a:effectLst>
            <a:outerShdw blurRad="152400" dist="50800" dir="2700000" algn="bl" rotWithShape="0">
              <a:srgbClr val="000000">
                <a:alpha val="25000"/>
              </a:srgbClr>
            </a:outerShdw>
          </a:effectLst>
        </p:spPr>
      </p:sp>
      <p:sp>
        <p:nvSpPr>
          <p:cNvPr id="18" name="Shape 16"/>
          <p:cNvSpPr/>
          <p:nvPr/>
        </p:nvSpPr>
        <p:spPr>
          <a:xfrm>
            <a:off x="5879592" y="685800"/>
            <a:ext cx="2825496" cy="4133088"/>
          </a:xfrm>
          <a:prstGeom prst="rect">
            <a:avLst/>
          </a:prstGeom>
          <a:solidFill>
            <a:srgbClr val="EDEAE3"/>
          </a:solidFill>
          <a:ln/>
        </p:spPr>
      </p:sp>
      <p:sp>
        <p:nvSpPr>
          <p:cNvPr id="19" name="Shape 17"/>
          <p:cNvSpPr/>
          <p:nvPr/>
        </p:nvSpPr>
        <p:spPr>
          <a:xfrm>
            <a:off x="7063740" y="658368"/>
            <a:ext cx="457200" cy="91440"/>
          </a:xfrm>
          <a:prstGeom prst="roundRect">
            <a:avLst>
              <a:gd name="adj" fmla="val 40000"/>
            </a:avLst>
          </a:prstGeom>
          <a:solidFill>
            <a:srgbClr val="111111"/>
          </a:solidFill>
          <a:ln/>
        </p:spPr>
      </p:sp>
      <p:sp>
        <p:nvSpPr>
          <p:cNvPr id="20" name="Shape 18"/>
          <p:cNvSpPr/>
          <p:nvPr/>
        </p:nvSpPr>
        <p:spPr>
          <a:xfrm>
            <a:off x="5879592" y="685800"/>
            <a:ext cx="2825496" cy="201168"/>
          </a:xfrm>
          <a:prstGeom prst="rect">
            <a:avLst/>
          </a:prstGeom>
          <a:solidFill>
            <a:srgbClr val="2D5A3D"/>
          </a:solidFill>
          <a:ln/>
        </p:spPr>
      </p:sp>
      <p:sp>
        <p:nvSpPr>
          <p:cNvPr id="21" name="Text 19"/>
          <p:cNvSpPr/>
          <p:nvPr/>
        </p:nvSpPr>
        <p:spPr>
          <a:xfrm>
            <a:off x="5879592" y="685800"/>
            <a:ext cx="2825496" cy="201168"/>
          </a:xfrm>
          <a:prstGeom prst="rect">
            <a:avLst/>
          </a:prstGeom>
          <a:noFill/>
          <a:ln/>
        </p:spPr>
        <p:txBody>
          <a:bodyPr wrap="square" lIns="0" tIns="0" rIns="0" bIns="0" rtlCol="0" anchor="ctr"/>
          <a:lstStyle/>
          <a:p>
            <a:pPr marL="0" indent="0" algn="ctr">
              <a:buNone/>
            </a:pPr>
            <a:r>
              <a:rPr lang="en-US" sz="500" b="1" dirty="0">
                <a:solidFill>
                  <a:srgbClr val="FFFFFF"/>
                </a:solidFill>
              </a:rPr>
              <a:t>Success</a:t>
            </a:r>
            <a:endParaRPr lang="en-US" sz="500" dirty="0"/>
          </a:p>
        </p:txBody>
      </p:sp>
      <p:sp>
        <p:nvSpPr>
          <p:cNvPr id="22" name="Shape 20"/>
          <p:cNvSpPr/>
          <p:nvPr/>
        </p:nvSpPr>
        <p:spPr>
          <a:xfrm>
            <a:off x="5897880" y="94183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3" name="Text 21"/>
          <p:cNvSpPr/>
          <p:nvPr/>
        </p:nvSpPr>
        <p:spPr>
          <a:xfrm>
            <a:off x="5925312" y="941832"/>
            <a:ext cx="2734056" cy="210312"/>
          </a:xfrm>
          <a:prstGeom prst="rect">
            <a:avLst/>
          </a:prstGeom>
          <a:noFill/>
          <a:ln/>
        </p:spPr>
        <p:txBody>
          <a:bodyPr wrap="square" lIns="0" tIns="0" rIns="0" bIns="0" rtlCol="0" anchor="ctr"/>
          <a:lstStyle/>
          <a:p>
            <a:pPr marL="0" indent="0">
              <a:buNone/>
            </a:pPr>
            <a:endParaRPr lang="en-US" sz="450" dirty="0"/>
          </a:p>
        </p:txBody>
      </p:sp>
      <p:sp>
        <p:nvSpPr>
          <p:cNvPr id="24" name="Shape 22"/>
          <p:cNvSpPr/>
          <p:nvPr/>
        </p:nvSpPr>
        <p:spPr>
          <a:xfrm>
            <a:off x="5897880" y="1197864"/>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5" name="Text 23"/>
          <p:cNvSpPr/>
          <p:nvPr/>
        </p:nvSpPr>
        <p:spPr>
          <a:xfrm>
            <a:off x="5925312" y="1197864"/>
            <a:ext cx="2734056" cy="210312"/>
          </a:xfrm>
          <a:prstGeom prst="rect">
            <a:avLst/>
          </a:prstGeom>
          <a:noFill/>
          <a:ln/>
        </p:spPr>
        <p:txBody>
          <a:bodyPr wrap="square" lIns="0" tIns="0" rIns="0" bIns="0" rtlCol="0" anchor="ctr"/>
          <a:lstStyle/>
          <a:p>
            <a:pPr marL="0" indent="0">
              <a:buNone/>
            </a:pPr>
            <a:r>
              <a:rPr lang="en-US" sz="450" dirty="0">
                <a:solidFill>
                  <a:srgbClr val="1A1A1A"/>
                </a:solidFill>
              </a:rPr>
              <a:t>✓</a:t>
            </a:r>
            <a:endParaRPr lang="en-US" sz="450" dirty="0"/>
          </a:p>
        </p:txBody>
      </p:sp>
      <p:sp>
        <p:nvSpPr>
          <p:cNvPr id="26" name="Shape 24"/>
          <p:cNvSpPr/>
          <p:nvPr/>
        </p:nvSpPr>
        <p:spPr>
          <a:xfrm>
            <a:off x="5897880" y="1453896"/>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7" name="Text 25"/>
          <p:cNvSpPr/>
          <p:nvPr/>
        </p:nvSpPr>
        <p:spPr>
          <a:xfrm>
            <a:off x="5925312" y="1453896"/>
            <a:ext cx="2734056" cy="210312"/>
          </a:xfrm>
          <a:prstGeom prst="rect">
            <a:avLst/>
          </a:prstGeom>
          <a:noFill/>
          <a:ln/>
        </p:spPr>
        <p:txBody>
          <a:bodyPr wrap="square" lIns="0" tIns="0" rIns="0" bIns="0" rtlCol="0" anchor="ctr"/>
          <a:lstStyle/>
          <a:p>
            <a:pPr marL="0" indent="0">
              <a:buNone/>
            </a:pPr>
            <a:r>
              <a:rPr lang="en-US" sz="450" dirty="0">
                <a:solidFill>
                  <a:srgbClr val="1A1A1A"/>
                </a:solidFill>
              </a:rPr>
              <a:t>Success</a:t>
            </a:r>
            <a:endParaRPr lang="en-US" sz="450" dirty="0"/>
          </a:p>
        </p:txBody>
      </p:sp>
      <p:sp>
        <p:nvSpPr>
          <p:cNvPr id="28" name="Shape 26"/>
          <p:cNvSpPr/>
          <p:nvPr/>
        </p:nvSpPr>
        <p:spPr>
          <a:xfrm>
            <a:off x="5897880" y="1709928"/>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29" name="Text 27"/>
          <p:cNvSpPr/>
          <p:nvPr/>
        </p:nvSpPr>
        <p:spPr>
          <a:xfrm>
            <a:off x="5925312" y="1709928"/>
            <a:ext cx="2734056" cy="210312"/>
          </a:xfrm>
          <a:prstGeom prst="rect">
            <a:avLst/>
          </a:prstGeom>
          <a:noFill/>
          <a:ln/>
        </p:spPr>
        <p:txBody>
          <a:bodyPr wrap="square" lIns="0" tIns="0" rIns="0" bIns="0" rtlCol="0" anchor="ctr"/>
          <a:lstStyle/>
          <a:p>
            <a:pPr marL="0" indent="0">
              <a:buNone/>
            </a:pPr>
            <a:r>
              <a:rPr lang="en-US" sz="450" dirty="0">
                <a:solidFill>
                  <a:srgbClr val="1A1A1A"/>
                </a:solidFill>
              </a:rPr>
              <a:t>Menu saved successfully.</a:t>
            </a:r>
            <a:endParaRPr lang="en-US" sz="450" dirty="0"/>
          </a:p>
        </p:txBody>
      </p:sp>
      <p:sp>
        <p:nvSpPr>
          <p:cNvPr id="30" name="Shape 28"/>
          <p:cNvSpPr/>
          <p:nvPr/>
        </p:nvSpPr>
        <p:spPr>
          <a:xfrm>
            <a:off x="5897880" y="1965960"/>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1" name="Text 29"/>
          <p:cNvSpPr/>
          <p:nvPr/>
        </p:nvSpPr>
        <p:spPr>
          <a:xfrm>
            <a:off x="5925312" y="1965960"/>
            <a:ext cx="2734056" cy="210312"/>
          </a:xfrm>
          <a:prstGeom prst="rect">
            <a:avLst/>
          </a:prstGeom>
          <a:noFill/>
          <a:ln/>
        </p:spPr>
        <p:txBody>
          <a:bodyPr wrap="square" lIns="0" tIns="0" rIns="0" bIns="0" rtlCol="0" anchor="ctr"/>
          <a:lstStyle/>
          <a:p>
            <a:pPr marL="0" indent="0">
              <a:buNone/>
            </a:pPr>
            <a:r>
              <a:rPr lang="en-US" sz="450" dirty="0">
                <a:solidFill>
                  <a:srgbClr val="1A1A1A"/>
                </a:solidFill>
              </a:rPr>
              <a:t>Students can now see the updated info.</a:t>
            </a:r>
            <a:endParaRPr lang="en-US" sz="450" dirty="0"/>
          </a:p>
        </p:txBody>
      </p:sp>
      <p:sp>
        <p:nvSpPr>
          <p:cNvPr id="32" name="Shape 30"/>
          <p:cNvSpPr/>
          <p:nvPr/>
        </p:nvSpPr>
        <p:spPr>
          <a:xfrm>
            <a:off x="5897880" y="2221992"/>
            <a:ext cx="2788920" cy="210312"/>
          </a:xfrm>
          <a:prstGeom prst="roundRect">
            <a:avLst>
              <a:gd name="adj" fmla="val 17391"/>
            </a:avLst>
          </a:prstGeom>
          <a:solidFill>
            <a:srgbClr val="FFFFFF"/>
          </a:solidFill>
          <a:ln/>
          <a:effectLst>
            <a:outerShdw blurRad="25400" dist="12700" dir="2700000" algn="bl" rotWithShape="0">
              <a:srgbClr val="000000">
                <a:alpha val="6000"/>
              </a:srgbClr>
            </a:outerShdw>
          </a:effectLst>
        </p:spPr>
      </p:sp>
      <p:sp>
        <p:nvSpPr>
          <p:cNvPr id="33" name="Text 31"/>
          <p:cNvSpPr/>
          <p:nvPr/>
        </p:nvSpPr>
        <p:spPr>
          <a:xfrm>
            <a:off x="5925312" y="2221992"/>
            <a:ext cx="2734056" cy="210312"/>
          </a:xfrm>
          <a:prstGeom prst="rect">
            <a:avLst/>
          </a:prstGeom>
          <a:noFill/>
          <a:ln/>
        </p:spPr>
        <p:txBody>
          <a:bodyPr wrap="square" lIns="0" tIns="0" rIns="0" bIns="0" rtlCol="0" anchor="ctr"/>
          <a:lstStyle/>
          <a:p>
            <a:pPr marL="0" indent="0">
              <a:buNone/>
            </a:pPr>
            <a:r>
              <a:rPr lang="en-US" sz="450" dirty="0">
                <a:solidFill>
                  <a:srgbClr val="1A1A1A"/>
                </a:solidFill>
              </a:rPr>
              <a:t>[Back to Dashboard]   [Edit Again]</a:t>
            </a:r>
            <a:endParaRPr lang="en-US" sz="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37160"/>
            <a:ext cx="1463040" cy="256032"/>
          </a:xfrm>
          <a:prstGeom prst="roundRect">
            <a:avLst>
              <a:gd name="adj" fmla="val 21429"/>
            </a:avLst>
          </a:prstGeom>
          <a:solidFill>
            <a:srgbClr val="D4E6D8"/>
          </a:solidFill>
          <a:ln/>
        </p:spPr>
      </p:sp>
      <p:sp>
        <p:nvSpPr>
          <p:cNvPr id="3" name="Text 1"/>
          <p:cNvSpPr/>
          <p:nvPr/>
        </p:nvSpPr>
        <p:spPr>
          <a:xfrm>
            <a:off x="365760" y="137160"/>
            <a:ext cx="1463040" cy="256032"/>
          </a:xfrm>
          <a:prstGeom prst="rect">
            <a:avLst/>
          </a:prstGeom>
          <a:noFill/>
          <a:ln/>
        </p:spPr>
        <p:txBody>
          <a:bodyPr wrap="square" lIns="0" tIns="0" rIns="0" bIns="0" rtlCol="0" anchor="ctr"/>
          <a:lstStyle/>
          <a:p>
            <a:pPr marL="0" indent="0" algn="ctr">
              <a:buNone/>
            </a:pPr>
            <a:r>
              <a:rPr lang="en-US" sz="800" b="1" dirty="0">
                <a:solidFill>
                  <a:srgbClr val="2D5A3D"/>
                </a:solidFill>
              </a:rPr>
              <a:t>07 · Architecture</a:t>
            </a:r>
            <a:endParaRPr lang="en-US" sz="800" dirty="0"/>
          </a:p>
        </p:txBody>
      </p:sp>
      <p:sp>
        <p:nvSpPr>
          <p:cNvPr id="4" name="Text 2"/>
          <p:cNvSpPr/>
          <p:nvPr/>
        </p:nvSpPr>
        <p:spPr>
          <a:xfrm>
            <a:off x="365760" y="502920"/>
            <a:ext cx="8229600" cy="45720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System Architecture</a:t>
            </a:r>
            <a:endParaRPr lang="en-US" sz="2800" dirty="0"/>
          </a:p>
        </p:txBody>
      </p:sp>
      <p:sp>
        <p:nvSpPr>
          <p:cNvPr id="5" name="Shape 3"/>
          <p:cNvSpPr/>
          <p:nvPr/>
        </p:nvSpPr>
        <p:spPr>
          <a:xfrm>
            <a:off x="365760" y="1078992"/>
            <a:ext cx="8412480" cy="457200"/>
          </a:xfrm>
          <a:prstGeom prst="roundRect">
            <a:avLst>
              <a:gd name="adj" fmla="val 20000"/>
            </a:avLst>
          </a:prstGeom>
          <a:solidFill>
            <a:srgbClr val="D4E6D8"/>
          </a:solidFill>
          <a:ln/>
          <a:effectLst>
            <a:outerShdw blurRad="76200" dist="25400" dir="2700000" algn="bl" rotWithShape="0">
              <a:srgbClr val="000000">
                <a:alpha val="10000"/>
              </a:srgbClr>
            </a:outerShdw>
          </a:effectLst>
        </p:spPr>
      </p:sp>
      <p:sp>
        <p:nvSpPr>
          <p:cNvPr id="6" name="Text 4"/>
          <p:cNvSpPr/>
          <p:nvPr/>
        </p:nvSpPr>
        <p:spPr>
          <a:xfrm>
            <a:off x="365760" y="1078992"/>
            <a:ext cx="8412480" cy="457200"/>
          </a:xfrm>
          <a:prstGeom prst="rect">
            <a:avLst/>
          </a:prstGeom>
          <a:noFill/>
          <a:ln/>
        </p:spPr>
        <p:txBody>
          <a:bodyPr wrap="square" lIns="0" tIns="0" rIns="0" bIns="0" rtlCol="0" anchor="ctr"/>
          <a:lstStyle/>
          <a:p>
            <a:pPr marL="0" indent="0" algn="ctr">
              <a:buNone/>
            </a:pPr>
            <a:r>
              <a:rPr lang="en-US" sz="1300" b="1" dirty="0">
                <a:solidFill>
                  <a:srgbClr val="2D5A3D"/>
                </a:solidFill>
              </a:rPr>
              <a:t>Firebase BaaS (Backend as a Service) Architecture — No Custom Server Required</a:t>
            </a:r>
            <a:endParaRPr lang="en-US" sz="1300" dirty="0"/>
          </a:p>
        </p:txBody>
      </p:sp>
      <p:sp>
        <p:nvSpPr>
          <p:cNvPr id="7" name="Shape 5"/>
          <p:cNvSpPr/>
          <p:nvPr/>
        </p:nvSpPr>
        <p:spPr>
          <a:xfrm>
            <a:off x="365760" y="1691640"/>
            <a:ext cx="8412480" cy="530352"/>
          </a:xfrm>
          <a:prstGeom prst="roundRect">
            <a:avLst>
              <a:gd name="adj" fmla="val 17241"/>
            </a:avLst>
          </a:prstGeom>
          <a:solidFill>
            <a:srgbClr val="EDF7F0"/>
          </a:solidFill>
          <a:ln/>
          <a:effectLst>
            <a:outerShdw blurRad="76200" dist="25400" dir="2700000" algn="bl" rotWithShape="0">
              <a:srgbClr val="000000">
                <a:alpha val="10000"/>
              </a:srgbClr>
            </a:outerShdw>
          </a:effectLst>
        </p:spPr>
      </p:sp>
      <p:sp>
        <p:nvSpPr>
          <p:cNvPr id="8" name="Text 6"/>
          <p:cNvSpPr/>
          <p:nvPr/>
        </p:nvSpPr>
        <p:spPr>
          <a:xfrm>
            <a:off x="502920" y="1719072"/>
            <a:ext cx="1463040" cy="475488"/>
          </a:xfrm>
          <a:prstGeom prst="rect">
            <a:avLst/>
          </a:prstGeom>
          <a:noFill/>
          <a:ln/>
        </p:spPr>
        <p:txBody>
          <a:bodyPr wrap="square" lIns="0" tIns="0" rIns="0" bIns="0" rtlCol="0" anchor="ctr"/>
          <a:lstStyle/>
          <a:p>
            <a:pPr marL="0" indent="0">
              <a:buNone/>
            </a:pPr>
            <a:r>
              <a:rPr lang="en-US" sz="1000" b="1" dirty="0">
                <a:solidFill>
                  <a:srgbClr val="2D5A3D"/>
                </a:solidFill>
              </a:rPr>
              <a:t>UI Layer</a:t>
            </a:r>
            <a:endParaRPr lang="en-US" sz="1000" dirty="0"/>
          </a:p>
        </p:txBody>
      </p:sp>
      <p:sp>
        <p:nvSpPr>
          <p:cNvPr id="9" name="Text 7"/>
          <p:cNvSpPr/>
          <p:nvPr/>
        </p:nvSpPr>
        <p:spPr>
          <a:xfrm>
            <a:off x="2057400" y="1719072"/>
            <a:ext cx="6492240" cy="475488"/>
          </a:xfrm>
          <a:prstGeom prst="rect">
            <a:avLst/>
          </a:prstGeom>
          <a:noFill/>
          <a:ln/>
        </p:spPr>
        <p:txBody>
          <a:bodyPr wrap="square" lIns="0" tIns="0" rIns="0" bIns="0" rtlCol="0" anchor="ctr"/>
          <a:lstStyle/>
          <a:p>
            <a:pPr marL="0" indent="0">
              <a:buNone/>
            </a:pPr>
            <a:r>
              <a:rPr lang="en-US" sz="1000" dirty="0">
                <a:solidFill>
                  <a:srgbClr val="1A1A1A"/>
                </a:solidFill>
              </a:rPr>
              <a:t>src/screens/ — React Native components, useState, useEffect, business logic</a:t>
            </a:r>
            <a:endParaRPr lang="en-US" sz="1000" dirty="0"/>
          </a:p>
        </p:txBody>
      </p:sp>
      <p:sp>
        <p:nvSpPr>
          <p:cNvPr id="10" name="Shape 8"/>
          <p:cNvSpPr/>
          <p:nvPr/>
        </p:nvSpPr>
        <p:spPr>
          <a:xfrm>
            <a:off x="365760" y="2313432"/>
            <a:ext cx="8412480" cy="530352"/>
          </a:xfrm>
          <a:prstGeom prst="roundRect">
            <a:avLst>
              <a:gd name="adj" fmla="val 17241"/>
            </a:avLst>
          </a:prstGeom>
          <a:solidFill>
            <a:srgbClr val="EEF2FF"/>
          </a:solidFill>
          <a:ln/>
          <a:effectLst>
            <a:outerShdw blurRad="76200" dist="25400" dir="2700000" algn="bl" rotWithShape="0">
              <a:srgbClr val="000000">
                <a:alpha val="10000"/>
              </a:srgbClr>
            </a:outerShdw>
          </a:effectLst>
        </p:spPr>
      </p:sp>
      <p:sp>
        <p:nvSpPr>
          <p:cNvPr id="11" name="Text 9"/>
          <p:cNvSpPr/>
          <p:nvPr/>
        </p:nvSpPr>
        <p:spPr>
          <a:xfrm>
            <a:off x="502920" y="2340864"/>
            <a:ext cx="1463040" cy="475488"/>
          </a:xfrm>
          <a:prstGeom prst="rect">
            <a:avLst/>
          </a:prstGeom>
          <a:noFill/>
          <a:ln/>
        </p:spPr>
        <p:txBody>
          <a:bodyPr wrap="square" lIns="0" tIns="0" rIns="0" bIns="0" rtlCol="0" anchor="ctr"/>
          <a:lstStyle/>
          <a:p>
            <a:pPr marL="0" indent="0">
              <a:buNone/>
            </a:pPr>
            <a:r>
              <a:rPr lang="en-US" sz="1000" b="1" dirty="0">
                <a:solidFill>
                  <a:srgbClr val="2D5A3D"/>
                </a:solidFill>
              </a:rPr>
              <a:t>Route Layer</a:t>
            </a:r>
            <a:endParaRPr lang="en-US" sz="1000" dirty="0"/>
          </a:p>
        </p:txBody>
      </p:sp>
      <p:sp>
        <p:nvSpPr>
          <p:cNvPr id="12" name="Text 10"/>
          <p:cNvSpPr/>
          <p:nvPr/>
        </p:nvSpPr>
        <p:spPr>
          <a:xfrm>
            <a:off x="2057400" y="2340864"/>
            <a:ext cx="6492240" cy="475488"/>
          </a:xfrm>
          <a:prstGeom prst="rect">
            <a:avLst/>
          </a:prstGeom>
          <a:noFill/>
          <a:ln/>
        </p:spPr>
        <p:txBody>
          <a:bodyPr wrap="square" lIns="0" tIns="0" rIns="0" bIns="0" rtlCol="0" anchor="ctr"/>
          <a:lstStyle/>
          <a:p>
            <a:pPr marL="0" indent="0">
              <a:buNone/>
            </a:pPr>
            <a:r>
              <a:rPr lang="en-US" sz="1000" dirty="0">
                <a:solidFill>
                  <a:srgbClr val="1A1A1A"/>
                </a:solidFill>
              </a:rPr>
              <a:t>src/app/ — expo-router file-based routing, thin wrapper components</a:t>
            </a:r>
            <a:endParaRPr lang="en-US" sz="1000" dirty="0"/>
          </a:p>
        </p:txBody>
      </p:sp>
      <p:sp>
        <p:nvSpPr>
          <p:cNvPr id="13" name="Shape 11"/>
          <p:cNvSpPr/>
          <p:nvPr/>
        </p:nvSpPr>
        <p:spPr>
          <a:xfrm>
            <a:off x="365760" y="2935224"/>
            <a:ext cx="8412480" cy="530352"/>
          </a:xfrm>
          <a:prstGeom prst="roundRect">
            <a:avLst>
              <a:gd name="adj" fmla="val 17241"/>
            </a:avLst>
          </a:prstGeom>
          <a:solidFill>
            <a:srgbClr val="FFF8E1"/>
          </a:solidFill>
          <a:ln/>
          <a:effectLst>
            <a:outerShdw blurRad="76200" dist="25400" dir="2700000" algn="bl" rotWithShape="0">
              <a:srgbClr val="000000">
                <a:alpha val="10000"/>
              </a:srgbClr>
            </a:outerShdw>
          </a:effectLst>
        </p:spPr>
      </p:sp>
      <p:sp>
        <p:nvSpPr>
          <p:cNvPr id="14" name="Text 12"/>
          <p:cNvSpPr/>
          <p:nvPr/>
        </p:nvSpPr>
        <p:spPr>
          <a:xfrm>
            <a:off x="502920" y="2962656"/>
            <a:ext cx="1463040" cy="475488"/>
          </a:xfrm>
          <a:prstGeom prst="rect">
            <a:avLst/>
          </a:prstGeom>
          <a:noFill/>
          <a:ln/>
        </p:spPr>
        <p:txBody>
          <a:bodyPr wrap="square" lIns="0" tIns="0" rIns="0" bIns="0" rtlCol="0" anchor="ctr"/>
          <a:lstStyle/>
          <a:p>
            <a:pPr marL="0" indent="0">
              <a:buNone/>
            </a:pPr>
            <a:r>
              <a:rPr lang="en-US" sz="1000" b="1" dirty="0">
                <a:solidFill>
                  <a:srgbClr val="2D5A3D"/>
                </a:solidFill>
              </a:rPr>
              <a:t>Data Layer</a:t>
            </a:r>
            <a:endParaRPr lang="en-US" sz="1000" dirty="0"/>
          </a:p>
        </p:txBody>
      </p:sp>
      <p:sp>
        <p:nvSpPr>
          <p:cNvPr id="15" name="Text 13"/>
          <p:cNvSpPr/>
          <p:nvPr/>
        </p:nvSpPr>
        <p:spPr>
          <a:xfrm>
            <a:off x="2057400" y="2962656"/>
            <a:ext cx="6492240" cy="475488"/>
          </a:xfrm>
          <a:prstGeom prst="rect">
            <a:avLst/>
          </a:prstGeom>
          <a:noFill/>
          <a:ln/>
        </p:spPr>
        <p:txBody>
          <a:bodyPr wrap="square" lIns="0" tIns="0" rIns="0" bIns="0" rtlCol="0" anchor="ctr"/>
          <a:lstStyle/>
          <a:p>
            <a:pPr marL="0" indent="0">
              <a:buNone/>
            </a:pPr>
            <a:r>
              <a:rPr lang="en-US" sz="1000" dirty="0">
                <a:solidFill>
                  <a:srgbClr val="1A1A1A"/>
                </a:solidFill>
              </a:rPr>
              <a:t>src/data/repository.js — ALL Firebase CRUD operations centralized (Repository Pattern)</a:t>
            </a:r>
            <a:endParaRPr lang="en-US" sz="1000" dirty="0"/>
          </a:p>
        </p:txBody>
      </p:sp>
      <p:sp>
        <p:nvSpPr>
          <p:cNvPr id="16" name="Shape 14"/>
          <p:cNvSpPr/>
          <p:nvPr/>
        </p:nvSpPr>
        <p:spPr>
          <a:xfrm>
            <a:off x="365760" y="3557016"/>
            <a:ext cx="8412480" cy="530352"/>
          </a:xfrm>
          <a:prstGeom prst="roundRect">
            <a:avLst>
              <a:gd name="adj" fmla="val 17241"/>
            </a:avLst>
          </a:prstGeom>
          <a:solidFill>
            <a:srgbClr val="F0F0F0"/>
          </a:solidFill>
          <a:ln/>
          <a:effectLst>
            <a:outerShdw blurRad="76200" dist="25400" dir="2700000" algn="bl" rotWithShape="0">
              <a:srgbClr val="000000">
                <a:alpha val="10000"/>
              </a:srgbClr>
            </a:outerShdw>
          </a:effectLst>
        </p:spPr>
      </p:sp>
      <p:sp>
        <p:nvSpPr>
          <p:cNvPr id="17" name="Text 15"/>
          <p:cNvSpPr/>
          <p:nvPr/>
        </p:nvSpPr>
        <p:spPr>
          <a:xfrm>
            <a:off x="502920" y="3584448"/>
            <a:ext cx="1463040" cy="475488"/>
          </a:xfrm>
          <a:prstGeom prst="rect">
            <a:avLst/>
          </a:prstGeom>
          <a:noFill/>
          <a:ln/>
        </p:spPr>
        <p:txBody>
          <a:bodyPr wrap="square" lIns="0" tIns="0" rIns="0" bIns="0" rtlCol="0" anchor="ctr"/>
          <a:lstStyle/>
          <a:p>
            <a:pPr marL="0" indent="0">
              <a:buNone/>
            </a:pPr>
            <a:r>
              <a:rPr lang="en-US" sz="1000" b="1" dirty="0">
                <a:solidFill>
                  <a:srgbClr val="2D5A3D"/>
                </a:solidFill>
              </a:rPr>
              <a:t>Firebase SDK</a:t>
            </a:r>
            <a:endParaRPr lang="en-US" sz="1000" dirty="0"/>
          </a:p>
        </p:txBody>
      </p:sp>
      <p:sp>
        <p:nvSpPr>
          <p:cNvPr id="18" name="Text 16"/>
          <p:cNvSpPr/>
          <p:nvPr/>
        </p:nvSpPr>
        <p:spPr>
          <a:xfrm>
            <a:off x="2057400" y="3584448"/>
            <a:ext cx="6492240" cy="475488"/>
          </a:xfrm>
          <a:prstGeom prst="rect">
            <a:avLst/>
          </a:prstGeom>
          <a:noFill/>
          <a:ln/>
        </p:spPr>
        <p:txBody>
          <a:bodyPr wrap="square" lIns="0" tIns="0" rIns="0" bIns="0" rtlCol="0" anchor="ctr"/>
          <a:lstStyle/>
          <a:p>
            <a:pPr marL="0" indent="0">
              <a:buNone/>
            </a:pPr>
            <a:r>
              <a:rPr lang="en-US" sz="1000" dirty="0">
                <a:solidFill>
                  <a:srgbClr val="1A1A1A"/>
                </a:solidFill>
              </a:rPr>
              <a:t>JavaScript SDK — HTTPS requests, real-time listeners, auth token injection</a:t>
            </a:r>
            <a:endParaRPr lang="en-US" sz="1000" dirty="0"/>
          </a:p>
        </p:txBody>
      </p:sp>
      <p:sp>
        <p:nvSpPr>
          <p:cNvPr id="19" name="Shape 17"/>
          <p:cNvSpPr/>
          <p:nvPr/>
        </p:nvSpPr>
        <p:spPr>
          <a:xfrm>
            <a:off x="365760" y="4178808"/>
            <a:ext cx="8412480" cy="530352"/>
          </a:xfrm>
          <a:prstGeom prst="roundRect">
            <a:avLst>
              <a:gd name="adj" fmla="val 17241"/>
            </a:avLst>
          </a:prstGeom>
          <a:solidFill>
            <a:srgbClr val="D4E6D8"/>
          </a:solidFill>
          <a:ln/>
          <a:effectLst>
            <a:outerShdw blurRad="76200" dist="25400" dir="2700000" algn="bl" rotWithShape="0">
              <a:srgbClr val="000000">
                <a:alpha val="10000"/>
              </a:srgbClr>
            </a:outerShdw>
          </a:effectLst>
        </p:spPr>
      </p:sp>
      <p:sp>
        <p:nvSpPr>
          <p:cNvPr id="20" name="Text 18"/>
          <p:cNvSpPr/>
          <p:nvPr/>
        </p:nvSpPr>
        <p:spPr>
          <a:xfrm>
            <a:off x="502920" y="4206240"/>
            <a:ext cx="1463040" cy="475488"/>
          </a:xfrm>
          <a:prstGeom prst="rect">
            <a:avLst/>
          </a:prstGeom>
          <a:noFill/>
          <a:ln/>
        </p:spPr>
        <p:txBody>
          <a:bodyPr wrap="square" lIns="0" tIns="0" rIns="0" bIns="0" rtlCol="0" anchor="ctr"/>
          <a:lstStyle/>
          <a:p>
            <a:pPr marL="0" indent="0">
              <a:buNone/>
            </a:pPr>
            <a:r>
              <a:rPr lang="en-US" sz="1000" b="1" dirty="0">
                <a:solidFill>
                  <a:srgbClr val="2D5A3D"/>
                </a:solidFill>
              </a:rPr>
              <a:t>Firebase Cloud</a:t>
            </a:r>
            <a:endParaRPr lang="en-US" sz="1000" dirty="0"/>
          </a:p>
        </p:txBody>
      </p:sp>
      <p:sp>
        <p:nvSpPr>
          <p:cNvPr id="21" name="Text 19"/>
          <p:cNvSpPr/>
          <p:nvPr/>
        </p:nvSpPr>
        <p:spPr>
          <a:xfrm>
            <a:off x="2057400" y="4206240"/>
            <a:ext cx="6492240" cy="475488"/>
          </a:xfrm>
          <a:prstGeom prst="rect">
            <a:avLst/>
          </a:prstGeom>
          <a:noFill/>
          <a:ln/>
        </p:spPr>
        <p:txBody>
          <a:bodyPr wrap="square" lIns="0" tIns="0" rIns="0" bIns="0" rtlCol="0" anchor="ctr"/>
          <a:lstStyle/>
          <a:p>
            <a:pPr marL="0" indent="0">
              <a:buNone/>
            </a:pPr>
            <a:r>
              <a:rPr lang="en-US" sz="1000" dirty="0">
                <a:solidFill>
                  <a:srgbClr val="1A1A1A"/>
                </a:solidFill>
              </a:rPr>
              <a:t>Authentication  |  Firestore Database  |  Security Rules — hosted on Google servers</a:t>
            </a:r>
            <a:endParaRPr lang="en-US" sz="1000" dirty="0"/>
          </a:p>
        </p:txBody>
      </p:sp>
      <p:sp>
        <p:nvSpPr>
          <p:cNvPr id="22" name="Text 20"/>
          <p:cNvSpPr/>
          <p:nvPr/>
        </p:nvSpPr>
        <p:spPr>
          <a:xfrm>
            <a:off x="365760" y="4828032"/>
            <a:ext cx="8229600" cy="219456"/>
          </a:xfrm>
          <a:prstGeom prst="rect">
            <a:avLst/>
          </a:prstGeom>
          <a:noFill/>
          <a:ln/>
        </p:spPr>
        <p:txBody>
          <a:bodyPr wrap="square" lIns="0" tIns="0" rIns="0" bIns="0" rtlCol="0" anchor="ctr"/>
          <a:lstStyle/>
          <a:p>
            <a:pPr marL="0" indent="0">
              <a:buNone/>
            </a:pPr>
            <a:r>
              <a:rPr lang="en-US" sz="1100" b="1" dirty="0">
                <a:solidFill>
                  <a:srgbClr val="1A1A1A"/>
                </a:solidFill>
              </a:rPr>
              <a:t>Key Architecture Decisions</a:t>
            </a:r>
            <a:endParaRPr lang="en-US" sz="1100" dirty="0"/>
          </a:p>
        </p:txBody>
      </p:sp>
      <p:sp>
        <p:nvSpPr>
          <p:cNvPr id="23" name="Text 21"/>
          <p:cNvSpPr/>
          <p:nvPr/>
        </p:nvSpPr>
        <p:spPr>
          <a:xfrm>
            <a:off x="457200" y="5047488"/>
            <a:ext cx="8229600" cy="201168"/>
          </a:xfrm>
          <a:prstGeom prst="rect">
            <a:avLst/>
          </a:prstGeom>
          <a:noFill/>
          <a:ln/>
        </p:spPr>
        <p:txBody>
          <a:bodyPr wrap="square" lIns="0" tIns="0" rIns="0" bIns="0" rtlCol="0" anchor="ctr"/>
          <a:lstStyle/>
          <a:p>
            <a:pPr marL="0" indent="0">
              <a:buNone/>
            </a:pPr>
            <a:r>
              <a:rPr lang="en-US" sz="950" dirty="0">
                <a:solidFill>
                  <a:srgbClr val="6B6B60"/>
                </a:solidFill>
              </a:rPr>
              <a:t>• Document ID = hallId_dateKey → O(1) menu lookup instead of compound query</a:t>
            </a:r>
            <a:endParaRPr lang="en-US" sz="950" dirty="0"/>
          </a:p>
        </p:txBody>
      </p:sp>
      <p:sp>
        <p:nvSpPr>
          <p:cNvPr id="24" name="Text 22"/>
          <p:cNvSpPr/>
          <p:nvPr/>
        </p:nvSpPr>
        <p:spPr>
          <a:xfrm>
            <a:off x="457200" y="5047488"/>
            <a:ext cx="8229600" cy="201168"/>
          </a:xfrm>
          <a:prstGeom prst="rect">
            <a:avLst/>
          </a:prstGeom>
          <a:noFill/>
          <a:ln/>
        </p:spPr>
        <p:txBody>
          <a:bodyPr wrap="square" lIns="0" tIns="0" rIns="0" bIns="0" rtlCol="0" anchor="ctr"/>
          <a:lstStyle/>
          <a:p>
            <a:pPr marL="0" indent="0">
              <a:buNone/>
            </a:pPr>
            <a:r>
              <a:rPr lang="en-US" sz="950" dirty="0">
                <a:solidFill>
                  <a:srgbClr val="6B6B60"/>
                </a:solidFill>
              </a:rPr>
              <a:t>• Repository Pattern → all Firestore calls in one file; screens never touch Firebase directly</a:t>
            </a:r>
            <a:endParaRPr lang="en-US" sz="950" dirty="0"/>
          </a:p>
        </p:txBody>
      </p:sp>
      <p:sp>
        <p:nvSpPr>
          <p:cNvPr id="25" name="Text 23"/>
          <p:cNvSpPr/>
          <p:nvPr/>
        </p:nvSpPr>
        <p:spPr>
          <a:xfrm>
            <a:off x="457200" y="5047488"/>
            <a:ext cx="8229600" cy="201168"/>
          </a:xfrm>
          <a:prstGeom prst="rect">
            <a:avLst/>
          </a:prstGeom>
          <a:noFill/>
          <a:ln/>
        </p:spPr>
        <p:txBody>
          <a:bodyPr wrap="square" lIns="0" tIns="0" rIns="0" bIns="0" rtlCol="0" anchor="ctr"/>
          <a:lstStyle/>
          <a:p>
            <a:pPr marL="0" indent="0">
              <a:buNone/>
            </a:pPr>
            <a:r>
              <a:rPr lang="en-US" sz="950" dirty="0">
                <a:solidFill>
                  <a:srgbClr val="6B6B60"/>
                </a:solidFill>
              </a:rPr>
              <a:t>• Local useState only → no Redux/Context API; data passed between screens via expo-router params</a:t>
            </a:r>
            <a:endParaRPr lang="en-US" sz="950" dirty="0"/>
          </a:p>
        </p:txBody>
      </p:sp>
      <p:sp>
        <p:nvSpPr>
          <p:cNvPr id="26" name="Text 24"/>
          <p:cNvSpPr/>
          <p:nvPr/>
        </p:nvSpPr>
        <p:spPr>
          <a:xfrm>
            <a:off x="457200" y="5047488"/>
            <a:ext cx="8229600" cy="201168"/>
          </a:xfrm>
          <a:prstGeom prst="rect">
            <a:avLst/>
          </a:prstGeom>
          <a:noFill/>
          <a:ln/>
        </p:spPr>
        <p:txBody>
          <a:bodyPr wrap="square" lIns="0" tIns="0" rIns="0" bIns="0" rtlCol="0" anchor="ctr"/>
          <a:lstStyle/>
          <a:p>
            <a:pPr marL="0" indent="0">
              <a:buNone/>
            </a:pPr>
            <a:r>
              <a:rPr lang="en-US" sz="950" dirty="0">
                <a:solidFill>
                  <a:srgbClr val="6B6B60"/>
                </a:solidFill>
              </a:rPr>
              <a:t>• Denormalization → hallName stored in notices/feasts to avoid JOIN queries</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2D5A3D"/>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oundRect">
            <a:avLst>
              <a:gd name="adj" fmla="val 14286"/>
            </a:avLst>
          </a:prstGeom>
          <a:solidFill>
            <a:srgbClr val="2D5A3D"/>
          </a:solidFill>
          <a:ln/>
          <a:effectLst>
            <a:outerShdw blurRad="76200" dist="25400" dir="2700000" algn="bl" rotWithShape="0">
              <a:srgbClr val="000000">
                <a:alpha val="10000"/>
              </a:srgbClr>
            </a:outerShdw>
          </a:effectLst>
        </p:spPr>
      </p:sp>
      <p:sp>
        <p:nvSpPr>
          <p:cNvPr id="3" name="Text 1"/>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08 · Database</a:t>
            </a:r>
            <a:endParaRPr lang="en-US" sz="900" dirty="0"/>
          </a:p>
        </p:txBody>
      </p:sp>
      <p:sp>
        <p:nvSpPr>
          <p:cNvPr id="4" name="Text 2"/>
          <p:cNvSpPr/>
          <p:nvPr/>
        </p:nvSpPr>
        <p:spPr>
          <a:xfrm>
            <a:off x="365760" y="164592"/>
            <a:ext cx="8229600" cy="47548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Database Overview — Firebase Firestore</a:t>
            </a:r>
            <a:endParaRPr lang="en-US" sz="2400" dirty="0"/>
          </a:p>
        </p:txBody>
      </p:sp>
      <p:sp>
        <p:nvSpPr>
          <p:cNvPr id="5" name="Shape 3"/>
          <p:cNvSpPr/>
          <p:nvPr/>
        </p:nvSpPr>
        <p:spPr>
          <a:xfrm>
            <a:off x="365760" y="777240"/>
            <a:ext cx="8412480" cy="612648"/>
          </a:xfrm>
          <a:prstGeom prst="roundRect">
            <a:avLst>
              <a:gd name="adj" fmla="val 14925"/>
            </a:avLst>
          </a:prstGeom>
          <a:solidFill>
            <a:srgbClr val="1B4332"/>
          </a:solidFill>
          <a:ln/>
          <a:effectLst>
            <a:outerShdw blurRad="76200" dist="25400" dir="2700000" algn="bl" rotWithShape="0">
              <a:srgbClr val="000000">
                <a:alpha val="10000"/>
              </a:srgbClr>
            </a:outerShdw>
          </a:effectLst>
        </p:spPr>
      </p:sp>
      <p:sp>
        <p:nvSpPr>
          <p:cNvPr id="6" name="Shape 4"/>
          <p:cNvSpPr/>
          <p:nvPr/>
        </p:nvSpPr>
        <p:spPr>
          <a:xfrm>
            <a:off x="457200" y="868680"/>
            <a:ext cx="1463040" cy="438912"/>
          </a:xfrm>
          <a:prstGeom prst="roundRect">
            <a:avLst>
              <a:gd name="adj" fmla="val 10417"/>
            </a:avLst>
          </a:prstGeom>
          <a:solidFill>
            <a:srgbClr val="40916C"/>
          </a:solidFill>
          <a:ln/>
        </p:spPr>
      </p:sp>
      <p:sp>
        <p:nvSpPr>
          <p:cNvPr id="7" name="Text 5"/>
          <p:cNvSpPr/>
          <p:nvPr/>
        </p:nvSpPr>
        <p:spPr>
          <a:xfrm>
            <a:off x="457200" y="868680"/>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menus</a:t>
            </a:r>
            <a:endParaRPr lang="en-US" sz="1100" dirty="0"/>
          </a:p>
        </p:txBody>
      </p:sp>
      <p:sp>
        <p:nvSpPr>
          <p:cNvPr id="8" name="Text 6"/>
          <p:cNvSpPr/>
          <p:nvPr/>
        </p:nvSpPr>
        <p:spPr>
          <a:xfrm>
            <a:off x="457200" y="1088136"/>
            <a:ext cx="1463040" cy="201168"/>
          </a:xfrm>
          <a:prstGeom prst="rect">
            <a:avLst/>
          </a:prstGeom>
          <a:noFill/>
          <a:ln/>
        </p:spPr>
        <p:txBody>
          <a:bodyPr wrap="square" lIns="0" tIns="0" rIns="0" bIns="0" rtlCol="0" anchor="ctr"/>
          <a:lstStyle/>
          <a:p>
            <a:pPr marL="0" indent="0" algn="ctr">
              <a:buNone/>
            </a:pPr>
            <a:r>
              <a:rPr lang="en-US" sz="700" dirty="0">
                <a:solidFill>
                  <a:srgbClr val="A8D5B5"/>
                </a:solidFill>
              </a:rPr>
              <a:t>ID: hallId_dateKey</a:t>
            </a:r>
            <a:endParaRPr lang="en-US" sz="700" dirty="0"/>
          </a:p>
        </p:txBody>
      </p:sp>
      <p:sp>
        <p:nvSpPr>
          <p:cNvPr id="9" name="Text 7"/>
          <p:cNvSpPr/>
          <p:nvPr/>
        </p:nvSpPr>
        <p:spPr>
          <a:xfrm>
            <a:off x="2011680" y="868680"/>
            <a:ext cx="5669280" cy="274320"/>
          </a:xfrm>
          <a:prstGeom prst="rect">
            <a:avLst/>
          </a:prstGeom>
          <a:noFill/>
          <a:ln/>
        </p:spPr>
        <p:txBody>
          <a:bodyPr wrap="square" lIns="0" tIns="0" rIns="0" bIns="0" rtlCol="0" anchor="ctr"/>
          <a:lstStyle/>
          <a:p>
            <a:pPr marL="0" indent="0">
              <a:buNone/>
            </a:pPr>
            <a:r>
              <a:rPr lang="en-US" sz="950" dirty="0">
                <a:solidFill>
                  <a:srgbClr val="FFFFFF"/>
                </a:solidFill>
              </a:rPr>
              <a:t>dining: {breakfast,lunch,dinner}  |  canteen: {items[]}  |  diningUpdatedBy  |  updatedAt</a:t>
            </a:r>
            <a:endParaRPr lang="en-US" sz="950" dirty="0"/>
          </a:p>
        </p:txBody>
      </p:sp>
      <p:sp>
        <p:nvSpPr>
          <p:cNvPr id="10" name="Shape 8"/>
          <p:cNvSpPr/>
          <p:nvPr/>
        </p:nvSpPr>
        <p:spPr>
          <a:xfrm>
            <a:off x="7772400" y="886968"/>
            <a:ext cx="914400" cy="402336"/>
          </a:xfrm>
          <a:prstGeom prst="roundRect">
            <a:avLst>
              <a:gd name="adj" fmla="val 11364"/>
            </a:avLst>
          </a:prstGeom>
          <a:solidFill>
            <a:srgbClr val="2D5A3D"/>
          </a:solidFill>
          <a:ln/>
        </p:spPr>
      </p:sp>
      <p:sp>
        <p:nvSpPr>
          <p:cNvPr id="11" name="Text 9"/>
          <p:cNvSpPr/>
          <p:nvPr/>
        </p:nvSpPr>
        <p:spPr>
          <a:xfrm>
            <a:off x="7772400" y="886968"/>
            <a:ext cx="914400" cy="402336"/>
          </a:xfrm>
          <a:prstGeom prst="rect">
            <a:avLst/>
          </a:prstGeom>
          <a:noFill/>
          <a:ln/>
        </p:spPr>
        <p:txBody>
          <a:bodyPr wrap="square" lIns="25400" tIns="25400" rIns="25400" bIns="25400" rtlCol="0" anchor="ctr"/>
          <a:lstStyle/>
          <a:p>
            <a:pPr marL="0" indent="0" algn="ctr">
              <a:buNone/>
            </a:pPr>
            <a:r>
              <a:rPr lang="en-US" sz="750" dirty="0">
                <a:solidFill>
                  <a:srgbClr val="A8D5B5"/>
                </a:solidFill>
              </a:rPr>
              <a:t>Core collection. O(1) lookup.</a:t>
            </a:r>
            <a:endParaRPr lang="en-US" sz="750" dirty="0"/>
          </a:p>
        </p:txBody>
      </p:sp>
      <p:sp>
        <p:nvSpPr>
          <p:cNvPr id="12" name="Shape 10"/>
          <p:cNvSpPr/>
          <p:nvPr/>
        </p:nvSpPr>
        <p:spPr>
          <a:xfrm>
            <a:off x="365760" y="1481328"/>
            <a:ext cx="8412480" cy="612648"/>
          </a:xfrm>
          <a:prstGeom prst="roundRect">
            <a:avLst>
              <a:gd name="adj" fmla="val 14925"/>
            </a:avLst>
          </a:prstGeom>
          <a:solidFill>
            <a:srgbClr val="1B4332"/>
          </a:solidFill>
          <a:ln/>
          <a:effectLst>
            <a:outerShdw blurRad="76200" dist="25400" dir="2700000" algn="bl" rotWithShape="0">
              <a:srgbClr val="000000">
                <a:alpha val="10000"/>
              </a:srgbClr>
            </a:outerShdw>
          </a:effectLst>
        </p:spPr>
      </p:sp>
      <p:sp>
        <p:nvSpPr>
          <p:cNvPr id="13" name="Shape 11"/>
          <p:cNvSpPr/>
          <p:nvPr/>
        </p:nvSpPr>
        <p:spPr>
          <a:xfrm>
            <a:off x="457200" y="1572768"/>
            <a:ext cx="1463040" cy="438912"/>
          </a:xfrm>
          <a:prstGeom prst="roundRect">
            <a:avLst>
              <a:gd name="adj" fmla="val 10417"/>
            </a:avLst>
          </a:prstGeom>
          <a:solidFill>
            <a:srgbClr val="40916C"/>
          </a:solidFill>
          <a:ln/>
        </p:spPr>
      </p:sp>
      <p:sp>
        <p:nvSpPr>
          <p:cNvPr id="14" name="Text 12"/>
          <p:cNvSpPr/>
          <p:nvPr/>
        </p:nvSpPr>
        <p:spPr>
          <a:xfrm>
            <a:off x="457200" y="1572768"/>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moderators</a:t>
            </a:r>
            <a:endParaRPr lang="en-US" sz="1100" dirty="0"/>
          </a:p>
        </p:txBody>
      </p:sp>
      <p:sp>
        <p:nvSpPr>
          <p:cNvPr id="15" name="Text 13"/>
          <p:cNvSpPr/>
          <p:nvPr/>
        </p:nvSpPr>
        <p:spPr>
          <a:xfrm>
            <a:off x="457200" y="1792224"/>
            <a:ext cx="1463040" cy="201168"/>
          </a:xfrm>
          <a:prstGeom prst="rect">
            <a:avLst/>
          </a:prstGeom>
          <a:noFill/>
          <a:ln/>
        </p:spPr>
        <p:txBody>
          <a:bodyPr wrap="square" lIns="0" tIns="0" rIns="0" bIns="0" rtlCol="0" anchor="ctr"/>
          <a:lstStyle/>
          <a:p>
            <a:pPr marL="0" indent="0" algn="ctr">
              <a:buNone/>
            </a:pPr>
            <a:r>
              <a:rPr lang="en-US" sz="700" dirty="0">
                <a:solidFill>
                  <a:srgbClr val="A8D5B5"/>
                </a:solidFill>
              </a:rPr>
              <a:t>ID: Firebase Auth UID</a:t>
            </a:r>
            <a:endParaRPr lang="en-US" sz="700" dirty="0"/>
          </a:p>
        </p:txBody>
      </p:sp>
      <p:sp>
        <p:nvSpPr>
          <p:cNvPr id="16" name="Text 14"/>
          <p:cNvSpPr/>
          <p:nvPr/>
        </p:nvSpPr>
        <p:spPr>
          <a:xfrm>
            <a:off x="2011680" y="1572768"/>
            <a:ext cx="5669280" cy="274320"/>
          </a:xfrm>
          <a:prstGeom prst="rect">
            <a:avLst/>
          </a:prstGeom>
          <a:noFill/>
          <a:ln/>
        </p:spPr>
        <p:txBody>
          <a:bodyPr wrap="square" lIns="0" tIns="0" rIns="0" bIns="0" rtlCol="0" anchor="ctr"/>
          <a:lstStyle/>
          <a:p>
            <a:pPr marL="0" indent="0">
              <a:buNone/>
            </a:pPr>
            <a:r>
              <a:rPr lang="en-US" sz="950" dirty="0">
                <a:solidFill>
                  <a:srgbClr val="FFFFFF"/>
                </a:solidFill>
              </a:rPr>
              <a:t>hallId  |  hallName  |  name  |  role (dining/canteen)  |  email  |  createdAt</a:t>
            </a:r>
            <a:endParaRPr lang="en-US" sz="950" dirty="0"/>
          </a:p>
        </p:txBody>
      </p:sp>
      <p:sp>
        <p:nvSpPr>
          <p:cNvPr id="17" name="Shape 15"/>
          <p:cNvSpPr/>
          <p:nvPr/>
        </p:nvSpPr>
        <p:spPr>
          <a:xfrm>
            <a:off x="7772400" y="1591056"/>
            <a:ext cx="914400" cy="402336"/>
          </a:xfrm>
          <a:prstGeom prst="roundRect">
            <a:avLst>
              <a:gd name="adj" fmla="val 11364"/>
            </a:avLst>
          </a:prstGeom>
          <a:solidFill>
            <a:srgbClr val="2D5A3D"/>
          </a:solidFill>
          <a:ln/>
        </p:spPr>
      </p:sp>
      <p:sp>
        <p:nvSpPr>
          <p:cNvPr id="18" name="Text 16"/>
          <p:cNvSpPr/>
          <p:nvPr/>
        </p:nvSpPr>
        <p:spPr>
          <a:xfrm>
            <a:off x="7772400" y="1591056"/>
            <a:ext cx="914400" cy="402336"/>
          </a:xfrm>
          <a:prstGeom prst="rect">
            <a:avLst/>
          </a:prstGeom>
          <a:noFill/>
          <a:ln/>
        </p:spPr>
        <p:txBody>
          <a:bodyPr wrap="square" lIns="25400" tIns="25400" rIns="25400" bIns="25400" rtlCol="0" anchor="ctr"/>
          <a:lstStyle/>
          <a:p>
            <a:pPr marL="0" indent="0" algn="ctr">
              <a:buNone/>
            </a:pPr>
            <a:r>
              <a:rPr lang="en-US" sz="750" dirty="0">
                <a:solidFill>
                  <a:srgbClr val="A8D5B5"/>
                </a:solidFill>
              </a:rPr>
              <a:t>1 per role per hall.</a:t>
            </a:r>
            <a:endParaRPr lang="en-US" sz="750" dirty="0"/>
          </a:p>
        </p:txBody>
      </p:sp>
      <p:sp>
        <p:nvSpPr>
          <p:cNvPr id="19" name="Shape 17"/>
          <p:cNvSpPr/>
          <p:nvPr/>
        </p:nvSpPr>
        <p:spPr>
          <a:xfrm>
            <a:off x="365760" y="2185416"/>
            <a:ext cx="8412480" cy="612648"/>
          </a:xfrm>
          <a:prstGeom prst="roundRect">
            <a:avLst>
              <a:gd name="adj" fmla="val 14925"/>
            </a:avLst>
          </a:prstGeom>
          <a:solidFill>
            <a:srgbClr val="1B4332"/>
          </a:solidFill>
          <a:ln/>
          <a:effectLst>
            <a:outerShdw blurRad="76200" dist="25400" dir="2700000" algn="bl" rotWithShape="0">
              <a:srgbClr val="000000">
                <a:alpha val="10000"/>
              </a:srgbClr>
            </a:outerShdw>
          </a:effectLst>
        </p:spPr>
      </p:sp>
      <p:sp>
        <p:nvSpPr>
          <p:cNvPr id="20" name="Shape 18"/>
          <p:cNvSpPr/>
          <p:nvPr/>
        </p:nvSpPr>
        <p:spPr>
          <a:xfrm>
            <a:off x="457200" y="2276856"/>
            <a:ext cx="1463040" cy="438912"/>
          </a:xfrm>
          <a:prstGeom prst="roundRect">
            <a:avLst>
              <a:gd name="adj" fmla="val 10417"/>
            </a:avLst>
          </a:prstGeom>
          <a:solidFill>
            <a:srgbClr val="40916C"/>
          </a:solidFill>
          <a:ln/>
        </p:spPr>
      </p:sp>
      <p:sp>
        <p:nvSpPr>
          <p:cNvPr id="21" name="Text 19"/>
          <p:cNvSpPr/>
          <p:nvPr/>
        </p:nvSpPr>
        <p:spPr>
          <a:xfrm>
            <a:off x="457200" y="2276856"/>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notices</a:t>
            </a:r>
            <a:endParaRPr lang="en-US" sz="1100" dirty="0"/>
          </a:p>
        </p:txBody>
      </p:sp>
      <p:sp>
        <p:nvSpPr>
          <p:cNvPr id="22" name="Text 20"/>
          <p:cNvSpPr/>
          <p:nvPr/>
        </p:nvSpPr>
        <p:spPr>
          <a:xfrm>
            <a:off x="457200" y="2496312"/>
            <a:ext cx="1463040" cy="201168"/>
          </a:xfrm>
          <a:prstGeom prst="rect">
            <a:avLst/>
          </a:prstGeom>
          <a:noFill/>
          <a:ln/>
        </p:spPr>
        <p:txBody>
          <a:bodyPr wrap="square" lIns="0" tIns="0" rIns="0" bIns="0" rtlCol="0" anchor="ctr"/>
          <a:lstStyle/>
          <a:p>
            <a:pPr marL="0" indent="0" algn="ctr">
              <a:buNone/>
            </a:pPr>
            <a:r>
              <a:rPr lang="en-US" sz="700" dirty="0">
                <a:solidFill>
                  <a:srgbClr val="A8D5B5"/>
                </a:solidFill>
              </a:rPr>
              <a:t>ID: Auto ID</a:t>
            </a:r>
            <a:endParaRPr lang="en-US" sz="700" dirty="0"/>
          </a:p>
        </p:txBody>
      </p:sp>
      <p:sp>
        <p:nvSpPr>
          <p:cNvPr id="23" name="Text 21"/>
          <p:cNvSpPr/>
          <p:nvPr/>
        </p:nvSpPr>
        <p:spPr>
          <a:xfrm>
            <a:off x="2011680" y="2276856"/>
            <a:ext cx="5669280" cy="274320"/>
          </a:xfrm>
          <a:prstGeom prst="rect">
            <a:avLst/>
          </a:prstGeom>
          <a:noFill/>
          <a:ln/>
        </p:spPr>
        <p:txBody>
          <a:bodyPr wrap="square" lIns="0" tIns="0" rIns="0" bIns="0" rtlCol="0" anchor="ctr"/>
          <a:lstStyle/>
          <a:p>
            <a:pPr marL="0" indent="0">
              <a:buNone/>
            </a:pPr>
            <a:r>
              <a:rPr lang="en-US" sz="950" dirty="0">
                <a:solidFill>
                  <a:srgbClr val="FFFFFF"/>
                </a:solidFill>
              </a:rPr>
              <a:t>hallId  |  type (role)  |  noticeType  |  title  |  message  |  expiresIn  |  createdAt</a:t>
            </a:r>
            <a:endParaRPr lang="en-US" sz="950" dirty="0"/>
          </a:p>
        </p:txBody>
      </p:sp>
      <p:sp>
        <p:nvSpPr>
          <p:cNvPr id="24" name="Shape 22"/>
          <p:cNvSpPr/>
          <p:nvPr/>
        </p:nvSpPr>
        <p:spPr>
          <a:xfrm>
            <a:off x="7772400" y="2295144"/>
            <a:ext cx="914400" cy="402336"/>
          </a:xfrm>
          <a:prstGeom prst="roundRect">
            <a:avLst>
              <a:gd name="adj" fmla="val 11364"/>
            </a:avLst>
          </a:prstGeom>
          <a:solidFill>
            <a:srgbClr val="2D5A3D"/>
          </a:solidFill>
          <a:ln/>
        </p:spPr>
      </p:sp>
      <p:sp>
        <p:nvSpPr>
          <p:cNvPr id="25" name="Text 23"/>
          <p:cNvSpPr/>
          <p:nvPr/>
        </p:nvSpPr>
        <p:spPr>
          <a:xfrm>
            <a:off x="7772400" y="2295144"/>
            <a:ext cx="914400" cy="402336"/>
          </a:xfrm>
          <a:prstGeom prst="rect">
            <a:avLst/>
          </a:prstGeom>
          <a:noFill/>
          <a:ln/>
        </p:spPr>
        <p:txBody>
          <a:bodyPr wrap="square" lIns="25400" tIns="25400" rIns="25400" bIns="25400" rtlCol="0" anchor="ctr"/>
          <a:lstStyle/>
          <a:p>
            <a:pPr marL="0" indent="0" algn="ctr">
              <a:buNone/>
            </a:pPr>
            <a:r>
              <a:rPr lang="en-US" sz="750" dirty="0">
                <a:solidFill>
                  <a:srgbClr val="A8D5B5"/>
                </a:solidFill>
              </a:rPr>
              <a:t>Expiry at read time.</a:t>
            </a:r>
            <a:endParaRPr lang="en-US" sz="750" dirty="0"/>
          </a:p>
        </p:txBody>
      </p:sp>
      <p:sp>
        <p:nvSpPr>
          <p:cNvPr id="26" name="Shape 24"/>
          <p:cNvSpPr/>
          <p:nvPr/>
        </p:nvSpPr>
        <p:spPr>
          <a:xfrm>
            <a:off x="365760" y="2889504"/>
            <a:ext cx="8412480" cy="612648"/>
          </a:xfrm>
          <a:prstGeom prst="roundRect">
            <a:avLst>
              <a:gd name="adj" fmla="val 14925"/>
            </a:avLst>
          </a:prstGeom>
          <a:solidFill>
            <a:srgbClr val="1B4332"/>
          </a:solidFill>
          <a:ln/>
          <a:effectLst>
            <a:outerShdw blurRad="76200" dist="25400" dir="2700000" algn="bl" rotWithShape="0">
              <a:srgbClr val="000000">
                <a:alpha val="10000"/>
              </a:srgbClr>
            </a:outerShdw>
          </a:effectLst>
        </p:spPr>
      </p:sp>
      <p:sp>
        <p:nvSpPr>
          <p:cNvPr id="27" name="Shape 25"/>
          <p:cNvSpPr/>
          <p:nvPr/>
        </p:nvSpPr>
        <p:spPr>
          <a:xfrm>
            <a:off x="457200" y="2980944"/>
            <a:ext cx="1463040" cy="438912"/>
          </a:xfrm>
          <a:prstGeom prst="roundRect">
            <a:avLst>
              <a:gd name="adj" fmla="val 10417"/>
            </a:avLst>
          </a:prstGeom>
          <a:solidFill>
            <a:srgbClr val="40916C"/>
          </a:solidFill>
          <a:ln/>
        </p:spPr>
      </p:sp>
      <p:sp>
        <p:nvSpPr>
          <p:cNvPr id="28" name="Text 26"/>
          <p:cNvSpPr/>
          <p:nvPr/>
        </p:nvSpPr>
        <p:spPr>
          <a:xfrm>
            <a:off x="457200" y="2980944"/>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feasts</a:t>
            </a:r>
            <a:endParaRPr lang="en-US" sz="1100" dirty="0"/>
          </a:p>
        </p:txBody>
      </p:sp>
      <p:sp>
        <p:nvSpPr>
          <p:cNvPr id="29" name="Text 27"/>
          <p:cNvSpPr/>
          <p:nvPr/>
        </p:nvSpPr>
        <p:spPr>
          <a:xfrm>
            <a:off x="457200" y="3200400"/>
            <a:ext cx="1463040" cy="201168"/>
          </a:xfrm>
          <a:prstGeom prst="rect">
            <a:avLst/>
          </a:prstGeom>
          <a:noFill/>
          <a:ln/>
        </p:spPr>
        <p:txBody>
          <a:bodyPr wrap="square" lIns="0" tIns="0" rIns="0" bIns="0" rtlCol="0" anchor="ctr"/>
          <a:lstStyle/>
          <a:p>
            <a:pPr marL="0" indent="0" algn="ctr">
              <a:buNone/>
            </a:pPr>
            <a:r>
              <a:rPr lang="en-US" sz="700" dirty="0">
                <a:solidFill>
                  <a:srgbClr val="A8D5B5"/>
                </a:solidFill>
              </a:rPr>
              <a:t>ID: Auto ID</a:t>
            </a:r>
            <a:endParaRPr lang="en-US" sz="700" dirty="0"/>
          </a:p>
        </p:txBody>
      </p:sp>
      <p:sp>
        <p:nvSpPr>
          <p:cNvPr id="30" name="Text 28"/>
          <p:cNvSpPr/>
          <p:nvPr/>
        </p:nvSpPr>
        <p:spPr>
          <a:xfrm>
            <a:off x="2011680" y="2980944"/>
            <a:ext cx="5669280" cy="274320"/>
          </a:xfrm>
          <a:prstGeom prst="rect">
            <a:avLst/>
          </a:prstGeom>
          <a:noFill/>
          <a:ln/>
        </p:spPr>
        <p:txBody>
          <a:bodyPr wrap="square" lIns="0" tIns="0" rIns="0" bIns="0" rtlCol="0" anchor="ctr"/>
          <a:lstStyle/>
          <a:p>
            <a:pPr marL="0" indent="0">
              <a:buNone/>
            </a:pPr>
            <a:r>
              <a:rPr lang="en-US" sz="950" dirty="0">
                <a:solidFill>
                  <a:srgbClr val="FFFFFF"/>
                </a:solidFill>
              </a:rPr>
              <a:t>hallId  |  role  |  date  |  title  |  timeRange  |  menu[]  |  price  |  createdAt</a:t>
            </a:r>
            <a:endParaRPr lang="en-US" sz="950" dirty="0"/>
          </a:p>
        </p:txBody>
      </p:sp>
      <p:sp>
        <p:nvSpPr>
          <p:cNvPr id="31" name="Shape 29"/>
          <p:cNvSpPr/>
          <p:nvPr/>
        </p:nvSpPr>
        <p:spPr>
          <a:xfrm>
            <a:off x="7772400" y="2999232"/>
            <a:ext cx="914400" cy="402336"/>
          </a:xfrm>
          <a:prstGeom prst="roundRect">
            <a:avLst>
              <a:gd name="adj" fmla="val 11364"/>
            </a:avLst>
          </a:prstGeom>
          <a:solidFill>
            <a:srgbClr val="2D5A3D"/>
          </a:solidFill>
          <a:ln/>
        </p:spPr>
      </p:sp>
      <p:sp>
        <p:nvSpPr>
          <p:cNvPr id="32" name="Text 30"/>
          <p:cNvSpPr/>
          <p:nvPr/>
        </p:nvSpPr>
        <p:spPr>
          <a:xfrm>
            <a:off x="7772400" y="2999232"/>
            <a:ext cx="914400" cy="402336"/>
          </a:xfrm>
          <a:prstGeom prst="rect">
            <a:avLst/>
          </a:prstGeom>
          <a:noFill/>
          <a:ln/>
        </p:spPr>
        <p:txBody>
          <a:bodyPr wrap="square" lIns="25400" tIns="25400" rIns="25400" bIns="25400" rtlCol="0" anchor="ctr"/>
          <a:lstStyle/>
          <a:p>
            <a:pPr marL="0" indent="0" algn="ctr">
              <a:buNone/>
            </a:pPr>
            <a:r>
              <a:rPr lang="en-US" sz="750" dirty="0">
                <a:solidFill>
                  <a:srgbClr val="A8D5B5"/>
                </a:solidFill>
              </a:rPr>
              <a:t>Date filter: &gt;= today.</a:t>
            </a:r>
            <a:endParaRPr lang="en-US" sz="750" dirty="0"/>
          </a:p>
        </p:txBody>
      </p:sp>
      <p:sp>
        <p:nvSpPr>
          <p:cNvPr id="33" name="Shape 31"/>
          <p:cNvSpPr/>
          <p:nvPr/>
        </p:nvSpPr>
        <p:spPr>
          <a:xfrm>
            <a:off x="365760" y="3593592"/>
            <a:ext cx="8412480" cy="612648"/>
          </a:xfrm>
          <a:prstGeom prst="roundRect">
            <a:avLst>
              <a:gd name="adj" fmla="val 14925"/>
            </a:avLst>
          </a:prstGeom>
          <a:solidFill>
            <a:srgbClr val="1B4332"/>
          </a:solidFill>
          <a:ln/>
          <a:effectLst>
            <a:outerShdw blurRad="76200" dist="25400" dir="2700000" algn="bl" rotWithShape="0">
              <a:srgbClr val="000000">
                <a:alpha val="10000"/>
              </a:srgbClr>
            </a:outerShdw>
          </a:effectLst>
        </p:spPr>
      </p:sp>
      <p:sp>
        <p:nvSpPr>
          <p:cNvPr id="34" name="Shape 32"/>
          <p:cNvSpPr/>
          <p:nvPr/>
        </p:nvSpPr>
        <p:spPr>
          <a:xfrm>
            <a:off x="457200" y="3685032"/>
            <a:ext cx="1463040" cy="438912"/>
          </a:xfrm>
          <a:prstGeom prst="roundRect">
            <a:avLst>
              <a:gd name="adj" fmla="val 10417"/>
            </a:avLst>
          </a:prstGeom>
          <a:solidFill>
            <a:srgbClr val="40916C"/>
          </a:solidFill>
          <a:ln/>
        </p:spPr>
      </p:sp>
      <p:sp>
        <p:nvSpPr>
          <p:cNvPr id="35" name="Text 33"/>
          <p:cNvSpPr/>
          <p:nvPr/>
        </p:nvSpPr>
        <p:spPr>
          <a:xfrm>
            <a:off x="457200" y="3685032"/>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updateHistory</a:t>
            </a:r>
            <a:endParaRPr lang="en-US" sz="1100" dirty="0"/>
          </a:p>
        </p:txBody>
      </p:sp>
      <p:sp>
        <p:nvSpPr>
          <p:cNvPr id="36" name="Text 34"/>
          <p:cNvSpPr/>
          <p:nvPr/>
        </p:nvSpPr>
        <p:spPr>
          <a:xfrm>
            <a:off x="457200" y="3904488"/>
            <a:ext cx="1463040" cy="201168"/>
          </a:xfrm>
          <a:prstGeom prst="rect">
            <a:avLst/>
          </a:prstGeom>
          <a:noFill/>
          <a:ln/>
        </p:spPr>
        <p:txBody>
          <a:bodyPr wrap="square" lIns="0" tIns="0" rIns="0" bIns="0" rtlCol="0" anchor="ctr"/>
          <a:lstStyle/>
          <a:p>
            <a:pPr marL="0" indent="0" algn="ctr">
              <a:buNone/>
            </a:pPr>
            <a:r>
              <a:rPr lang="en-US" sz="700" dirty="0">
                <a:solidFill>
                  <a:srgbClr val="A8D5B5"/>
                </a:solidFill>
              </a:rPr>
              <a:t>ID: Auto ID</a:t>
            </a:r>
            <a:endParaRPr lang="en-US" sz="700" dirty="0"/>
          </a:p>
        </p:txBody>
      </p:sp>
      <p:sp>
        <p:nvSpPr>
          <p:cNvPr id="37" name="Text 35"/>
          <p:cNvSpPr/>
          <p:nvPr/>
        </p:nvSpPr>
        <p:spPr>
          <a:xfrm>
            <a:off x="2011680" y="3685032"/>
            <a:ext cx="5669280" cy="274320"/>
          </a:xfrm>
          <a:prstGeom prst="rect">
            <a:avLst/>
          </a:prstGeom>
          <a:noFill/>
          <a:ln/>
        </p:spPr>
        <p:txBody>
          <a:bodyPr wrap="square" lIns="0" tIns="0" rIns="0" bIns="0" rtlCol="0" anchor="ctr"/>
          <a:lstStyle/>
          <a:p>
            <a:pPr marL="0" indent="0">
              <a:buNone/>
            </a:pPr>
            <a:r>
              <a:rPr lang="en-US" sz="950" dirty="0">
                <a:solidFill>
                  <a:srgbClr val="FFFFFF"/>
                </a:solidFill>
              </a:rPr>
              <a:t>hallId  |  moderatorName  |  role  |  action  |  timestamp</a:t>
            </a:r>
            <a:endParaRPr lang="en-US" sz="950" dirty="0"/>
          </a:p>
        </p:txBody>
      </p:sp>
      <p:sp>
        <p:nvSpPr>
          <p:cNvPr id="38" name="Shape 36"/>
          <p:cNvSpPr/>
          <p:nvPr/>
        </p:nvSpPr>
        <p:spPr>
          <a:xfrm>
            <a:off x="7772400" y="3703320"/>
            <a:ext cx="914400" cy="402336"/>
          </a:xfrm>
          <a:prstGeom prst="roundRect">
            <a:avLst>
              <a:gd name="adj" fmla="val 11364"/>
            </a:avLst>
          </a:prstGeom>
          <a:solidFill>
            <a:srgbClr val="2D5A3D"/>
          </a:solidFill>
          <a:ln/>
        </p:spPr>
      </p:sp>
      <p:sp>
        <p:nvSpPr>
          <p:cNvPr id="39" name="Text 37"/>
          <p:cNvSpPr/>
          <p:nvPr/>
        </p:nvSpPr>
        <p:spPr>
          <a:xfrm>
            <a:off x="7772400" y="3703320"/>
            <a:ext cx="914400" cy="402336"/>
          </a:xfrm>
          <a:prstGeom prst="rect">
            <a:avLst/>
          </a:prstGeom>
          <a:noFill/>
          <a:ln/>
        </p:spPr>
        <p:txBody>
          <a:bodyPr wrap="square" lIns="25400" tIns="25400" rIns="25400" bIns="25400" rtlCol="0" anchor="ctr"/>
          <a:lstStyle/>
          <a:p>
            <a:pPr marL="0" indent="0" algn="ctr">
              <a:buNone/>
            </a:pPr>
            <a:r>
              <a:rPr lang="en-US" sz="750" dirty="0">
                <a:solidFill>
                  <a:srgbClr val="A8D5B5"/>
                </a:solidFill>
              </a:rPr>
              <a:t>Audit log, limit 50.</a:t>
            </a:r>
            <a:endParaRPr lang="en-US" sz="750" dirty="0"/>
          </a:p>
        </p:txBody>
      </p:sp>
      <p:sp>
        <p:nvSpPr>
          <p:cNvPr id="40" name="Shape 38"/>
          <p:cNvSpPr/>
          <p:nvPr/>
        </p:nvSpPr>
        <p:spPr>
          <a:xfrm>
            <a:off x="365760" y="4297680"/>
            <a:ext cx="8412480" cy="612648"/>
          </a:xfrm>
          <a:prstGeom prst="roundRect">
            <a:avLst>
              <a:gd name="adj" fmla="val 14925"/>
            </a:avLst>
          </a:prstGeom>
          <a:solidFill>
            <a:srgbClr val="1B4332"/>
          </a:solidFill>
          <a:ln/>
          <a:effectLst>
            <a:outerShdw blurRad="76200" dist="25400" dir="2700000" algn="bl" rotWithShape="0">
              <a:srgbClr val="000000">
                <a:alpha val="10000"/>
              </a:srgbClr>
            </a:outerShdw>
          </a:effectLst>
        </p:spPr>
      </p:sp>
      <p:sp>
        <p:nvSpPr>
          <p:cNvPr id="41" name="Shape 39"/>
          <p:cNvSpPr/>
          <p:nvPr/>
        </p:nvSpPr>
        <p:spPr>
          <a:xfrm>
            <a:off x="457200" y="4389120"/>
            <a:ext cx="1463040" cy="438912"/>
          </a:xfrm>
          <a:prstGeom prst="roundRect">
            <a:avLst>
              <a:gd name="adj" fmla="val 10417"/>
            </a:avLst>
          </a:prstGeom>
          <a:solidFill>
            <a:srgbClr val="40916C"/>
          </a:solidFill>
          <a:ln/>
        </p:spPr>
      </p:sp>
      <p:sp>
        <p:nvSpPr>
          <p:cNvPr id="42" name="Text 40"/>
          <p:cNvSpPr/>
          <p:nvPr/>
        </p:nvSpPr>
        <p:spPr>
          <a:xfrm>
            <a:off x="457200" y="4389120"/>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foodReviews</a:t>
            </a:r>
            <a:endParaRPr lang="en-US" sz="1100" dirty="0"/>
          </a:p>
        </p:txBody>
      </p:sp>
      <p:sp>
        <p:nvSpPr>
          <p:cNvPr id="43" name="Text 41"/>
          <p:cNvSpPr/>
          <p:nvPr/>
        </p:nvSpPr>
        <p:spPr>
          <a:xfrm>
            <a:off x="457200" y="4608576"/>
            <a:ext cx="1463040" cy="201168"/>
          </a:xfrm>
          <a:prstGeom prst="rect">
            <a:avLst/>
          </a:prstGeom>
          <a:noFill/>
          <a:ln/>
        </p:spPr>
        <p:txBody>
          <a:bodyPr wrap="square" lIns="0" tIns="0" rIns="0" bIns="0" rtlCol="0" anchor="ctr"/>
          <a:lstStyle/>
          <a:p>
            <a:pPr marL="0" indent="0" algn="ctr">
              <a:buNone/>
            </a:pPr>
            <a:r>
              <a:rPr lang="en-US" sz="700" dirty="0">
                <a:solidFill>
                  <a:srgbClr val="A8D5B5"/>
                </a:solidFill>
              </a:rPr>
              <a:t>ID: Auto ID</a:t>
            </a:r>
            <a:endParaRPr lang="en-US" sz="700" dirty="0"/>
          </a:p>
        </p:txBody>
      </p:sp>
      <p:sp>
        <p:nvSpPr>
          <p:cNvPr id="44" name="Text 42"/>
          <p:cNvSpPr/>
          <p:nvPr/>
        </p:nvSpPr>
        <p:spPr>
          <a:xfrm>
            <a:off x="2011680" y="4389120"/>
            <a:ext cx="5669280" cy="274320"/>
          </a:xfrm>
          <a:prstGeom prst="rect">
            <a:avLst/>
          </a:prstGeom>
          <a:noFill/>
          <a:ln/>
        </p:spPr>
        <p:txBody>
          <a:bodyPr wrap="square" lIns="0" tIns="0" rIns="0" bIns="0" rtlCol="0" anchor="ctr"/>
          <a:lstStyle/>
          <a:p>
            <a:pPr marL="0" indent="0">
              <a:buNone/>
            </a:pPr>
            <a:r>
              <a:rPr lang="en-US" sz="950" dirty="0">
                <a:solidFill>
                  <a:srgbClr val="FFFFFF"/>
                </a:solidFill>
              </a:rPr>
              <a:t>hallId  |  dateKey  |  itemName  |  mealType  |  rating  |  comment  |  createdAt</a:t>
            </a:r>
            <a:endParaRPr lang="en-US" sz="950" dirty="0"/>
          </a:p>
        </p:txBody>
      </p:sp>
      <p:sp>
        <p:nvSpPr>
          <p:cNvPr id="45" name="Shape 43"/>
          <p:cNvSpPr/>
          <p:nvPr/>
        </p:nvSpPr>
        <p:spPr>
          <a:xfrm>
            <a:off x="7772400" y="4407408"/>
            <a:ext cx="914400" cy="402336"/>
          </a:xfrm>
          <a:prstGeom prst="roundRect">
            <a:avLst>
              <a:gd name="adj" fmla="val 11364"/>
            </a:avLst>
          </a:prstGeom>
          <a:solidFill>
            <a:srgbClr val="2D5A3D"/>
          </a:solidFill>
          <a:ln/>
        </p:spPr>
      </p:sp>
      <p:sp>
        <p:nvSpPr>
          <p:cNvPr id="46" name="Text 44"/>
          <p:cNvSpPr/>
          <p:nvPr/>
        </p:nvSpPr>
        <p:spPr>
          <a:xfrm>
            <a:off x="7772400" y="4407408"/>
            <a:ext cx="914400" cy="402336"/>
          </a:xfrm>
          <a:prstGeom prst="rect">
            <a:avLst/>
          </a:prstGeom>
          <a:noFill/>
          <a:ln/>
        </p:spPr>
        <p:txBody>
          <a:bodyPr wrap="square" lIns="25400" tIns="25400" rIns="25400" bIns="25400" rtlCol="0" anchor="ctr"/>
          <a:lstStyle/>
          <a:p>
            <a:pPr marL="0" indent="0" algn="ctr">
              <a:buNone/>
            </a:pPr>
            <a:r>
              <a:rPr lang="en-US" sz="750" dirty="0">
                <a:solidFill>
                  <a:srgbClr val="A8D5B5"/>
                </a:solidFill>
              </a:rPr>
              <a:t>Composite index needed.</a:t>
            </a:r>
            <a:endParaRPr lang="en-US" sz="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22007-648A-2146-A9C2-481DA155DFF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BF24B0C-A243-E80A-4532-68D9A790AA91}"/>
              </a:ext>
            </a:extLst>
          </p:cNvPr>
          <p:cNvSpPr/>
          <p:nvPr/>
        </p:nvSpPr>
        <p:spPr>
          <a:xfrm>
            <a:off x="0" y="0"/>
            <a:ext cx="9144000" cy="640080"/>
          </a:xfrm>
          <a:prstGeom prst="roundRect">
            <a:avLst>
              <a:gd name="adj" fmla="val 14286"/>
            </a:avLst>
          </a:prstGeom>
          <a:solidFill>
            <a:srgbClr val="2D5A3D"/>
          </a:solidFill>
          <a:ln/>
          <a:effectLst>
            <a:outerShdw blurRad="76200" dist="25400" dir="2700000" algn="bl" rotWithShape="0">
              <a:srgbClr val="000000">
                <a:alpha val="10000"/>
              </a:srgbClr>
            </a:outerShdw>
          </a:effectLst>
        </p:spPr>
      </p:sp>
      <p:sp>
        <p:nvSpPr>
          <p:cNvPr id="3" name="Text 1">
            <a:extLst>
              <a:ext uri="{FF2B5EF4-FFF2-40B4-BE49-F238E27FC236}">
                <a16:creationId xmlns:a16="http://schemas.microsoft.com/office/drawing/2014/main" id="{DFC3F986-1881-5853-C6E1-AE37518B0A0F}"/>
              </a:ext>
            </a:extLst>
          </p:cNvPr>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08 · Database</a:t>
            </a:r>
            <a:endParaRPr lang="en-US" sz="900" dirty="0"/>
          </a:p>
        </p:txBody>
      </p:sp>
      <p:sp>
        <p:nvSpPr>
          <p:cNvPr id="4" name="Text 2">
            <a:extLst>
              <a:ext uri="{FF2B5EF4-FFF2-40B4-BE49-F238E27FC236}">
                <a16:creationId xmlns:a16="http://schemas.microsoft.com/office/drawing/2014/main" id="{50EE5A92-69CF-795C-7F1E-53E741ABCC1D}"/>
              </a:ext>
            </a:extLst>
          </p:cNvPr>
          <p:cNvSpPr/>
          <p:nvPr/>
        </p:nvSpPr>
        <p:spPr>
          <a:xfrm>
            <a:off x="365760" y="164592"/>
            <a:ext cx="8229600" cy="47548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Database Overview — Firebase Firestore</a:t>
            </a:r>
            <a:endParaRPr lang="en-US" sz="2400" dirty="0"/>
          </a:p>
        </p:txBody>
      </p:sp>
      <p:sp>
        <p:nvSpPr>
          <p:cNvPr id="7" name="Text 5">
            <a:extLst>
              <a:ext uri="{FF2B5EF4-FFF2-40B4-BE49-F238E27FC236}">
                <a16:creationId xmlns:a16="http://schemas.microsoft.com/office/drawing/2014/main" id="{2DD9E826-6113-F35D-69E1-B0A3EB514D74}"/>
              </a:ext>
            </a:extLst>
          </p:cNvPr>
          <p:cNvSpPr/>
          <p:nvPr/>
        </p:nvSpPr>
        <p:spPr>
          <a:xfrm>
            <a:off x="457200" y="868680"/>
            <a:ext cx="8686800" cy="4110228"/>
          </a:xfrm>
          <a:prstGeom prst="rect">
            <a:avLst/>
          </a:prstGeom>
          <a:noFill/>
          <a:ln/>
        </p:spPr>
        <p:txBody>
          <a:bodyPr wrap="square" lIns="0" tIns="0" rIns="0" bIns="0" rtlCol="0" anchor="ctr"/>
          <a:lstStyle/>
          <a:p>
            <a:pPr marL="0" indent="0" algn="ctr">
              <a:buNone/>
            </a:pPr>
            <a:r>
              <a:rPr lang="en-US" sz="1100" b="1" dirty="0">
                <a:solidFill>
                  <a:srgbClr val="FFFFFF"/>
                </a:solidFill>
              </a:rPr>
              <a:t>menus</a:t>
            </a:r>
            <a:endParaRPr lang="en-US" sz="1100" dirty="0"/>
          </a:p>
        </p:txBody>
      </p:sp>
      <p:sp>
        <p:nvSpPr>
          <p:cNvPr id="8" name="Text 6">
            <a:extLst>
              <a:ext uri="{FF2B5EF4-FFF2-40B4-BE49-F238E27FC236}">
                <a16:creationId xmlns:a16="http://schemas.microsoft.com/office/drawing/2014/main" id="{C86F81CC-F3FA-03CE-F616-18DEF52A1559}"/>
              </a:ext>
            </a:extLst>
          </p:cNvPr>
          <p:cNvSpPr/>
          <p:nvPr/>
        </p:nvSpPr>
        <p:spPr>
          <a:xfrm>
            <a:off x="1188720" y="2999232"/>
            <a:ext cx="1463040" cy="201168"/>
          </a:xfrm>
          <a:prstGeom prst="rect">
            <a:avLst/>
          </a:prstGeom>
          <a:noFill/>
          <a:ln/>
        </p:spPr>
        <p:txBody>
          <a:bodyPr wrap="square" lIns="0" tIns="0" rIns="0" bIns="0" rtlCol="0" anchor="ctr"/>
          <a:lstStyle/>
          <a:p>
            <a:pPr marL="0" indent="0" algn="ctr">
              <a:buNone/>
            </a:pPr>
            <a:endParaRPr lang="en-US" sz="700" dirty="0"/>
          </a:p>
        </p:txBody>
      </p:sp>
      <p:sp>
        <p:nvSpPr>
          <p:cNvPr id="9" name="Text 7">
            <a:extLst>
              <a:ext uri="{FF2B5EF4-FFF2-40B4-BE49-F238E27FC236}">
                <a16:creationId xmlns:a16="http://schemas.microsoft.com/office/drawing/2014/main" id="{DC4F67C4-B7B3-2344-0789-34A76AD449D1}"/>
              </a:ext>
            </a:extLst>
          </p:cNvPr>
          <p:cNvSpPr/>
          <p:nvPr/>
        </p:nvSpPr>
        <p:spPr>
          <a:xfrm>
            <a:off x="2011680" y="868680"/>
            <a:ext cx="5669280" cy="274320"/>
          </a:xfrm>
          <a:prstGeom prst="rect">
            <a:avLst/>
          </a:prstGeom>
          <a:noFill/>
          <a:ln/>
        </p:spPr>
        <p:txBody>
          <a:bodyPr wrap="square" lIns="0" tIns="0" rIns="0" bIns="0" rtlCol="0" anchor="ctr"/>
          <a:lstStyle/>
          <a:p>
            <a:pPr marL="0" indent="0">
              <a:buNone/>
            </a:pPr>
            <a:endParaRPr lang="en-US" sz="950" dirty="0"/>
          </a:p>
        </p:txBody>
      </p:sp>
      <p:sp>
        <p:nvSpPr>
          <p:cNvPr id="11" name="Text 9">
            <a:extLst>
              <a:ext uri="{FF2B5EF4-FFF2-40B4-BE49-F238E27FC236}">
                <a16:creationId xmlns:a16="http://schemas.microsoft.com/office/drawing/2014/main" id="{06AA1ECD-DE4A-A18C-605A-380579BDB8E9}"/>
              </a:ext>
            </a:extLst>
          </p:cNvPr>
          <p:cNvSpPr/>
          <p:nvPr/>
        </p:nvSpPr>
        <p:spPr>
          <a:xfrm>
            <a:off x="7772400" y="886968"/>
            <a:ext cx="914400" cy="402336"/>
          </a:xfrm>
          <a:prstGeom prst="rect">
            <a:avLst/>
          </a:prstGeom>
          <a:noFill/>
          <a:ln/>
        </p:spPr>
        <p:txBody>
          <a:bodyPr wrap="square" lIns="25400" tIns="25400" rIns="25400" bIns="25400" rtlCol="0" anchor="ctr"/>
          <a:lstStyle/>
          <a:p>
            <a:pPr marL="0" indent="0" algn="ctr">
              <a:buNone/>
            </a:pPr>
            <a:endParaRPr lang="en-US" sz="750" dirty="0"/>
          </a:p>
        </p:txBody>
      </p:sp>
      <p:sp>
        <p:nvSpPr>
          <p:cNvPr id="14" name="Text 12">
            <a:extLst>
              <a:ext uri="{FF2B5EF4-FFF2-40B4-BE49-F238E27FC236}">
                <a16:creationId xmlns:a16="http://schemas.microsoft.com/office/drawing/2014/main" id="{316F033D-FA14-CF57-81F1-2CB344291F56}"/>
              </a:ext>
            </a:extLst>
          </p:cNvPr>
          <p:cNvSpPr/>
          <p:nvPr/>
        </p:nvSpPr>
        <p:spPr>
          <a:xfrm>
            <a:off x="457200" y="1572768"/>
            <a:ext cx="1463040" cy="219456"/>
          </a:xfrm>
          <a:prstGeom prst="rect">
            <a:avLst/>
          </a:prstGeom>
          <a:noFill/>
          <a:ln/>
        </p:spPr>
        <p:txBody>
          <a:bodyPr wrap="square" lIns="0" tIns="0" rIns="0" bIns="0" rtlCol="0" anchor="ctr"/>
          <a:lstStyle/>
          <a:p>
            <a:pPr marL="0" indent="0" algn="ctr">
              <a:buNone/>
            </a:pPr>
            <a:endParaRPr lang="en-US" sz="1100" dirty="0"/>
          </a:p>
        </p:txBody>
      </p:sp>
      <p:sp>
        <p:nvSpPr>
          <p:cNvPr id="16" name="Text 14">
            <a:extLst>
              <a:ext uri="{FF2B5EF4-FFF2-40B4-BE49-F238E27FC236}">
                <a16:creationId xmlns:a16="http://schemas.microsoft.com/office/drawing/2014/main" id="{8B22630E-DBF8-8BEF-7F6A-C63CE7F36EB9}"/>
              </a:ext>
            </a:extLst>
          </p:cNvPr>
          <p:cNvSpPr/>
          <p:nvPr/>
        </p:nvSpPr>
        <p:spPr>
          <a:xfrm>
            <a:off x="2011680" y="1572768"/>
            <a:ext cx="5669280" cy="274320"/>
          </a:xfrm>
          <a:prstGeom prst="rect">
            <a:avLst/>
          </a:prstGeom>
          <a:noFill/>
          <a:ln/>
        </p:spPr>
        <p:txBody>
          <a:bodyPr wrap="square" lIns="0" tIns="0" rIns="0" bIns="0" rtlCol="0" anchor="ctr"/>
          <a:lstStyle/>
          <a:p>
            <a:pPr marL="0" indent="0">
              <a:buNone/>
            </a:pPr>
            <a:r>
              <a:rPr lang="en-US" sz="950" dirty="0">
                <a:solidFill>
                  <a:srgbClr val="FFFFFF"/>
                </a:solidFill>
              </a:rPr>
              <a:t>hallId  |  hallName  |  name  |  role (dining/canteen)  |  email  |  createdAt</a:t>
            </a:r>
            <a:endParaRPr lang="en-US" sz="950" dirty="0"/>
          </a:p>
        </p:txBody>
      </p:sp>
      <p:sp>
        <p:nvSpPr>
          <p:cNvPr id="18" name="Text 16">
            <a:extLst>
              <a:ext uri="{FF2B5EF4-FFF2-40B4-BE49-F238E27FC236}">
                <a16:creationId xmlns:a16="http://schemas.microsoft.com/office/drawing/2014/main" id="{D7294FA0-F0B0-E3D4-794A-7D40A86C28F8}"/>
              </a:ext>
            </a:extLst>
          </p:cNvPr>
          <p:cNvSpPr/>
          <p:nvPr/>
        </p:nvSpPr>
        <p:spPr>
          <a:xfrm>
            <a:off x="7772400" y="1591056"/>
            <a:ext cx="914400" cy="402336"/>
          </a:xfrm>
          <a:prstGeom prst="rect">
            <a:avLst/>
          </a:prstGeom>
          <a:noFill/>
          <a:ln/>
        </p:spPr>
        <p:txBody>
          <a:bodyPr wrap="square" lIns="25400" tIns="25400" rIns="25400" bIns="25400" rtlCol="0" anchor="ctr"/>
          <a:lstStyle/>
          <a:p>
            <a:pPr marL="0" indent="0" algn="ctr">
              <a:buNone/>
            </a:pPr>
            <a:r>
              <a:rPr lang="en-US" sz="750" dirty="0">
                <a:solidFill>
                  <a:srgbClr val="A8D5B5"/>
                </a:solidFill>
              </a:rPr>
              <a:t>l.</a:t>
            </a:r>
            <a:endParaRPr lang="en-US" sz="750" dirty="0"/>
          </a:p>
        </p:txBody>
      </p:sp>
      <p:sp>
        <p:nvSpPr>
          <p:cNvPr id="21" name="Text 19">
            <a:extLst>
              <a:ext uri="{FF2B5EF4-FFF2-40B4-BE49-F238E27FC236}">
                <a16:creationId xmlns:a16="http://schemas.microsoft.com/office/drawing/2014/main" id="{296E60D8-17BE-4DF5-5483-3B4386CB7376}"/>
              </a:ext>
            </a:extLst>
          </p:cNvPr>
          <p:cNvSpPr/>
          <p:nvPr/>
        </p:nvSpPr>
        <p:spPr>
          <a:xfrm>
            <a:off x="457200" y="2276856"/>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notices</a:t>
            </a:r>
            <a:endParaRPr lang="en-US" sz="1100" dirty="0"/>
          </a:p>
        </p:txBody>
      </p:sp>
      <p:sp>
        <p:nvSpPr>
          <p:cNvPr id="25" name="Text 23">
            <a:extLst>
              <a:ext uri="{FF2B5EF4-FFF2-40B4-BE49-F238E27FC236}">
                <a16:creationId xmlns:a16="http://schemas.microsoft.com/office/drawing/2014/main" id="{10024FBC-E19F-A11D-0F19-FD5E254A731F}"/>
              </a:ext>
            </a:extLst>
          </p:cNvPr>
          <p:cNvSpPr/>
          <p:nvPr/>
        </p:nvSpPr>
        <p:spPr>
          <a:xfrm>
            <a:off x="7772400" y="2295144"/>
            <a:ext cx="914400" cy="402336"/>
          </a:xfrm>
          <a:prstGeom prst="rect">
            <a:avLst/>
          </a:prstGeom>
          <a:noFill/>
          <a:ln/>
        </p:spPr>
        <p:txBody>
          <a:bodyPr wrap="square" lIns="25400" tIns="25400" rIns="25400" bIns="25400" rtlCol="0" anchor="ctr"/>
          <a:lstStyle/>
          <a:p>
            <a:pPr marL="0" indent="0" algn="ctr">
              <a:buNone/>
            </a:pPr>
            <a:r>
              <a:rPr lang="en-US" sz="750" dirty="0">
                <a:solidFill>
                  <a:srgbClr val="A8D5B5"/>
                </a:solidFill>
              </a:rPr>
              <a:t>.</a:t>
            </a:r>
            <a:endParaRPr lang="en-US" sz="750" dirty="0"/>
          </a:p>
        </p:txBody>
      </p:sp>
      <p:sp>
        <p:nvSpPr>
          <p:cNvPr id="28" name="Text 26">
            <a:extLst>
              <a:ext uri="{FF2B5EF4-FFF2-40B4-BE49-F238E27FC236}">
                <a16:creationId xmlns:a16="http://schemas.microsoft.com/office/drawing/2014/main" id="{FC581168-B2AA-3AF6-C11D-F6A163BD6C60}"/>
              </a:ext>
            </a:extLst>
          </p:cNvPr>
          <p:cNvSpPr/>
          <p:nvPr/>
        </p:nvSpPr>
        <p:spPr>
          <a:xfrm>
            <a:off x="457200" y="2980944"/>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feasts</a:t>
            </a:r>
            <a:endParaRPr lang="en-US" sz="1100" dirty="0"/>
          </a:p>
        </p:txBody>
      </p:sp>
      <p:sp>
        <p:nvSpPr>
          <p:cNvPr id="30" name="Text 28">
            <a:extLst>
              <a:ext uri="{FF2B5EF4-FFF2-40B4-BE49-F238E27FC236}">
                <a16:creationId xmlns:a16="http://schemas.microsoft.com/office/drawing/2014/main" id="{8606D455-8272-9EC7-49BE-8735F0CBA506}"/>
              </a:ext>
            </a:extLst>
          </p:cNvPr>
          <p:cNvSpPr/>
          <p:nvPr/>
        </p:nvSpPr>
        <p:spPr>
          <a:xfrm>
            <a:off x="2011680" y="2980944"/>
            <a:ext cx="5669280" cy="274320"/>
          </a:xfrm>
          <a:prstGeom prst="rect">
            <a:avLst/>
          </a:prstGeom>
          <a:noFill/>
          <a:ln/>
        </p:spPr>
        <p:txBody>
          <a:bodyPr wrap="square" lIns="0" tIns="0" rIns="0" bIns="0" rtlCol="0" anchor="ctr"/>
          <a:lstStyle/>
          <a:p>
            <a:pPr marL="0" indent="0">
              <a:buNone/>
            </a:pPr>
            <a:endParaRPr lang="en-US" sz="950" dirty="0"/>
          </a:p>
        </p:txBody>
      </p:sp>
      <p:sp>
        <p:nvSpPr>
          <p:cNvPr id="32" name="Text 30">
            <a:extLst>
              <a:ext uri="{FF2B5EF4-FFF2-40B4-BE49-F238E27FC236}">
                <a16:creationId xmlns:a16="http://schemas.microsoft.com/office/drawing/2014/main" id="{514E7F9D-ECF0-D9A3-D267-D602DCF6934B}"/>
              </a:ext>
            </a:extLst>
          </p:cNvPr>
          <p:cNvSpPr/>
          <p:nvPr/>
        </p:nvSpPr>
        <p:spPr>
          <a:xfrm>
            <a:off x="7772400" y="2999232"/>
            <a:ext cx="914400" cy="402336"/>
          </a:xfrm>
          <a:prstGeom prst="rect">
            <a:avLst/>
          </a:prstGeom>
          <a:noFill/>
          <a:ln/>
        </p:spPr>
        <p:txBody>
          <a:bodyPr wrap="square" lIns="25400" tIns="25400" rIns="25400" bIns="25400" rtlCol="0" anchor="ctr"/>
          <a:lstStyle/>
          <a:p>
            <a:pPr marL="0" indent="0" algn="ctr">
              <a:buNone/>
            </a:pPr>
            <a:endParaRPr lang="en-US" sz="750" dirty="0"/>
          </a:p>
        </p:txBody>
      </p:sp>
      <p:sp>
        <p:nvSpPr>
          <p:cNvPr id="35" name="Text 33">
            <a:extLst>
              <a:ext uri="{FF2B5EF4-FFF2-40B4-BE49-F238E27FC236}">
                <a16:creationId xmlns:a16="http://schemas.microsoft.com/office/drawing/2014/main" id="{A4DE1CAA-783E-44C9-2B6D-39CD5E60F450}"/>
              </a:ext>
            </a:extLst>
          </p:cNvPr>
          <p:cNvSpPr/>
          <p:nvPr/>
        </p:nvSpPr>
        <p:spPr>
          <a:xfrm>
            <a:off x="457200" y="3685032"/>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updateHistory</a:t>
            </a:r>
            <a:endParaRPr lang="en-US" sz="1100" dirty="0"/>
          </a:p>
        </p:txBody>
      </p:sp>
      <p:sp>
        <p:nvSpPr>
          <p:cNvPr id="37" name="Text 35">
            <a:extLst>
              <a:ext uri="{FF2B5EF4-FFF2-40B4-BE49-F238E27FC236}">
                <a16:creationId xmlns:a16="http://schemas.microsoft.com/office/drawing/2014/main" id="{B4088082-6607-7D61-5BAA-3B3EE46B927B}"/>
              </a:ext>
            </a:extLst>
          </p:cNvPr>
          <p:cNvSpPr/>
          <p:nvPr/>
        </p:nvSpPr>
        <p:spPr>
          <a:xfrm>
            <a:off x="2011680" y="3685032"/>
            <a:ext cx="5669280" cy="274320"/>
          </a:xfrm>
          <a:prstGeom prst="rect">
            <a:avLst/>
          </a:prstGeom>
          <a:noFill/>
          <a:ln/>
        </p:spPr>
        <p:txBody>
          <a:bodyPr wrap="square" lIns="0" tIns="0" rIns="0" bIns="0" rtlCol="0" anchor="ctr"/>
          <a:lstStyle/>
          <a:p>
            <a:pPr marL="0" indent="0">
              <a:buNone/>
            </a:pPr>
            <a:r>
              <a:rPr lang="en-US" sz="950" dirty="0">
                <a:solidFill>
                  <a:srgbClr val="FFFFFF"/>
                </a:solidFill>
              </a:rPr>
              <a:t>hallId  |  moderatorName  |  role  |  action  |  timestamp</a:t>
            </a:r>
            <a:endParaRPr lang="en-US" sz="950" dirty="0"/>
          </a:p>
        </p:txBody>
      </p:sp>
      <p:sp>
        <p:nvSpPr>
          <p:cNvPr id="39" name="Text 37">
            <a:extLst>
              <a:ext uri="{FF2B5EF4-FFF2-40B4-BE49-F238E27FC236}">
                <a16:creationId xmlns:a16="http://schemas.microsoft.com/office/drawing/2014/main" id="{936EDEE0-CD41-39E3-7F75-C79DE750A6D3}"/>
              </a:ext>
            </a:extLst>
          </p:cNvPr>
          <p:cNvSpPr/>
          <p:nvPr/>
        </p:nvSpPr>
        <p:spPr>
          <a:xfrm>
            <a:off x="7772400" y="3703320"/>
            <a:ext cx="914400" cy="402336"/>
          </a:xfrm>
          <a:prstGeom prst="rect">
            <a:avLst/>
          </a:prstGeom>
          <a:noFill/>
          <a:ln/>
        </p:spPr>
        <p:txBody>
          <a:bodyPr wrap="square" lIns="25400" tIns="25400" rIns="25400" bIns="25400" rtlCol="0" anchor="ctr"/>
          <a:lstStyle/>
          <a:p>
            <a:pPr marL="0" indent="0" algn="ctr">
              <a:buNone/>
            </a:pPr>
            <a:endParaRPr lang="en-US" sz="750" dirty="0"/>
          </a:p>
        </p:txBody>
      </p:sp>
      <p:sp>
        <p:nvSpPr>
          <p:cNvPr id="42" name="Text 40">
            <a:extLst>
              <a:ext uri="{FF2B5EF4-FFF2-40B4-BE49-F238E27FC236}">
                <a16:creationId xmlns:a16="http://schemas.microsoft.com/office/drawing/2014/main" id="{19ACA4C5-D4C1-7467-DC9D-079FFF298095}"/>
              </a:ext>
            </a:extLst>
          </p:cNvPr>
          <p:cNvSpPr/>
          <p:nvPr/>
        </p:nvSpPr>
        <p:spPr>
          <a:xfrm>
            <a:off x="457200" y="4389120"/>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foodReviews</a:t>
            </a:r>
            <a:endParaRPr lang="en-US" sz="1100" dirty="0"/>
          </a:p>
        </p:txBody>
      </p:sp>
      <p:sp>
        <p:nvSpPr>
          <p:cNvPr id="44" name="Text 42">
            <a:extLst>
              <a:ext uri="{FF2B5EF4-FFF2-40B4-BE49-F238E27FC236}">
                <a16:creationId xmlns:a16="http://schemas.microsoft.com/office/drawing/2014/main" id="{DB04274B-25A6-B100-A506-83AD474D7158}"/>
              </a:ext>
            </a:extLst>
          </p:cNvPr>
          <p:cNvSpPr/>
          <p:nvPr/>
        </p:nvSpPr>
        <p:spPr>
          <a:xfrm>
            <a:off x="-372291" y="2463002"/>
            <a:ext cx="5669280" cy="274320"/>
          </a:xfrm>
          <a:prstGeom prst="rect">
            <a:avLst/>
          </a:prstGeom>
          <a:noFill/>
          <a:ln/>
        </p:spPr>
        <p:txBody>
          <a:bodyPr wrap="square" lIns="0" tIns="0" rIns="0" bIns="0" rtlCol="0" anchor="ctr"/>
          <a:lstStyle/>
          <a:p>
            <a:pPr marL="0" indent="0">
              <a:buNone/>
            </a:pPr>
            <a:endParaRPr lang="en-US" sz="950" dirty="0"/>
          </a:p>
        </p:txBody>
      </p:sp>
      <p:sp>
        <p:nvSpPr>
          <p:cNvPr id="46" name="Text 44">
            <a:extLst>
              <a:ext uri="{FF2B5EF4-FFF2-40B4-BE49-F238E27FC236}">
                <a16:creationId xmlns:a16="http://schemas.microsoft.com/office/drawing/2014/main" id="{B9710E62-0700-8658-F8C8-08E10179B36D}"/>
              </a:ext>
            </a:extLst>
          </p:cNvPr>
          <p:cNvSpPr/>
          <p:nvPr/>
        </p:nvSpPr>
        <p:spPr>
          <a:xfrm>
            <a:off x="7772400" y="4407408"/>
            <a:ext cx="914400" cy="402336"/>
          </a:xfrm>
          <a:prstGeom prst="rect">
            <a:avLst/>
          </a:prstGeom>
          <a:noFill/>
          <a:ln/>
        </p:spPr>
        <p:txBody>
          <a:bodyPr wrap="square" lIns="25400" tIns="25400" rIns="25400" bIns="25400" rtlCol="0" anchor="ctr"/>
          <a:lstStyle/>
          <a:p>
            <a:pPr marL="0" indent="0" algn="ctr">
              <a:buNone/>
            </a:pPr>
            <a:endParaRPr lang="en-US" sz="750" dirty="0"/>
          </a:p>
        </p:txBody>
      </p:sp>
      <p:graphicFrame>
        <p:nvGraphicFramePr>
          <p:cNvPr id="47" name="Table 46">
            <a:extLst>
              <a:ext uri="{FF2B5EF4-FFF2-40B4-BE49-F238E27FC236}">
                <a16:creationId xmlns:a16="http://schemas.microsoft.com/office/drawing/2014/main" id="{6E582DA7-16D6-735E-BC2E-37021205A9FC}"/>
              </a:ext>
            </a:extLst>
          </p:cNvPr>
          <p:cNvGraphicFramePr>
            <a:graphicFrameLocks noGrp="1"/>
          </p:cNvGraphicFramePr>
          <p:nvPr>
            <p:extLst>
              <p:ext uri="{D42A27DB-BD31-4B8C-83A1-F6EECF244321}">
                <p14:modId xmlns:p14="http://schemas.microsoft.com/office/powerpoint/2010/main" val="1801533293"/>
              </p:ext>
            </p:extLst>
          </p:nvPr>
        </p:nvGraphicFramePr>
        <p:xfrm>
          <a:off x="0" y="640080"/>
          <a:ext cx="9144000" cy="4503419"/>
        </p:xfrm>
        <a:graphic>
          <a:graphicData uri="http://schemas.openxmlformats.org/drawingml/2006/table">
            <a:tbl>
              <a:tblPr firstRow="1" firstCol="1" bandRow="1">
                <a:tableStyleId>{5C22544A-7EE6-4342-B048-85BDC9FD1C3A}</a:tableStyleId>
              </a:tblPr>
              <a:tblGrid>
                <a:gridCol w="1953846">
                  <a:extLst>
                    <a:ext uri="{9D8B030D-6E8A-4147-A177-3AD203B41FA5}">
                      <a16:colId xmlns:a16="http://schemas.microsoft.com/office/drawing/2014/main" val="349329691"/>
                    </a:ext>
                  </a:extLst>
                </a:gridCol>
                <a:gridCol w="3126154">
                  <a:extLst>
                    <a:ext uri="{9D8B030D-6E8A-4147-A177-3AD203B41FA5}">
                      <a16:colId xmlns:a16="http://schemas.microsoft.com/office/drawing/2014/main" val="3151973322"/>
                    </a:ext>
                  </a:extLst>
                </a:gridCol>
                <a:gridCol w="4064000">
                  <a:extLst>
                    <a:ext uri="{9D8B030D-6E8A-4147-A177-3AD203B41FA5}">
                      <a16:colId xmlns:a16="http://schemas.microsoft.com/office/drawing/2014/main" val="957646704"/>
                    </a:ext>
                  </a:extLst>
                </a:gridCol>
              </a:tblGrid>
              <a:tr h="494164">
                <a:tc>
                  <a:txBody>
                    <a:bodyPr/>
                    <a:lstStyle/>
                    <a:p>
                      <a:pPr marL="0" marR="0">
                        <a:buNone/>
                      </a:pPr>
                      <a:r>
                        <a:rPr lang="en-US" sz="1100">
                          <a:effectLst/>
                        </a:rPr>
                        <a:t>Collection</a:t>
                      </a:r>
                      <a:endParaRPr lang="en-US" sz="110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tc>
                  <a:txBody>
                    <a:bodyPr/>
                    <a:lstStyle/>
                    <a:p>
                      <a:pPr marL="0" marR="0">
                        <a:buNone/>
                      </a:pPr>
                      <a:r>
                        <a:rPr lang="en-US" sz="1100">
                          <a:effectLst/>
                        </a:rPr>
                        <a:t>Document ID Pattern</a:t>
                      </a:r>
                      <a:endParaRPr lang="en-US" sz="110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tc>
                  <a:txBody>
                    <a:bodyPr/>
                    <a:lstStyle/>
                    <a:p>
                      <a:pPr marL="0" marR="0">
                        <a:buNone/>
                      </a:pPr>
                      <a:r>
                        <a:rPr lang="en-US" sz="1100" dirty="0">
                          <a:effectLst/>
                        </a:rPr>
                        <a:t>Purpose</a:t>
                      </a:r>
                      <a:endParaRPr lang="en-US" sz="1100" dirty="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extLst>
                  <a:ext uri="{0D108BD9-81ED-4DB2-BD59-A6C34878D82A}">
                    <a16:rowId xmlns:a16="http://schemas.microsoft.com/office/drawing/2014/main" val="1949574048"/>
                  </a:ext>
                </a:extLst>
              </a:tr>
              <a:tr h="801851">
                <a:tc>
                  <a:txBody>
                    <a:bodyPr/>
                    <a:lstStyle/>
                    <a:p>
                      <a:pPr marL="0" marR="0">
                        <a:buNone/>
                      </a:pPr>
                      <a:r>
                        <a:rPr lang="en-US" sz="1100">
                          <a:effectLst/>
                        </a:rPr>
                        <a:t>menus</a:t>
                      </a:r>
                      <a:endParaRPr lang="en-US" sz="110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tc>
                  <a:txBody>
                    <a:bodyPr/>
                    <a:lstStyle/>
                    <a:p>
                      <a:pPr marL="0" marR="0">
                        <a:buNone/>
                      </a:pPr>
                      <a:r>
                        <a:rPr lang="en-US" sz="1100">
                          <a:effectLst/>
                        </a:rPr>
                        <a:t>hallId_dateKey (e.g. sher_e_bangla_2026-05-26)</a:t>
                      </a:r>
                      <a:endParaRPr lang="en-US" sz="110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tc>
                  <a:txBody>
                    <a:bodyPr/>
                    <a:lstStyle/>
                    <a:p>
                      <a:pPr marL="0" marR="0">
                        <a:buNone/>
                      </a:pPr>
                      <a:r>
                        <a:rPr lang="en-US" sz="1100" dirty="0">
                          <a:effectLst/>
                        </a:rPr>
                        <a:t>The complete dining and canteen menu for one hall, for one day.</a:t>
                      </a:r>
                      <a:endParaRPr lang="en-US" sz="1100" dirty="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extLst>
                  <a:ext uri="{0D108BD9-81ED-4DB2-BD59-A6C34878D82A}">
                    <a16:rowId xmlns:a16="http://schemas.microsoft.com/office/drawing/2014/main" val="1246879626"/>
                  </a:ext>
                </a:extLst>
              </a:tr>
              <a:tr h="801851">
                <a:tc>
                  <a:txBody>
                    <a:bodyPr/>
                    <a:lstStyle/>
                    <a:p>
                      <a:pPr marL="0" marR="0">
                        <a:buNone/>
                      </a:pPr>
                      <a:r>
                        <a:rPr lang="en-US" sz="1100">
                          <a:effectLst/>
                        </a:rPr>
                        <a:t>moderators</a:t>
                      </a:r>
                      <a:endParaRPr lang="en-US" sz="110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tc>
                  <a:txBody>
                    <a:bodyPr/>
                    <a:lstStyle/>
                    <a:p>
                      <a:pPr marL="0" marR="0">
                        <a:buNone/>
                      </a:pPr>
                      <a:r>
                        <a:rPr lang="en-US" sz="1100">
                          <a:effectLst/>
                        </a:rPr>
                        <a:t>Firebase Auth UID (auto-generated)</a:t>
                      </a:r>
                      <a:endParaRPr lang="en-US" sz="110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tc>
                  <a:txBody>
                    <a:bodyPr/>
                    <a:lstStyle/>
                    <a:p>
                      <a:pPr marL="0" marR="0">
                        <a:buNone/>
                      </a:pPr>
                      <a:r>
                        <a:rPr lang="en-US" sz="1100">
                          <a:effectLst/>
                        </a:rPr>
                        <a:t>Each moderator's hall assignment, role, and display name.</a:t>
                      </a:r>
                      <a:endParaRPr lang="en-US" sz="110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extLst>
                  <a:ext uri="{0D108BD9-81ED-4DB2-BD59-A6C34878D82A}">
                    <a16:rowId xmlns:a16="http://schemas.microsoft.com/office/drawing/2014/main" val="1385922055"/>
                  </a:ext>
                </a:extLst>
              </a:tr>
              <a:tr h="801851">
                <a:tc>
                  <a:txBody>
                    <a:bodyPr/>
                    <a:lstStyle/>
                    <a:p>
                      <a:pPr marL="0" marR="0">
                        <a:buNone/>
                      </a:pPr>
                      <a:r>
                        <a:rPr lang="en-US" sz="1100">
                          <a:effectLst/>
                        </a:rPr>
                        <a:t>notices</a:t>
                      </a:r>
                      <a:endParaRPr lang="en-US" sz="110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tc>
                  <a:txBody>
                    <a:bodyPr/>
                    <a:lstStyle/>
                    <a:p>
                      <a:pPr marL="0" marR="0">
                        <a:buNone/>
                      </a:pPr>
                      <a:r>
                        <a:rPr lang="en-US" sz="1100">
                          <a:effectLst/>
                        </a:rPr>
                        <a:t>Auto-generated ID</a:t>
                      </a:r>
                      <a:endParaRPr lang="en-US" sz="110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tc>
                  <a:txBody>
                    <a:bodyPr/>
                    <a:lstStyle/>
                    <a:p>
                      <a:pPr marL="0" marR="0">
                        <a:buNone/>
                      </a:pPr>
                      <a:r>
                        <a:rPr lang="en-US" sz="1100">
                          <a:effectLst/>
                        </a:rPr>
                        <a:t>Every notice posted by a dining or canteen moderator.</a:t>
                      </a:r>
                      <a:endParaRPr lang="en-US" sz="110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extLst>
                  <a:ext uri="{0D108BD9-81ED-4DB2-BD59-A6C34878D82A}">
                    <a16:rowId xmlns:a16="http://schemas.microsoft.com/office/drawing/2014/main" val="2956331783"/>
                  </a:ext>
                </a:extLst>
              </a:tr>
              <a:tr h="801851">
                <a:tc>
                  <a:txBody>
                    <a:bodyPr/>
                    <a:lstStyle/>
                    <a:p>
                      <a:pPr marL="0" marR="0">
                        <a:buNone/>
                      </a:pPr>
                      <a:r>
                        <a:rPr lang="en-US" sz="1100">
                          <a:effectLst/>
                        </a:rPr>
                        <a:t>feasts</a:t>
                      </a:r>
                      <a:endParaRPr lang="en-US" sz="110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tc>
                  <a:txBody>
                    <a:bodyPr/>
                    <a:lstStyle/>
                    <a:p>
                      <a:pPr marL="0" marR="0">
                        <a:buNone/>
                      </a:pPr>
                      <a:r>
                        <a:rPr lang="en-US" sz="1100">
                          <a:effectLst/>
                        </a:rPr>
                        <a:t>Auto-generated ID</a:t>
                      </a:r>
                      <a:endParaRPr lang="en-US" sz="110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tc>
                  <a:txBody>
                    <a:bodyPr/>
                    <a:lstStyle/>
                    <a:p>
                      <a:pPr marL="0" marR="0">
                        <a:buNone/>
                      </a:pPr>
                      <a:r>
                        <a:rPr lang="en-US" sz="1100">
                          <a:effectLst/>
                        </a:rPr>
                        <a:t>Every feast event scheduled by a dining or canteen moderator.</a:t>
                      </a:r>
                      <a:endParaRPr lang="en-US" sz="110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extLst>
                  <a:ext uri="{0D108BD9-81ED-4DB2-BD59-A6C34878D82A}">
                    <a16:rowId xmlns:a16="http://schemas.microsoft.com/office/drawing/2014/main" val="1718840486"/>
                  </a:ext>
                </a:extLst>
              </a:tr>
              <a:tr h="801851">
                <a:tc>
                  <a:txBody>
                    <a:bodyPr/>
                    <a:lstStyle/>
                    <a:p>
                      <a:pPr marL="0" marR="0">
                        <a:buNone/>
                      </a:pPr>
                      <a:r>
                        <a:rPr lang="en-US" sz="1100">
                          <a:effectLst/>
                        </a:rPr>
                        <a:t>foodReviews</a:t>
                      </a:r>
                      <a:endParaRPr lang="en-US" sz="110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tc>
                  <a:txBody>
                    <a:bodyPr/>
                    <a:lstStyle/>
                    <a:p>
                      <a:pPr marL="0" marR="0">
                        <a:buNone/>
                      </a:pPr>
                      <a:r>
                        <a:rPr lang="en-US" sz="1100">
                          <a:effectLst/>
                        </a:rPr>
                        <a:t>Auto-generated ID</a:t>
                      </a:r>
                      <a:endParaRPr lang="en-US" sz="110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tc>
                  <a:txBody>
                    <a:bodyPr/>
                    <a:lstStyle/>
                    <a:p>
                      <a:pPr marL="0" marR="0">
                        <a:buNone/>
                      </a:pPr>
                      <a:r>
                        <a:rPr lang="en-US" sz="1100" dirty="0">
                          <a:effectLst/>
                        </a:rPr>
                        <a:t>Every student star rating and comment on a specific food item.</a:t>
                      </a:r>
                      <a:endParaRPr lang="en-US" sz="1100" dirty="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txBody>
                  <a:tcPr marL="63500" marR="63500" marT="50800" marB="50800" anchor="ctr"/>
                </a:tc>
                <a:extLst>
                  <a:ext uri="{0D108BD9-81ED-4DB2-BD59-A6C34878D82A}">
                    <a16:rowId xmlns:a16="http://schemas.microsoft.com/office/drawing/2014/main" val="1216847002"/>
                  </a:ext>
                </a:extLst>
              </a:tr>
            </a:tbl>
          </a:graphicData>
        </a:graphic>
      </p:graphicFrame>
    </p:spTree>
    <p:extLst>
      <p:ext uri="{BB962C8B-B14F-4D97-AF65-F5344CB8AC3E}">
        <p14:creationId xmlns:p14="http://schemas.microsoft.com/office/powerpoint/2010/main" val="851426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77739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260C4-0F50-54B2-6E59-6206B0DD356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3594F85-A20C-3BF5-C4B0-274EF5F9130B}"/>
              </a:ext>
            </a:extLst>
          </p:cNvPr>
          <p:cNvSpPr/>
          <p:nvPr/>
        </p:nvSpPr>
        <p:spPr>
          <a:xfrm>
            <a:off x="0" y="0"/>
            <a:ext cx="9144000" cy="640080"/>
          </a:xfrm>
          <a:prstGeom prst="roundRect">
            <a:avLst>
              <a:gd name="adj" fmla="val 14286"/>
            </a:avLst>
          </a:prstGeom>
          <a:solidFill>
            <a:srgbClr val="2D5A3D"/>
          </a:solidFill>
          <a:ln/>
          <a:effectLst>
            <a:outerShdw blurRad="76200" dist="25400" dir="2700000" algn="bl" rotWithShape="0">
              <a:srgbClr val="000000">
                <a:alpha val="10000"/>
              </a:srgbClr>
            </a:outerShdw>
          </a:effectLst>
        </p:spPr>
      </p:sp>
      <p:sp>
        <p:nvSpPr>
          <p:cNvPr id="3" name="Text 1">
            <a:extLst>
              <a:ext uri="{FF2B5EF4-FFF2-40B4-BE49-F238E27FC236}">
                <a16:creationId xmlns:a16="http://schemas.microsoft.com/office/drawing/2014/main" id="{E7139925-4DB8-B191-B805-62284B855AEE}"/>
              </a:ext>
            </a:extLst>
          </p:cNvPr>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08 · Database</a:t>
            </a:r>
            <a:endParaRPr lang="en-US" sz="900" dirty="0"/>
          </a:p>
        </p:txBody>
      </p:sp>
      <p:sp>
        <p:nvSpPr>
          <p:cNvPr id="4" name="Text 2">
            <a:extLst>
              <a:ext uri="{FF2B5EF4-FFF2-40B4-BE49-F238E27FC236}">
                <a16:creationId xmlns:a16="http://schemas.microsoft.com/office/drawing/2014/main" id="{E14278BB-9B97-685E-DFBF-5A4B906F686D}"/>
              </a:ext>
            </a:extLst>
          </p:cNvPr>
          <p:cNvSpPr/>
          <p:nvPr/>
        </p:nvSpPr>
        <p:spPr>
          <a:xfrm>
            <a:off x="365760" y="164592"/>
            <a:ext cx="8229600" cy="47548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Database Overview — Firebase Firestore</a:t>
            </a:r>
            <a:endParaRPr lang="en-US" sz="2400" dirty="0"/>
          </a:p>
        </p:txBody>
      </p:sp>
      <p:sp>
        <p:nvSpPr>
          <p:cNvPr id="7" name="Text 5">
            <a:extLst>
              <a:ext uri="{FF2B5EF4-FFF2-40B4-BE49-F238E27FC236}">
                <a16:creationId xmlns:a16="http://schemas.microsoft.com/office/drawing/2014/main" id="{F08662D8-FEC2-4475-160A-A17EA59D0B65}"/>
              </a:ext>
            </a:extLst>
          </p:cNvPr>
          <p:cNvSpPr/>
          <p:nvPr/>
        </p:nvSpPr>
        <p:spPr>
          <a:xfrm>
            <a:off x="457200" y="868680"/>
            <a:ext cx="8686800" cy="4110228"/>
          </a:xfrm>
          <a:prstGeom prst="rect">
            <a:avLst/>
          </a:prstGeom>
          <a:noFill/>
          <a:ln/>
        </p:spPr>
        <p:txBody>
          <a:bodyPr wrap="square" lIns="0" tIns="0" rIns="0" bIns="0" rtlCol="0" anchor="ctr"/>
          <a:lstStyle/>
          <a:p>
            <a:pPr marL="0" indent="0" algn="ctr">
              <a:buNone/>
            </a:pPr>
            <a:r>
              <a:rPr lang="en-US" sz="1100" b="1" dirty="0">
                <a:solidFill>
                  <a:srgbClr val="FFFFFF"/>
                </a:solidFill>
              </a:rPr>
              <a:t>menus</a:t>
            </a:r>
            <a:endParaRPr lang="en-US" sz="1100" dirty="0"/>
          </a:p>
        </p:txBody>
      </p:sp>
      <p:sp>
        <p:nvSpPr>
          <p:cNvPr id="8" name="Text 6">
            <a:extLst>
              <a:ext uri="{FF2B5EF4-FFF2-40B4-BE49-F238E27FC236}">
                <a16:creationId xmlns:a16="http://schemas.microsoft.com/office/drawing/2014/main" id="{918086C8-D241-C983-962B-18F03973325C}"/>
              </a:ext>
            </a:extLst>
          </p:cNvPr>
          <p:cNvSpPr/>
          <p:nvPr/>
        </p:nvSpPr>
        <p:spPr>
          <a:xfrm>
            <a:off x="1188720" y="2999232"/>
            <a:ext cx="1463040" cy="201168"/>
          </a:xfrm>
          <a:prstGeom prst="rect">
            <a:avLst/>
          </a:prstGeom>
          <a:noFill/>
          <a:ln/>
        </p:spPr>
        <p:txBody>
          <a:bodyPr wrap="square" lIns="0" tIns="0" rIns="0" bIns="0" rtlCol="0" anchor="ctr"/>
          <a:lstStyle/>
          <a:p>
            <a:pPr marL="0" indent="0" algn="ctr">
              <a:buNone/>
            </a:pPr>
            <a:endParaRPr lang="en-US" sz="700" dirty="0"/>
          </a:p>
        </p:txBody>
      </p:sp>
      <p:sp>
        <p:nvSpPr>
          <p:cNvPr id="9" name="Text 7">
            <a:extLst>
              <a:ext uri="{FF2B5EF4-FFF2-40B4-BE49-F238E27FC236}">
                <a16:creationId xmlns:a16="http://schemas.microsoft.com/office/drawing/2014/main" id="{4C7DFE92-FF59-5EBE-91AF-CFEEB404AE97}"/>
              </a:ext>
            </a:extLst>
          </p:cNvPr>
          <p:cNvSpPr/>
          <p:nvPr/>
        </p:nvSpPr>
        <p:spPr>
          <a:xfrm>
            <a:off x="2011680" y="868680"/>
            <a:ext cx="5669280" cy="274320"/>
          </a:xfrm>
          <a:prstGeom prst="rect">
            <a:avLst/>
          </a:prstGeom>
          <a:noFill/>
          <a:ln/>
        </p:spPr>
        <p:txBody>
          <a:bodyPr wrap="square" lIns="0" tIns="0" rIns="0" bIns="0" rtlCol="0" anchor="ctr"/>
          <a:lstStyle/>
          <a:p>
            <a:pPr marL="0" indent="0">
              <a:buNone/>
            </a:pPr>
            <a:endParaRPr lang="en-US" sz="950" dirty="0"/>
          </a:p>
        </p:txBody>
      </p:sp>
      <p:sp>
        <p:nvSpPr>
          <p:cNvPr id="11" name="Text 9">
            <a:extLst>
              <a:ext uri="{FF2B5EF4-FFF2-40B4-BE49-F238E27FC236}">
                <a16:creationId xmlns:a16="http://schemas.microsoft.com/office/drawing/2014/main" id="{91A64076-179F-DD36-3A52-257083244B0B}"/>
              </a:ext>
            </a:extLst>
          </p:cNvPr>
          <p:cNvSpPr/>
          <p:nvPr/>
        </p:nvSpPr>
        <p:spPr>
          <a:xfrm>
            <a:off x="7772400" y="886968"/>
            <a:ext cx="914400" cy="402336"/>
          </a:xfrm>
          <a:prstGeom prst="rect">
            <a:avLst/>
          </a:prstGeom>
          <a:noFill/>
          <a:ln/>
        </p:spPr>
        <p:txBody>
          <a:bodyPr wrap="square" lIns="25400" tIns="25400" rIns="25400" bIns="25400" rtlCol="0" anchor="ctr"/>
          <a:lstStyle/>
          <a:p>
            <a:pPr marL="0" indent="0" algn="ctr">
              <a:buNone/>
            </a:pPr>
            <a:endParaRPr lang="en-US" sz="750" dirty="0"/>
          </a:p>
        </p:txBody>
      </p:sp>
      <p:sp>
        <p:nvSpPr>
          <p:cNvPr id="14" name="Text 12">
            <a:extLst>
              <a:ext uri="{FF2B5EF4-FFF2-40B4-BE49-F238E27FC236}">
                <a16:creationId xmlns:a16="http://schemas.microsoft.com/office/drawing/2014/main" id="{C5FD0ABB-2724-A26A-7C06-9F6AA67780F9}"/>
              </a:ext>
            </a:extLst>
          </p:cNvPr>
          <p:cNvSpPr/>
          <p:nvPr/>
        </p:nvSpPr>
        <p:spPr>
          <a:xfrm>
            <a:off x="457200" y="1572768"/>
            <a:ext cx="1463040" cy="219456"/>
          </a:xfrm>
          <a:prstGeom prst="rect">
            <a:avLst/>
          </a:prstGeom>
          <a:noFill/>
          <a:ln/>
        </p:spPr>
        <p:txBody>
          <a:bodyPr wrap="square" lIns="0" tIns="0" rIns="0" bIns="0" rtlCol="0" anchor="ctr"/>
          <a:lstStyle/>
          <a:p>
            <a:pPr marL="0" indent="0" algn="ctr">
              <a:buNone/>
            </a:pPr>
            <a:endParaRPr lang="en-US" sz="1100" dirty="0"/>
          </a:p>
        </p:txBody>
      </p:sp>
      <p:sp>
        <p:nvSpPr>
          <p:cNvPr id="16" name="Text 14">
            <a:extLst>
              <a:ext uri="{FF2B5EF4-FFF2-40B4-BE49-F238E27FC236}">
                <a16:creationId xmlns:a16="http://schemas.microsoft.com/office/drawing/2014/main" id="{5ECA76C4-2545-24DF-5143-0C084968CA0F}"/>
              </a:ext>
            </a:extLst>
          </p:cNvPr>
          <p:cNvSpPr/>
          <p:nvPr/>
        </p:nvSpPr>
        <p:spPr>
          <a:xfrm>
            <a:off x="2011680" y="1572768"/>
            <a:ext cx="5669280" cy="274320"/>
          </a:xfrm>
          <a:prstGeom prst="rect">
            <a:avLst/>
          </a:prstGeom>
          <a:noFill/>
          <a:ln/>
        </p:spPr>
        <p:txBody>
          <a:bodyPr wrap="square" lIns="0" tIns="0" rIns="0" bIns="0" rtlCol="0" anchor="ctr"/>
          <a:lstStyle/>
          <a:p>
            <a:pPr marL="0" indent="0">
              <a:buNone/>
            </a:pPr>
            <a:r>
              <a:rPr lang="en-US" sz="950" dirty="0">
                <a:solidFill>
                  <a:srgbClr val="FFFFFF"/>
                </a:solidFill>
              </a:rPr>
              <a:t>hallId  |  hallName  |  name  |  role (dining/canteen)  |  email  |  createdAt</a:t>
            </a:r>
            <a:endParaRPr lang="en-US" sz="950" dirty="0"/>
          </a:p>
        </p:txBody>
      </p:sp>
      <p:sp>
        <p:nvSpPr>
          <p:cNvPr id="18" name="Text 16">
            <a:extLst>
              <a:ext uri="{FF2B5EF4-FFF2-40B4-BE49-F238E27FC236}">
                <a16:creationId xmlns:a16="http://schemas.microsoft.com/office/drawing/2014/main" id="{0CA1A49B-91B7-1474-4464-90CC0775D97E}"/>
              </a:ext>
            </a:extLst>
          </p:cNvPr>
          <p:cNvSpPr/>
          <p:nvPr/>
        </p:nvSpPr>
        <p:spPr>
          <a:xfrm>
            <a:off x="7772400" y="1591056"/>
            <a:ext cx="914400" cy="402336"/>
          </a:xfrm>
          <a:prstGeom prst="rect">
            <a:avLst/>
          </a:prstGeom>
          <a:noFill/>
          <a:ln/>
        </p:spPr>
        <p:txBody>
          <a:bodyPr wrap="square" lIns="25400" tIns="25400" rIns="25400" bIns="25400" rtlCol="0" anchor="ctr"/>
          <a:lstStyle/>
          <a:p>
            <a:pPr marL="0" indent="0" algn="ctr">
              <a:buNone/>
            </a:pPr>
            <a:r>
              <a:rPr lang="en-US" sz="750" dirty="0">
                <a:solidFill>
                  <a:srgbClr val="A8D5B5"/>
                </a:solidFill>
              </a:rPr>
              <a:t>l.</a:t>
            </a:r>
            <a:endParaRPr lang="en-US" sz="750" dirty="0"/>
          </a:p>
        </p:txBody>
      </p:sp>
      <p:sp>
        <p:nvSpPr>
          <p:cNvPr id="21" name="Text 19">
            <a:extLst>
              <a:ext uri="{FF2B5EF4-FFF2-40B4-BE49-F238E27FC236}">
                <a16:creationId xmlns:a16="http://schemas.microsoft.com/office/drawing/2014/main" id="{EB4D8949-CD5F-2D6A-4F0D-E8413B3C5A39}"/>
              </a:ext>
            </a:extLst>
          </p:cNvPr>
          <p:cNvSpPr/>
          <p:nvPr/>
        </p:nvSpPr>
        <p:spPr>
          <a:xfrm>
            <a:off x="457200" y="2276856"/>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notices</a:t>
            </a:r>
            <a:endParaRPr lang="en-US" sz="1100" dirty="0"/>
          </a:p>
        </p:txBody>
      </p:sp>
      <p:sp>
        <p:nvSpPr>
          <p:cNvPr id="25" name="Text 23">
            <a:extLst>
              <a:ext uri="{FF2B5EF4-FFF2-40B4-BE49-F238E27FC236}">
                <a16:creationId xmlns:a16="http://schemas.microsoft.com/office/drawing/2014/main" id="{BCC4DF91-077E-E05B-65BB-0F8A2DE099BA}"/>
              </a:ext>
            </a:extLst>
          </p:cNvPr>
          <p:cNvSpPr/>
          <p:nvPr/>
        </p:nvSpPr>
        <p:spPr>
          <a:xfrm>
            <a:off x="7772400" y="2295144"/>
            <a:ext cx="914400" cy="402336"/>
          </a:xfrm>
          <a:prstGeom prst="rect">
            <a:avLst/>
          </a:prstGeom>
          <a:noFill/>
          <a:ln/>
        </p:spPr>
        <p:txBody>
          <a:bodyPr wrap="square" lIns="25400" tIns="25400" rIns="25400" bIns="25400" rtlCol="0" anchor="ctr"/>
          <a:lstStyle/>
          <a:p>
            <a:pPr marL="0" indent="0" algn="ctr">
              <a:buNone/>
            </a:pPr>
            <a:r>
              <a:rPr lang="en-US" sz="750" dirty="0">
                <a:solidFill>
                  <a:srgbClr val="A8D5B5"/>
                </a:solidFill>
              </a:rPr>
              <a:t>.</a:t>
            </a:r>
            <a:endParaRPr lang="en-US" sz="750" dirty="0"/>
          </a:p>
        </p:txBody>
      </p:sp>
      <p:sp>
        <p:nvSpPr>
          <p:cNvPr id="28" name="Text 26">
            <a:extLst>
              <a:ext uri="{FF2B5EF4-FFF2-40B4-BE49-F238E27FC236}">
                <a16:creationId xmlns:a16="http://schemas.microsoft.com/office/drawing/2014/main" id="{E95B0CF3-DB2A-A149-6947-04B898E76390}"/>
              </a:ext>
            </a:extLst>
          </p:cNvPr>
          <p:cNvSpPr/>
          <p:nvPr/>
        </p:nvSpPr>
        <p:spPr>
          <a:xfrm>
            <a:off x="457200" y="2980944"/>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feasts</a:t>
            </a:r>
            <a:endParaRPr lang="en-US" sz="1100" dirty="0"/>
          </a:p>
        </p:txBody>
      </p:sp>
      <p:sp>
        <p:nvSpPr>
          <p:cNvPr id="30" name="Text 28">
            <a:extLst>
              <a:ext uri="{FF2B5EF4-FFF2-40B4-BE49-F238E27FC236}">
                <a16:creationId xmlns:a16="http://schemas.microsoft.com/office/drawing/2014/main" id="{12256FBB-515A-945E-65BD-F69FF7832850}"/>
              </a:ext>
            </a:extLst>
          </p:cNvPr>
          <p:cNvSpPr/>
          <p:nvPr/>
        </p:nvSpPr>
        <p:spPr>
          <a:xfrm>
            <a:off x="365760" y="2965922"/>
            <a:ext cx="5669280" cy="274320"/>
          </a:xfrm>
          <a:prstGeom prst="rect">
            <a:avLst/>
          </a:prstGeom>
          <a:noFill/>
          <a:ln/>
        </p:spPr>
        <p:txBody>
          <a:bodyPr wrap="square" lIns="0" tIns="0" rIns="0" bIns="0" rtlCol="0" anchor="ctr"/>
          <a:lstStyle/>
          <a:p>
            <a:pPr marL="0" indent="0">
              <a:buNone/>
            </a:pPr>
            <a:endParaRPr lang="en-US" sz="950" dirty="0"/>
          </a:p>
        </p:txBody>
      </p:sp>
      <p:sp>
        <p:nvSpPr>
          <p:cNvPr id="32" name="Text 30">
            <a:extLst>
              <a:ext uri="{FF2B5EF4-FFF2-40B4-BE49-F238E27FC236}">
                <a16:creationId xmlns:a16="http://schemas.microsoft.com/office/drawing/2014/main" id="{C4631F02-4913-CD18-6683-D6F0F0B5B090}"/>
              </a:ext>
            </a:extLst>
          </p:cNvPr>
          <p:cNvSpPr/>
          <p:nvPr/>
        </p:nvSpPr>
        <p:spPr>
          <a:xfrm>
            <a:off x="7772400" y="2999232"/>
            <a:ext cx="914400" cy="402336"/>
          </a:xfrm>
          <a:prstGeom prst="rect">
            <a:avLst/>
          </a:prstGeom>
          <a:noFill/>
          <a:ln/>
        </p:spPr>
        <p:txBody>
          <a:bodyPr wrap="square" lIns="25400" tIns="25400" rIns="25400" bIns="25400" rtlCol="0" anchor="ctr"/>
          <a:lstStyle/>
          <a:p>
            <a:pPr marL="0" indent="0" algn="ctr">
              <a:buNone/>
            </a:pPr>
            <a:endParaRPr lang="en-US" sz="750" dirty="0"/>
          </a:p>
        </p:txBody>
      </p:sp>
      <p:sp>
        <p:nvSpPr>
          <p:cNvPr id="35" name="Text 33">
            <a:extLst>
              <a:ext uri="{FF2B5EF4-FFF2-40B4-BE49-F238E27FC236}">
                <a16:creationId xmlns:a16="http://schemas.microsoft.com/office/drawing/2014/main" id="{00DA1CA5-9ECA-45BD-F687-25E51A33901F}"/>
              </a:ext>
            </a:extLst>
          </p:cNvPr>
          <p:cNvSpPr/>
          <p:nvPr/>
        </p:nvSpPr>
        <p:spPr>
          <a:xfrm>
            <a:off x="457200" y="3685032"/>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updateHistory</a:t>
            </a:r>
            <a:endParaRPr lang="en-US" sz="1100" dirty="0"/>
          </a:p>
        </p:txBody>
      </p:sp>
      <p:sp>
        <p:nvSpPr>
          <p:cNvPr id="37" name="Text 35">
            <a:extLst>
              <a:ext uri="{FF2B5EF4-FFF2-40B4-BE49-F238E27FC236}">
                <a16:creationId xmlns:a16="http://schemas.microsoft.com/office/drawing/2014/main" id="{44F3EEDC-8BC5-AED4-3BB6-C2846BF69704}"/>
              </a:ext>
            </a:extLst>
          </p:cNvPr>
          <p:cNvSpPr/>
          <p:nvPr/>
        </p:nvSpPr>
        <p:spPr>
          <a:xfrm>
            <a:off x="2011680" y="3685032"/>
            <a:ext cx="5669280" cy="274320"/>
          </a:xfrm>
          <a:prstGeom prst="rect">
            <a:avLst/>
          </a:prstGeom>
          <a:noFill/>
          <a:ln/>
        </p:spPr>
        <p:txBody>
          <a:bodyPr wrap="square" lIns="0" tIns="0" rIns="0" bIns="0" rtlCol="0" anchor="ctr"/>
          <a:lstStyle/>
          <a:p>
            <a:pPr marL="0" indent="0">
              <a:buNone/>
            </a:pPr>
            <a:r>
              <a:rPr lang="en-US" sz="950" dirty="0">
                <a:solidFill>
                  <a:srgbClr val="FFFFFF"/>
                </a:solidFill>
              </a:rPr>
              <a:t>hallId  |  moderatorName  |  role  |  action  |  timestamp</a:t>
            </a:r>
            <a:endParaRPr lang="en-US" sz="950" dirty="0"/>
          </a:p>
        </p:txBody>
      </p:sp>
      <p:sp>
        <p:nvSpPr>
          <p:cNvPr id="39" name="Text 37">
            <a:extLst>
              <a:ext uri="{FF2B5EF4-FFF2-40B4-BE49-F238E27FC236}">
                <a16:creationId xmlns:a16="http://schemas.microsoft.com/office/drawing/2014/main" id="{09D9B1DD-A9FC-0CFC-5F0B-A9F58CE482F2}"/>
              </a:ext>
            </a:extLst>
          </p:cNvPr>
          <p:cNvSpPr/>
          <p:nvPr/>
        </p:nvSpPr>
        <p:spPr>
          <a:xfrm>
            <a:off x="7772400" y="3703320"/>
            <a:ext cx="914400" cy="402336"/>
          </a:xfrm>
          <a:prstGeom prst="rect">
            <a:avLst/>
          </a:prstGeom>
          <a:noFill/>
          <a:ln/>
        </p:spPr>
        <p:txBody>
          <a:bodyPr wrap="square" lIns="25400" tIns="25400" rIns="25400" bIns="25400" rtlCol="0" anchor="ctr"/>
          <a:lstStyle/>
          <a:p>
            <a:pPr marL="0" indent="0" algn="ctr">
              <a:buNone/>
            </a:pPr>
            <a:endParaRPr lang="en-US" sz="750" dirty="0"/>
          </a:p>
        </p:txBody>
      </p:sp>
      <p:sp>
        <p:nvSpPr>
          <p:cNvPr id="42" name="Text 40">
            <a:extLst>
              <a:ext uri="{FF2B5EF4-FFF2-40B4-BE49-F238E27FC236}">
                <a16:creationId xmlns:a16="http://schemas.microsoft.com/office/drawing/2014/main" id="{E6EF8234-A2AF-7A68-9E11-821FF10EDB6B}"/>
              </a:ext>
            </a:extLst>
          </p:cNvPr>
          <p:cNvSpPr/>
          <p:nvPr/>
        </p:nvSpPr>
        <p:spPr>
          <a:xfrm>
            <a:off x="457200" y="4389120"/>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foodReviews</a:t>
            </a:r>
            <a:endParaRPr lang="en-US" sz="1100" dirty="0"/>
          </a:p>
        </p:txBody>
      </p:sp>
      <p:sp>
        <p:nvSpPr>
          <p:cNvPr id="44" name="Text 42">
            <a:extLst>
              <a:ext uri="{FF2B5EF4-FFF2-40B4-BE49-F238E27FC236}">
                <a16:creationId xmlns:a16="http://schemas.microsoft.com/office/drawing/2014/main" id="{4D4B22CE-67D4-94DB-BA5A-F4F675AA6955}"/>
              </a:ext>
            </a:extLst>
          </p:cNvPr>
          <p:cNvSpPr/>
          <p:nvPr/>
        </p:nvSpPr>
        <p:spPr>
          <a:xfrm>
            <a:off x="-372291" y="2463002"/>
            <a:ext cx="5669280" cy="274320"/>
          </a:xfrm>
          <a:prstGeom prst="rect">
            <a:avLst/>
          </a:prstGeom>
          <a:noFill/>
          <a:ln/>
        </p:spPr>
        <p:txBody>
          <a:bodyPr wrap="square" lIns="0" tIns="0" rIns="0" bIns="0" rtlCol="0" anchor="ctr"/>
          <a:lstStyle/>
          <a:p>
            <a:pPr marL="0" indent="0">
              <a:buNone/>
            </a:pPr>
            <a:endParaRPr lang="en-US" sz="950" dirty="0"/>
          </a:p>
        </p:txBody>
      </p:sp>
      <p:sp>
        <p:nvSpPr>
          <p:cNvPr id="46" name="Text 44">
            <a:extLst>
              <a:ext uri="{FF2B5EF4-FFF2-40B4-BE49-F238E27FC236}">
                <a16:creationId xmlns:a16="http://schemas.microsoft.com/office/drawing/2014/main" id="{88BA2BBF-32DE-B073-AC8F-4D4B062A6F9D}"/>
              </a:ext>
            </a:extLst>
          </p:cNvPr>
          <p:cNvSpPr/>
          <p:nvPr/>
        </p:nvSpPr>
        <p:spPr>
          <a:xfrm>
            <a:off x="7772400" y="4407408"/>
            <a:ext cx="914400" cy="402336"/>
          </a:xfrm>
          <a:prstGeom prst="rect">
            <a:avLst/>
          </a:prstGeom>
          <a:noFill/>
          <a:ln/>
        </p:spPr>
        <p:txBody>
          <a:bodyPr wrap="square" lIns="25400" tIns="25400" rIns="25400" bIns="25400" rtlCol="0" anchor="ctr"/>
          <a:lstStyle/>
          <a:p>
            <a:pPr marL="0" indent="0" algn="ctr">
              <a:buNone/>
            </a:pPr>
            <a:endParaRPr lang="en-US" sz="750" dirty="0"/>
          </a:p>
        </p:txBody>
      </p:sp>
      <p:pic>
        <p:nvPicPr>
          <p:cNvPr id="5" name="Picture 4">
            <a:extLst>
              <a:ext uri="{FF2B5EF4-FFF2-40B4-BE49-F238E27FC236}">
                <a16:creationId xmlns:a16="http://schemas.microsoft.com/office/drawing/2014/main" id="{B0C68E63-42F3-2EC7-4790-EF70DF91D2C4}"/>
              </a:ext>
            </a:extLst>
          </p:cNvPr>
          <p:cNvPicPr>
            <a:picLocks noChangeAspect="1"/>
          </p:cNvPicPr>
          <p:nvPr/>
        </p:nvPicPr>
        <p:blipFill>
          <a:blip r:embed="rId3"/>
          <a:stretch>
            <a:fillRect/>
          </a:stretch>
        </p:blipFill>
        <p:spPr>
          <a:xfrm>
            <a:off x="-1" y="664598"/>
            <a:ext cx="9143999" cy="4478902"/>
          </a:xfrm>
          <a:prstGeom prst="rect">
            <a:avLst/>
          </a:prstGeom>
        </p:spPr>
      </p:pic>
    </p:spTree>
    <p:extLst>
      <p:ext uri="{BB962C8B-B14F-4D97-AF65-F5344CB8AC3E}">
        <p14:creationId xmlns:p14="http://schemas.microsoft.com/office/powerpoint/2010/main" val="12823085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85505-CADA-8AD1-0433-BBAEC9D3D5D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5D11C66-78E1-F7B4-5353-6BECDDEBDBC5}"/>
              </a:ext>
            </a:extLst>
          </p:cNvPr>
          <p:cNvSpPr/>
          <p:nvPr/>
        </p:nvSpPr>
        <p:spPr>
          <a:xfrm>
            <a:off x="0" y="0"/>
            <a:ext cx="9144000" cy="640080"/>
          </a:xfrm>
          <a:prstGeom prst="roundRect">
            <a:avLst>
              <a:gd name="adj" fmla="val 14286"/>
            </a:avLst>
          </a:prstGeom>
          <a:solidFill>
            <a:srgbClr val="2D5A3D"/>
          </a:solidFill>
          <a:ln/>
          <a:effectLst>
            <a:outerShdw blurRad="76200" dist="25400" dir="2700000" algn="bl" rotWithShape="0">
              <a:srgbClr val="000000">
                <a:alpha val="10000"/>
              </a:srgbClr>
            </a:outerShdw>
          </a:effectLst>
        </p:spPr>
      </p:sp>
      <p:pic>
        <p:nvPicPr>
          <p:cNvPr id="5" name="Picture 4">
            <a:extLst>
              <a:ext uri="{FF2B5EF4-FFF2-40B4-BE49-F238E27FC236}">
                <a16:creationId xmlns:a16="http://schemas.microsoft.com/office/drawing/2014/main" id="{C4849150-93F9-B1E9-1C13-396B77017A62}"/>
              </a:ext>
            </a:extLst>
          </p:cNvPr>
          <p:cNvPicPr>
            <a:picLocks noChangeAspect="1"/>
          </p:cNvPicPr>
          <p:nvPr/>
        </p:nvPicPr>
        <p:blipFill>
          <a:blip r:embed="rId2"/>
          <a:stretch>
            <a:fillRect/>
          </a:stretch>
        </p:blipFill>
        <p:spPr>
          <a:xfrm>
            <a:off x="685800" y="634370"/>
            <a:ext cx="7772400" cy="3874759"/>
          </a:xfrm>
          <a:prstGeom prst="rect">
            <a:avLst/>
          </a:prstGeom>
        </p:spPr>
      </p:pic>
    </p:spTree>
    <p:extLst>
      <p:ext uri="{BB962C8B-B14F-4D97-AF65-F5344CB8AC3E}">
        <p14:creationId xmlns:p14="http://schemas.microsoft.com/office/powerpoint/2010/main" val="7779538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3">
    <p:bg>
      <p:bgPr>
        <a:solidFill>
          <a:srgbClr val="F8F6F2"/>
        </a:solidFill>
        <a:effectLst/>
      </p:bgPr>
    </p:bg>
    <p:spTree>
      <p:nvGrpSpPr>
        <p:cNvPr id="1" name=""/>
        <p:cNvGrpSpPr/>
        <p:nvPr/>
      </p:nvGrpSpPr>
      <p:grpSpPr>
        <a:xfrm>
          <a:off x="0" y="0"/>
          <a:ext cx="0" cy="0"/>
          <a:chOff x="0" y="0"/>
          <a:chExt cx="0" cy="0"/>
        </a:xfrm>
      </p:grpSpPr>
      <p:sp>
        <p:nvSpPr>
          <p:cNvPr id="2" name="Shape 0"/>
          <p:cNvSpPr/>
          <p:nvPr/>
        </p:nvSpPr>
        <p:spPr>
          <a:xfrm>
            <a:off x="365760" y="137160"/>
            <a:ext cx="1463040" cy="256032"/>
          </a:xfrm>
          <a:prstGeom prst="roundRect">
            <a:avLst>
              <a:gd name="adj" fmla="val 21429"/>
            </a:avLst>
          </a:prstGeom>
          <a:solidFill>
            <a:srgbClr val="D4E6D8"/>
          </a:solidFill>
          <a:ln/>
        </p:spPr>
      </p:sp>
      <p:sp>
        <p:nvSpPr>
          <p:cNvPr id="3" name="Text 1"/>
          <p:cNvSpPr/>
          <p:nvPr/>
        </p:nvSpPr>
        <p:spPr>
          <a:xfrm>
            <a:off x="365760" y="137160"/>
            <a:ext cx="1463040" cy="256032"/>
          </a:xfrm>
          <a:prstGeom prst="rect">
            <a:avLst/>
          </a:prstGeom>
          <a:noFill/>
          <a:ln/>
        </p:spPr>
        <p:txBody>
          <a:bodyPr wrap="square" lIns="0" tIns="0" rIns="0" bIns="0" rtlCol="0" anchor="ctr"/>
          <a:lstStyle/>
          <a:p>
            <a:pPr marL="0" indent="0" algn="ctr">
              <a:buNone/>
            </a:pPr>
            <a:r>
              <a:rPr lang="en-US" sz="800" b="1" dirty="0">
                <a:solidFill>
                  <a:srgbClr val="2D5A3D"/>
                </a:solidFill>
              </a:rPr>
              <a:t>09 · Security</a:t>
            </a:r>
            <a:endParaRPr lang="en-US" sz="800" dirty="0"/>
          </a:p>
        </p:txBody>
      </p:sp>
      <p:sp>
        <p:nvSpPr>
          <p:cNvPr id="4" name="Text 2"/>
          <p:cNvSpPr/>
          <p:nvPr/>
        </p:nvSpPr>
        <p:spPr>
          <a:xfrm>
            <a:off x="365760" y="502920"/>
            <a:ext cx="8229600" cy="45720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Security Features</a:t>
            </a:r>
            <a:endParaRPr lang="en-US" sz="2800" dirty="0"/>
          </a:p>
        </p:txBody>
      </p:sp>
      <p:sp>
        <p:nvSpPr>
          <p:cNvPr id="5" name="Shape 3"/>
          <p:cNvSpPr/>
          <p:nvPr/>
        </p:nvSpPr>
        <p:spPr>
          <a:xfrm>
            <a:off x="365760" y="111556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6" name="Text 4"/>
          <p:cNvSpPr/>
          <p:nvPr/>
        </p:nvSpPr>
        <p:spPr>
          <a:xfrm>
            <a:off x="475488" y="1335024"/>
            <a:ext cx="502920" cy="54864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7" name="Text 5"/>
          <p:cNvSpPr/>
          <p:nvPr/>
        </p:nvSpPr>
        <p:spPr>
          <a:xfrm>
            <a:off x="1078992" y="120700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Firebase Authentication</a:t>
            </a:r>
            <a:endParaRPr lang="en-US" sz="1200" dirty="0"/>
          </a:p>
        </p:txBody>
      </p:sp>
      <p:sp>
        <p:nvSpPr>
          <p:cNvPr id="8" name="Text 6"/>
          <p:cNvSpPr/>
          <p:nvPr/>
        </p:nvSpPr>
        <p:spPr>
          <a:xfrm>
            <a:off x="1078992" y="1499616"/>
            <a:ext cx="3291840" cy="621792"/>
          </a:xfrm>
          <a:prstGeom prst="rect">
            <a:avLst/>
          </a:prstGeom>
          <a:noFill/>
          <a:ln/>
        </p:spPr>
        <p:txBody>
          <a:bodyPr wrap="square" lIns="0" tIns="0" rIns="0" bIns="0" rtlCol="0" anchor="ctr"/>
          <a:lstStyle/>
          <a:p>
            <a:pPr marL="0" indent="0">
              <a:buNone/>
            </a:pPr>
            <a:r>
              <a:rPr lang="en-US" sz="950" dirty="0">
                <a:solidFill>
                  <a:srgbClr val="6B6B60"/>
                </a:solidFill>
              </a:rPr>
              <a:t>Email-password auth managed by Firebase. JWT token auto-injected in every SDK request. Token expires in ~1 hour and auto-refreshes.</a:t>
            </a:r>
            <a:endParaRPr lang="en-US" sz="950" dirty="0"/>
          </a:p>
        </p:txBody>
      </p:sp>
      <p:sp>
        <p:nvSpPr>
          <p:cNvPr id="9" name="Shape 7"/>
          <p:cNvSpPr/>
          <p:nvPr/>
        </p:nvSpPr>
        <p:spPr>
          <a:xfrm>
            <a:off x="4754880" y="111556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10" name="Text 8"/>
          <p:cNvSpPr/>
          <p:nvPr/>
        </p:nvSpPr>
        <p:spPr>
          <a:xfrm>
            <a:off x="4864608" y="1335024"/>
            <a:ext cx="502920" cy="54864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1" name="Text 9"/>
          <p:cNvSpPr/>
          <p:nvPr/>
        </p:nvSpPr>
        <p:spPr>
          <a:xfrm>
            <a:off x="5468112" y="120700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Password Security</a:t>
            </a:r>
            <a:endParaRPr lang="en-US" sz="1200" dirty="0"/>
          </a:p>
        </p:txBody>
      </p:sp>
      <p:sp>
        <p:nvSpPr>
          <p:cNvPr id="12" name="Text 10"/>
          <p:cNvSpPr/>
          <p:nvPr/>
        </p:nvSpPr>
        <p:spPr>
          <a:xfrm>
            <a:off x="5468112" y="1499616"/>
            <a:ext cx="3291840" cy="621792"/>
          </a:xfrm>
          <a:prstGeom prst="rect">
            <a:avLst/>
          </a:prstGeom>
          <a:noFill/>
          <a:ln/>
        </p:spPr>
        <p:txBody>
          <a:bodyPr wrap="square" lIns="0" tIns="0" rIns="0" bIns="0" rtlCol="0" anchor="ctr"/>
          <a:lstStyle/>
          <a:p>
            <a:pPr marL="0" indent="0">
              <a:buNone/>
            </a:pPr>
            <a:r>
              <a:rPr lang="en-US" sz="950" dirty="0">
                <a:solidFill>
                  <a:srgbClr val="6B6B60"/>
                </a:solidFill>
              </a:rPr>
              <a:t>Firebase hashes all passwords with bcrypt. Plain-text passwords are never stored. Comparison happens server-side.</a:t>
            </a:r>
            <a:endParaRPr lang="en-US" sz="950" dirty="0"/>
          </a:p>
        </p:txBody>
      </p:sp>
      <p:sp>
        <p:nvSpPr>
          <p:cNvPr id="13" name="Shape 11"/>
          <p:cNvSpPr/>
          <p:nvPr/>
        </p:nvSpPr>
        <p:spPr>
          <a:xfrm>
            <a:off x="365760" y="230428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14" name="Text 12"/>
          <p:cNvSpPr/>
          <p:nvPr/>
        </p:nvSpPr>
        <p:spPr>
          <a:xfrm>
            <a:off x="475488" y="2523744"/>
            <a:ext cx="502920" cy="54864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5" name="Text 13"/>
          <p:cNvSpPr/>
          <p:nvPr/>
        </p:nvSpPr>
        <p:spPr>
          <a:xfrm>
            <a:off x="1078992" y="239572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Role Enforcement</a:t>
            </a:r>
            <a:endParaRPr lang="en-US" sz="1200" dirty="0"/>
          </a:p>
        </p:txBody>
      </p:sp>
      <p:sp>
        <p:nvSpPr>
          <p:cNvPr id="16" name="Text 14"/>
          <p:cNvSpPr/>
          <p:nvPr/>
        </p:nvSpPr>
        <p:spPr>
          <a:xfrm>
            <a:off x="1078992" y="2688336"/>
            <a:ext cx="3291840" cy="621792"/>
          </a:xfrm>
          <a:prstGeom prst="rect">
            <a:avLst/>
          </a:prstGeom>
          <a:noFill/>
          <a:ln/>
        </p:spPr>
        <p:txBody>
          <a:bodyPr wrap="square" lIns="0" tIns="0" rIns="0" bIns="0" rtlCol="0" anchor="ctr"/>
          <a:lstStyle/>
          <a:p>
            <a:pPr marL="0" indent="0">
              <a:buNone/>
            </a:pPr>
            <a:r>
              <a:rPr lang="en-US" sz="950" dirty="0">
                <a:solidFill>
                  <a:srgbClr val="6B6B60"/>
                </a:solidFill>
              </a:rPr>
              <a:t>Login screen checks modData.role !== role. Wrong role → Login Failed alert. Prevents dining moderator accessing canteen dashboard.</a:t>
            </a:r>
            <a:endParaRPr lang="en-US" sz="950" dirty="0"/>
          </a:p>
        </p:txBody>
      </p:sp>
      <p:sp>
        <p:nvSpPr>
          <p:cNvPr id="17" name="Shape 15"/>
          <p:cNvSpPr/>
          <p:nvPr/>
        </p:nvSpPr>
        <p:spPr>
          <a:xfrm>
            <a:off x="4754880" y="230428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18" name="Text 16"/>
          <p:cNvSpPr/>
          <p:nvPr/>
        </p:nvSpPr>
        <p:spPr>
          <a:xfrm>
            <a:off x="4864608" y="2523744"/>
            <a:ext cx="502920" cy="54864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9" name="Text 17"/>
          <p:cNvSpPr/>
          <p:nvPr/>
        </p:nvSpPr>
        <p:spPr>
          <a:xfrm>
            <a:off x="5468112" y="239572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Re-authentication Modal</a:t>
            </a:r>
            <a:endParaRPr lang="en-US" sz="1200" dirty="0"/>
          </a:p>
        </p:txBody>
      </p:sp>
      <p:sp>
        <p:nvSpPr>
          <p:cNvPr id="20" name="Text 18"/>
          <p:cNvSpPr/>
          <p:nvPr/>
        </p:nvSpPr>
        <p:spPr>
          <a:xfrm>
            <a:off x="5468112" y="2688336"/>
            <a:ext cx="3291840" cy="621792"/>
          </a:xfrm>
          <a:prstGeom prst="rect">
            <a:avLst/>
          </a:prstGeom>
          <a:noFill/>
          <a:ln/>
        </p:spPr>
        <p:txBody>
          <a:bodyPr wrap="square" lIns="0" tIns="0" rIns="0" bIns="0" rtlCol="0" anchor="ctr"/>
          <a:lstStyle/>
          <a:p>
            <a:pPr marL="0" indent="0">
              <a:buNone/>
            </a:pPr>
            <a:r>
              <a:rPr lang="en-US" sz="950" dirty="0">
                <a:solidFill>
                  <a:srgbClr val="6B6B60"/>
                </a:solidFill>
              </a:rPr>
              <a:t>On session resume, ModeratorRoleScreen requires password re-entry before dashboard access. Prevents unauthorized access on shared devices.</a:t>
            </a:r>
            <a:endParaRPr lang="en-US" sz="950" dirty="0"/>
          </a:p>
        </p:txBody>
      </p:sp>
      <p:sp>
        <p:nvSpPr>
          <p:cNvPr id="21" name="Shape 19"/>
          <p:cNvSpPr/>
          <p:nvPr/>
        </p:nvSpPr>
        <p:spPr>
          <a:xfrm>
            <a:off x="365760" y="349300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22" name="Text 20"/>
          <p:cNvSpPr/>
          <p:nvPr/>
        </p:nvSpPr>
        <p:spPr>
          <a:xfrm>
            <a:off x="475488" y="3712464"/>
            <a:ext cx="502920" cy="54864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3" name="Text 21"/>
          <p:cNvSpPr/>
          <p:nvPr/>
        </p:nvSpPr>
        <p:spPr>
          <a:xfrm>
            <a:off x="1078992" y="358444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Firestore Security Rules</a:t>
            </a:r>
            <a:endParaRPr lang="en-US" sz="1200" dirty="0"/>
          </a:p>
        </p:txBody>
      </p:sp>
      <p:sp>
        <p:nvSpPr>
          <p:cNvPr id="24" name="Text 22"/>
          <p:cNvSpPr/>
          <p:nvPr/>
        </p:nvSpPr>
        <p:spPr>
          <a:xfrm>
            <a:off x="1078992" y="3877056"/>
            <a:ext cx="3291840" cy="621792"/>
          </a:xfrm>
          <a:prstGeom prst="rect">
            <a:avLst/>
          </a:prstGeom>
          <a:noFill/>
          <a:ln/>
        </p:spPr>
        <p:txBody>
          <a:bodyPr wrap="square" lIns="0" tIns="0" rIns="0" bIns="0" rtlCol="0" anchor="ctr"/>
          <a:lstStyle/>
          <a:p>
            <a:pPr marL="0" indent="0">
              <a:buNone/>
            </a:pPr>
            <a:r>
              <a:rPr lang="en-US" sz="950" dirty="0">
                <a:solidFill>
                  <a:srgbClr val="6B6B60"/>
                </a:solidFill>
              </a:rPr>
              <a:t>Rules deployed to prevent unauthorized writes. Public read for menus/notices/feasts. Write requires request.auth != null.</a:t>
            </a:r>
            <a:endParaRPr lang="en-US" sz="950" dirty="0"/>
          </a:p>
        </p:txBody>
      </p:sp>
      <p:sp>
        <p:nvSpPr>
          <p:cNvPr id="25" name="Shape 23"/>
          <p:cNvSpPr/>
          <p:nvPr/>
        </p:nvSpPr>
        <p:spPr>
          <a:xfrm>
            <a:off x="4754880" y="349300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26" name="Text 24"/>
          <p:cNvSpPr/>
          <p:nvPr/>
        </p:nvSpPr>
        <p:spPr>
          <a:xfrm>
            <a:off x="4864608" y="3712464"/>
            <a:ext cx="502920" cy="54864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7" name="Text 25"/>
          <p:cNvSpPr/>
          <p:nvPr/>
        </p:nvSpPr>
        <p:spPr>
          <a:xfrm>
            <a:off x="5468112" y="358444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Input Validation</a:t>
            </a:r>
            <a:endParaRPr lang="en-US" sz="1200" dirty="0"/>
          </a:p>
        </p:txBody>
      </p:sp>
      <p:sp>
        <p:nvSpPr>
          <p:cNvPr id="28" name="Text 26"/>
          <p:cNvSpPr/>
          <p:nvPr/>
        </p:nvSpPr>
        <p:spPr>
          <a:xfrm>
            <a:off x="5468112" y="3877056"/>
            <a:ext cx="3291840" cy="621792"/>
          </a:xfrm>
          <a:prstGeom prst="rect">
            <a:avLst/>
          </a:prstGeom>
          <a:noFill/>
          <a:ln/>
        </p:spPr>
        <p:txBody>
          <a:bodyPr wrap="square" lIns="0" tIns="0" rIns="0" bIns="0" rtlCol="0" anchor="ctr"/>
          <a:lstStyle/>
          <a:p>
            <a:pPr marL="0" indent="0">
              <a:buNone/>
            </a:pPr>
            <a:r>
              <a:rPr lang="en-US" sz="950" dirty="0">
                <a:solidFill>
                  <a:srgbClr val="6B6B60"/>
                </a:solidFill>
              </a:rPr>
              <a:t>Price and count validated as non-negative numbers. Empty item names filtered out. SQL injection impossible — Firestore uses parameterized SDK calls.</a:t>
            </a:r>
            <a:endParaRPr lang="en-US" sz="950" dirty="0"/>
          </a:p>
        </p:txBody>
      </p:sp>
      <p:sp>
        <p:nvSpPr>
          <p:cNvPr id="29" name="Shape 27"/>
          <p:cNvSpPr/>
          <p:nvPr/>
        </p:nvSpPr>
        <p:spPr>
          <a:xfrm>
            <a:off x="365760" y="4645152"/>
            <a:ext cx="8412480" cy="347472"/>
          </a:xfrm>
          <a:prstGeom prst="roundRect">
            <a:avLst>
              <a:gd name="adj" fmla="val 26316"/>
            </a:avLst>
          </a:prstGeom>
          <a:solidFill>
            <a:srgbClr val="FFF3E0"/>
          </a:solidFill>
          <a:ln/>
          <a:effectLst>
            <a:outerShdw blurRad="76200" dist="25400" dir="2700000" algn="bl" rotWithShape="0">
              <a:srgbClr val="000000">
                <a:alpha val="10000"/>
              </a:srgbClr>
            </a:outerShdw>
          </a:effectLst>
        </p:spPr>
      </p:sp>
      <p:sp>
        <p:nvSpPr>
          <p:cNvPr id="30" name="Text 28"/>
          <p:cNvSpPr/>
          <p:nvPr/>
        </p:nvSpPr>
        <p:spPr>
          <a:xfrm>
            <a:off x="502920" y="4645152"/>
            <a:ext cx="8229600" cy="347472"/>
          </a:xfrm>
          <a:prstGeom prst="rect">
            <a:avLst/>
          </a:prstGeom>
          <a:noFill/>
          <a:ln/>
        </p:spPr>
        <p:txBody>
          <a:bodyPr wrap="square" lIns="0" tIns="0" rIns="0" bIns="0" rtlCol="0" anchor="ctr"/>
          <a:lstStyle/>
          <a:p>
            <a:pPr marL="0" indent="0">
              <a:buNone/>
            </a:pPr>
            <a:r>
              <a:rPr lang="en-US" sz="950" dirty="0">
                <a:solidFill>
                  <a:srgbClr val="E65100"/>
                </a:solidFill>
              </a:rPr>
              <a:t>⚠️  Known Limitation: foodReviews has no authentication — any user can submit a review. Role enforcement is client-side only; server-side Firestore Rules are the production fix.</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37160"/>
            <a:ext cx="1463040" cy="256032"/>
          </a:xfrm>
          <a:prstGeom prst="roundRect">
            <a:avLst>
              <a:gd name="adj" fmla="val 21429"/>
            </a:avLst>
          </a:prstGeom>
          <a:solidFill>
            <a:srgbClr val="D4E6D8"/>
          </a:solidFill>
          <a:ln/>
        </p:spPr>
      </p:sp>
      <p:sp>
        <p:nvSpPr>
          <p:cNvPr id="3" name="Text 1"/>
          <p:cNvSpPr/>
          <p:nvPr/>
        </p:nvSpPr>
        <p:spPr>
          <a:xfrm>
            <a:off x="365760" y="137160"/>
            <a:ext cx="1463040" cy="256032"/>
          </a:xfrm>
          <a:prstGeom prst="rect">
            <a:avLst/>
          </a:prstGeom>
          <a:noFill/>
          <a:ln/>
        </p:spPr>
        <p:txBody>
          <a:bodyPr wrap="square" lIns="0" tIns="0" rIns="0" bIns="0" rtlCol="0" anchor="ctr"/>
          <a:lstStyle/>
          <a:p>
            <a:pPr marL="0" indent="0" algn="ctr">
              <a:buNone/>
            </a:pPr>
            <a:r>
              <a:rPr lang="en-US" sz="800" b="1" dirty="0">
                <a:solidFill>
                  <a:srgbClr val="2D5A3D"/>
                </a:solidFill>
              </a:rPr>
              <a:t>10 · Future</a:t>
            </a:r>
            <a:endParaRPr lang="en-US" sz="800" dirty="0"/>
          </a:p>
        </p:txBody>
      </p:sp>
      <p:sp>
        <p:nvSpPr>
          <p:cNvPr id="4" name="Text 2"/>
          <p:cNvSpPr/>
          <p:nvPr/>
        </p:nvSpPr>
        <p:spPr>
          <a:xfrm>
            <a:off x="365760" y="502920"/>
            <a:ext cx="8229600" cy="45720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Future Improvements</a:t>
            </a:r>
            <a:endParaRPr lang="en-US" sz="2800" dirty="0"/>
          </a:p>
        </p:txBody>
      </p:sp>
      <p:sp>
        <p:nvSpPr>
          <p:cNvPr id="5" name="Shape 3"/>
          <p:cNvSpPr/>
          <p:nvPr/>
        </p:nvSpPr>
        <p:spPr>
          <a:xfrm>
            <a:off x="365760" y="111556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6" name="Text 4"/>
          <p:cNvSpPr/>
          <p:nvPr/>
        </p:nvSpPr>
        <p:spPr>
          <a:xfrm>
            <a:off x="475488" y="129844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7" name="Text 5"/>
          <p:cNvSpPr/>
          <p:nvPr/>
        </p:nvSpPr>
        <p:spPr>
          <a:xfrm>
            <a:off x="1042416" y="118872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Push Notifications</a:t>
            </a:r>
            <a:endParaRPr lang="en-US" sz="1200" dirty="0"/>
          </a:p>
        </p:txBody>
      </p:sp>
      <p:sp>
        <p:nvSpPr>
          <p:cNvPr id="8" name="Shape 6"/>
          <p:cNvSpPr/>
          <p:nvPr/>
        </p:nvSpPr>
        <p:spPr>
          <a:xfrm>
            <a:off x="3675888" y="1207008"/>
            <a:ext cx="676656" cy="201168"/>
          </a:xfrm>
          <a:prstGeom prst="roundRect">
            <a:avLst>
              <a:gd name="adj" fmla="val 18182"/>
            </a:avLst>
          </a:prstGeom>
          <a:solidFill>
            <a:srgbClr val="D4E6D8"/>
          </a:solidFill>
          <a:ln/>
        </p:spPr>
      </p:sp>
      <p:sp>
        <p:nvSpPr>
          <p:cNvPr id="9" name="Text 7"/>
          <p:cNvSpPr/>
          <p:nvPr/>
        </p:nvSpPr>
        <p:spPr>
          <a:xfrm>
            <a:off x="3675888" y="120700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High Impact</a:t>
            </a:r>
            <a:endParaRPr lang="en-US" sz="700" dirty="0"/>
          </a:p>
        </p:txBody>
      </p:sp>
      <p:sp>
        <p:nvSpPr>
          <p:cNvPr id="10" name="Text 8"/>
          <p:cNvSpPr/>
          <p:nvPr/>
        </p:nvSpPr>
        <p:spPr>
          <a:xfrm>
            <a:off x="1042416" y="1463040"/>
            <a:ext cx="3310128" cy="438912"/>
          </a:xfrm>
          <a:prstGeom prst="rect">
            <a:avLst/>
          </a:prstGeom>
          <a:noFill/>
          <a:ln/>
        </p:spPr>
        <p:txBody>
          <a:bodyPr wrap="square" lIns="0" tIns="0" rIns="0" bIns="0" rtlCol="0" anchor="ctr"/>
          <a:lstStyle/>
          <a:p>
            <a:pPr marL="0" indent="0">
              <a:buNone/>
            </a:pPr>
            <a:r>
              <a:rPr lang="en-US" sz="950" dirty="0">
                <a:solidFill>
                  <a:srgbClr val="6B6B60"/>
                </a:solidFill>
              </a:rPr>
              <a:t>Notify students when today's menu is posted or when a feast is announced.</a:t>
            </a:r>
            <a:endParaRPr lang="en-US" sz="950" dirty="0"/>
          </a:p>
        </p:txBody>
      </p:sp>
      <p:sp>
        <p:nvSpPr>
          <p:cNvPr id="11" name="Shape 9"/>
          <p:cNvSpPr/>
          <p:nvPr/>
        </p:nvSpPr>
        <p:spPr>
          <a:xfrm>
            <a:off x="4754880" y="111556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12" name="Text 10"/>
          <p:cNvSpPr/>
          <p:nvPr/>
        </p:nvSpPr>
        <p:spPr>
          <a:xfrm>
            <a:off x="4864608" y="129844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13" name="Text 11"/>
          <p:cNvSpPr/>
          <p:nvPr/>
        </p:nvSpPr>
        <p:spPr>
          <a:xfrm>
            <a:off x="5431536" y="118872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Offline Support</a:t>
            </a:r>
            <a:endParaRPr lang="en-US" sz="1200" dirty="0"/>
          </a:p>
        </p:txBody>
      </p:sp>
      <p:sp>
        <p:nvSpPr>
          <p:cNvPr id="14" name="Shape 12"/>
          <p:cNvSpPr/>
          <p:nvPr/>
        </p:nvSpPr>
        <p:spPr>
          <a:xfrm>
            <a:off x="8065008" y="1207008"/>
            <a:ext cx="676656" cy="201168"/>
          </a:xfrm>
          <a:prstGeom prst="roundRect">
            <a:avLst>
              <a:gd name="adj" fmla="val 18182"/>
            </a:avLst>
          </a:prstGeom>
          <a:solidFill>
            <a:srgbClr val="D4E6D8"/>
          </a:solidFill>
          <a:ln/>
        </p:spPr>
      </p:sp>
      <p:sp>
        <p:nvSpPr>
          <p:cNvPr id="15" name="Text 13"/>
          <p:cNvSpPr/>
          <p:nvPr/>
        </p:nvSpPr>
        <p:spPr>
          <a:xfrm>
            <a:off x="8065008" y="120700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Technical</a:t>
            </a:r>
            <a:endParaRPr lang="en-US" sz="700" dirty="0"/>
          </a:p>
        </p:txBody>
      </p:sp>
      <p:sp>
        <p:nvSpPr>
          <p:cNvPr id="16" name="Text 14"/>
          <p:cNvSpPr/>
          <p:nvPr/>
        </p:nvSpPr>
        <p:spPr>
          <a:xfrm>
            <a:off x="5431536" y="1463040"/>
            <a:ext cx="3310128" cy="438912"/>
          </a:xfrm>
          <a:prstGeom prst="rect">
            <a:avLst/>
          </a:prstGeom>
          <a:noFill/>
          <a:ln/>
        </p:spPr>
        <p:txBody>
          <a:bodyPr wrap="square" lIns="0" tIns="0" rIns="0" bIns="0" rtlCol="0" anchor="ctr"/>
          <a:lstStyle/>
          <a:p>
            <a:pPr marL="0" indent="0">
              <a:buNone/>
            </a:pPr>
            <a:r>
              <a:rPr lang="en-US" sz="950" dirty="0">
                <a:solidFill>
                  <a:srgbClr val="6B6B60"/>
                </a:solidFill>
              </a:rPr>
              <a:t>Replace getFirestore() with initializeFirestore(CACHE_SIZE_UNLIMITED) for offline menu browsing.</a:t>
            </a:r>
            <a:endParaRPr lang="en-US" sz="950" dirty="0"/>
          </a:p>
        </p:txBody>
      </p:sp>
      <p:sp>
        <p:nvSpPr>
          <p:cNvPr id="17" name="Shape 15"/>
          <p:cNvSpPr/>
          <p:nvPr/>
        </p:nvSpPr>
        <p:spPr>
          <a:xfrm>
            <a:off x="365760" y="207568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18" name="Text 16"/>
          <p:cNvSpPr/>
          <p:nvPr/>
        </p:nvSpPr>
        <p:spPr>
          <a:xfrm>
            <a:off x="475488" y="225856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19" name="Text 17"/>
          <p:cNvSpPr/>
          <p:nvPr/>
        </p:nvSpPr>
        <p:spPr>
          <a:xfrm>
            <a:off x="1042416" y="214884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Race Condition Fix</a:t>
            </a:r>
            <a:endParaRPr lang="en-US" sz="1200" dirty="0"/>
          </a:p>
        </p:txBody>
      </p:sp>
      <p:sp>
        <p:nvSpPr>
          <p:cNvPr id="20" name="Shape 18"/>
          <p:cNvSpPr/>
          <p:nvPr/>
        </p:nvSpPr>
        <p:spPr>
          <a:xfrm>
            <a:off x="3675888" y="2167128"/>
            <a:ext cx="676656" cy="201168"/>
          </a:xfrm>
          <a:prstGeom prst="roundRect">
            <a:avLst>
              <a:gd name="adj" fmla="val 18182"/>
            </a:avLst>
          </a:prstGeom>
          <a:solidFill>
            <a:srgbClr val="D4E6D8"/>
          </a:solidFill>
          <a:ln/>
        </p:spPr>
      </p:sp>
      <p:sp>
        <p:nvSpPr>
          <p:cNvPr id="21" name="Text 19"/>
          <p:cNvSpPr/>
          <p:nvPr/>
        </p:nvSpPr>
        <p:spPr>
          <a:xfrm>
            <a:off x="3675888" y="216712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Bug Fix</a:t>
            </a:r>
            <a:endParaRPr lang="en-US" sz="700" dirty="0"/>
          </a:p>
        </p:txBody>
      </p:sp>
      <p:sp>
        <p:nvSpPr>
          <p:cNvPr id="22" name="Text 20"/>
          <p:cNvSpPr/>
          <p:nvPr/>
        </p:nvSpPr>
        <p:spPr>
          <a:xfrm>
            <a:off x="1042416" y="2423160"/>
            <a:ext cx="3310128" cy="438912"/>
          </a:xfrm>
          <a:prstGeom prst="rect">
            <a:avLst/>
          </a:prstGeom>
          <a:noFill/>
          <a:ln/>
        </p:spPr>
        <p:txBody>
          <a:bodyPr wrap="square" lIns="0" tIns="0" rIns="0" bIns="0" rtlCol="0" anchor="ctr"/>
          <a:lstStyle/>
          <a:p>
            <a:pPr marL="0" indent="0">
              <a:buNone/>
            </a:pPr>
            <a:r>
              <a:rPr lang="en-US" sz="950" dirty="0">
                <a:solidFill>
                  <a:srgbClr val="6B6B60"/>
                </a:solidFill>
              </a:rPr>
              <a:t>Replace manual count-- with Firestore atomic increment(-1) to fix concurrent serve conflicts.</a:t>
            </a:r>
            <a:endParaRPr lang="en-US" sz="950" dirty="0"/>
          </a:p>
        </p:txBody>
      </p:sp>
      <p:sp>
        <p:nvSpPr>
          <p:cNvPr id="23" name="Shape 21"/>
          <p:cNvSpPr/>
          <p:nvPr/>
        </p:nvSpPr>
        <p:spPr>
          <a:xfrm>
            <a:off x="4754880" y="207568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24" name="Text 22"/>
          <p:cNvSpPr/>
          <p:nvPr/>
        </p:nvSpPr>
        <p:spPr>
          <a:xfrm>
            <a:off x="4864608" y="225856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25" name="Text 23"/>
          <p:cNvSpPr/>
          <p:nvPr/>
        </p:nvSpPr>
        <p:spPr>
          <a:xfrm>
            <a:off x="5431536" y="214884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Student Review Auth</a:t>
            </a:r>
            <a:endParaRPr lang="en-US" sz="1200" dirty="0"/>
          </a:p>
        </p:txBody>
      </p:sp>
      <p:sp>
        <p:nvSpPr>
          <p:cNvPr id="26" name="Shape 24"/>
          <p:cNvSpPr/>
          <p:nvPr/>
        </p:nvSpPr>
        <p:spPr>
          <a:xfrm>
            <a:off x="8065008" y="2167128"/>
            <a:ext cx="676656" cy="201168"/>
          </a:xfrm>
          <a:prstGeom prst="roundRect">
            <a:avLst>
              <a:gd name="adj" fmla="val 18182"/>
            </a:avLst>
          </a:prstGeom>
          <a:solidFill>
            <a:srgbClr val="D4E6D8"/>
          </a:solidFill>
          <a:ln/>
        </p:spPr>
      </p:sp>
      <p:sp>
        <p:nvSpPr>
          <p:cNvPr id="27" name="Text 25"/>
          <p:cNvSpPr/>
          <p:nvPr/>
        </p:nvSpPr>
        <p:spPr>
          <a:xfrm>
            <a:off x="8065008" y="216712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Security</a:t>
            </a:r>
            <a:endParaRPr lang="en-US" sz="700" dirty="0"/>
          </a:p>
        </p:txBody>
      </p:sp>
      <p:sp>
        <p:nvSpPr>
          <p:cNvPr id="28" name="Text 26"/>
          <p:cNvSpPr/>
          <p:nvPr/>
        </p:nvSpPr>
        <p:spPr>
          <a:xfrm>
            <a:off x="5431536" y="2423160"/>
            <a:ext cx="3310128" cy="438912"/>
          </a:xfrm>
          <a:prstGeom prst="rect">
            <a:avLst/>
          </a:prstGeom>
          <a:noFill/>
          <a:ln/>
        </p:spPr>
        <p:txBody>
          <a:bodyPr wrap="square" lIns="0" tIns="0" rIns="0" bIns="0" rtlCol="0" anchor="ctr"/>
          <a:lstStyle/>
          <a:p>
            <a:pPr marL="0" indent="0">
              <a:buNone/>
            </a:pPr>
            <a:r>
              <a:rPr lang="en-US" sz="950" dirty="0">
                <a:solidFill>
                  <a:srgbClr val="6B6B60"/>
                </a:solidFill>
              </a:rPr>
              <a:t>Require Student ID login before review submission to prevent spam and anonymous abuse.</a:t>
            </a:r>
            <a:endParaRPr lang="en-US" sz="950" dirty="0"/>
          </a:p>
        </p:txBody>
      </p:sp>
      <p:sp>
        <p:nvSpPr>
          <p:cNvPr id="29" name="Shape 27"/>
          <p:cNvSpPr/>
          <p:nvPr/>
        </p:nvSpPr>
        <p:spPr>
          <a:xfrm>
            <a:off x="365760" y="303580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30" name="Text 28"/>
          <p:cNvSpPr/>
          <p:nvPr/>
        </p:nvSpPr>
        <p:spPr>
          <a:xfrm>
            <a:off x="475488" y="321868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31" name="Text 29"/>
          <p:cNvSpPr/>
          <p:nvPr/>
        </p:nvSpPr>
        <p:spPr>
          <a:xfrm>
            <a:off x="1042416" y="310896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Analytics Dashboard</a:t>
            </a:r>
            <a:endParaRPr lang="en-US" sz="1200" dirty="0"/>
          </a:p>
        </p:txBody>
      </p:sp>
      <p:sp>
        <p:nvSpPr>
          <p:cNvPr id="32" name="Shape 30"/>
          <p:cNvSpPr/>
          <p:nvPr/>
        </p:nvSpPr>
        <p:spPr>
          <a:xfrm>
            <a:off x="3675888" y="3127248"/>
            <a:ext cx="676656" cy="201168"/>
          </a:xfrm>
          <a:prstGeom prst="roundRect">
            <a:avLst>
              <a:gd name="adj" fmla="val 18182"/>
            </a:avLst>
          </a:prstGeom>
          <a:solidFill>
            <a:srgbClr val="D4E6D8"/>
          </a:solidFill>
          <a:ln/>
        </p:spPr>
      </p:sp>
      <p:sp>
        <p:nvSpPr>
          <p:cNvPr id="33" name="Text 31"/>
          <p:cNvSpPr/>
          <p:nvPr/>
        </p:nvSpPr>
        <p:spPr>
          <a:xfrm>
            <a:off x="3675888" y="312724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Admin</a:t>
            </a:r>
            <a:endParaRPr lang="en-US" sz="700" dirty="0"/>
          </a:p>
        </p:txBody>
      </p:sp>
      <p:sp>
        <p:nvSpPr>
          <p:cNvPr id="34" name="Text 32"/>
          <p:cNvSpPr/>
          <p:nvPr/>
        </p:nvSpPr>
        <p:spPr>
          <a:xfrm>
            <a:off x="1042416" y="3383280"/>
            <a:ext cx="3310128" cy="438912"/>
          </a:xfrm>
          <a:prstGeom prst="rect">
            <a:avLst/>
          </a:prstGeom>
          <a:noFill/>
          <a:ln/>
        </p:spPr>
        <p:txBody>
          <a:bodyPr wrap="square" lIns="0" tIns="0" rIns="0" bIns="0" rtlCol="0" anchor="ctr"/>
          <a:lstStyle/>
          <a:p>
            <a:pPr marL="0" indent="0">
              <a:buNone/>
            </a:pPr>
            <a:r>
              <a:rPr lang="en-US" sz="950" dirty="0">
                <a:solidFill>
                  <a:srgbClr val="6B6B60"/>
                </a:solidFill>
              </a:rPr>
              <a:t>Track which food items get highest ratings and most reviews across all halls.</a:t>
            </a:r>
            <a:endParaRPr lang="en-US" sz="950" dirty="0"/>
          </a:p>
        </p:txBody>
      </p:sp>
      <p:sp>
        <p:nvSpPr>
          <p:cNvPr id="35" name="Shape 33"/>
          <p:cNvSpPr/>
          <p:nvPr/>
        </p:nvSpPr>
        <p:spPr>
          <a:xfrm>
            <a:off x="4754880" y="303580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36" name="Text 34"/>
          <p:cNvSpPr/>
          <p:nvPr/>
        </p:nvSpPr>
        <p:spPr>
          <a:xfrm>
            <a:off x="4864608" y="321868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37" name="Text 35"/>
          <p:cNvSpPr/>
          <p:nvPr/>
        </p:nvSpPr>
        <p:spPr>
          <a:xfrm>
            <a:off x="5431536" y="310896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Advance Menu Planning</a:t>
            </a:r>
            <a:endParaRPr lang="en-US" sz="1200" dirty="0"/>
          </a:p>
        </p:txBody>
      </p:sp>
      <p:sp>
        <p:nvSpPr>
          <p:cNvPr id="38" name="Shape 36"/>
          <p:cNvSpPr/>
          <p:nvPr/>
        </p:nvSpPr>
        <p:spPr>
          <a:xfrm>
            <a:off x="8065008" y="3127248"/>
            <a:ext cx="676656" cy="201168"/>
          </a:xfrm>
          <a:prstGeom prst="roundRect">
            <a:avLst>
              <a:gd name="adj" fmla="val 18182"/>
            </a:avLst>
          </a:prstGeom>
          <a:solidFill>
            <a:srgbClr val="D4E6D8"/>
          </a:solidFill>
          <a:ln/>
        </p:spPr>
      </p:sp>
      <p:sp>
        <p:nvSpPr>
          <p:cNvPr id="39" name="Text 37"/>
          <p:cNvSpPr/>
          <p:nvPr/>
        </p:nvSpPr>
        <p:spPr>
          <a:xfrm>
            <a:off x="8065008" y="312724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UX</a:t>
            </a:r>
            <a:endParaRPr lang="en-US" sz="700" dirty="0"/>
          </a:p>
        </p:txBody>
      </p:sp>
      <p:sp>
        <p:nvSpPr>
          <p:cNvPr id="40" name="Text 38"/>
          <p:cNvSpPr/>
          <p:nvPr/>
        </p:nvSpPr>
        <p:spPr>
          <a:xfrm>
            <a:off x="5431536" y="3383280"/>
            <a:ext cx="3310128" cy="438912"/>
          </a:xfrm>
          <a:prstGeom prst="rect">
            <a:avLst/>
          </a:prstGeom>
          <a:noFill/>
          <a:ln/>
        </p:spPr>
        <p:txBody>
          <a:bodyPr wrap="square" lIns="0" tIns="0" rIns="0" bIns="0" rtlCol="0" anchor="ctr"/>
          <a:lstStyle/>
          <a:p>
            <a:pPr marL="0" indent="0">
              <a:buNone/>
            </a:pPr>
            <a:r>
              <a:rPr lang="en-US" sz="950" dirty="0">
                <a:solidFill>
                  <a:srgbClr val="6B6B60"/>
                </a:solidFill>
              </a:rPr>
              <a:t>Allow moderators to set tomorrow's menu tonight — auto-visible at midnight Dhaka time.</a:t>
            </a:r>
            <a:endParaRPr lang="en-US" sz="950" dirty="0"/>
          </a:p>
        </p:txBody>
      </p:sp>
      <p:sp>
        <p:nvSpPr>
          <p:cNvPr id="41" name="Shape 39"/>
          <p:cNvSpPr/>
          <p:nvPr/>
        </p:nvSpPr>
        <p:spPr>
          <a:xfrm>
            <a:off x="365760" y="399592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42" name="Text 40"/>
          <p:cNvSpPr/>
          <p:nvPr/>
        </p:nvSpPr>
        <p:spPr>
          <a:xfrm>
            <a:off x="475488" y="417880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43" name="Text 41"/>
          <p:cNvSpPr/>
          <p:nvPr/>
        </p:nvSpPr>
        <p:spPr>
          <a:xfrm>
            <a:off x="1042416" y="406908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Pagination for Reviews</a:t>
            </a:r>
            <a:endParaRPr lang="en-US" sz="1200" dirty="0"/>
          </a:p>
        </p:txBody>
      </p:sp>
      <p:sp>
        <p:nvSpPr>
          <p:cNvPr id="44" name="Shape 42"/>
          <p:cNvSpPr/>
          <p:nvPr/>
        </p:nvSpPr>
        <p:spPr>
          <a:xfrm>
            <a:off x="3675888" y="4087368"/>
            <a:ext cx="676656" cy="201168"/>
          </a:xfrm>
          <a:prstGeom prst="roundRect">
            <a:avLst>
              <a:gd name="adj" fmla="val 18182"/>
            </a:avLst>
          </a:prstGeom>
          <a:solidFill>
            <a:srgbClr val="D4E6D8"/>
          </a:solidFill>
          <a:ln/>
        </p:spPr>
      </p:sp>
      <p:sp>
        <p:nvSpPr>
          <p:cNvPr id="45" name="Text 43"/>
          <p:cNvSpPr/>
          <p:nvPr/>
        </p:nvSpPr>
        <p:spPr>
          <a:xfrm>
            <a:off x="3675888" y="408736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Performance</a:t>
            </a:r>
            <a:endParaRPr lang="en-US" sz="700" dirty="0"/>
          </a:p>
        </p:txBody>
      </p:sp>
      <p:sp>
        <p:nvSpPr>
          <p:cNvPr id="46" name="Text 44"/>
          <p:cNvSpPr/>
          <p:nvPr/>
        </p:nvSpPr>
        <p:spPr>
          <a:xfrm>
            <a:off x="1042416" y="4343400"/>
            <a:ext cx="3310128" cy="438912"/>
          </a:xfrm>
          <a:prstGeom prst="rect">
            <a:avLst/>
          </a:prstGeom>
          <a:noFill/>
          <a:ln/>
        </p:spPr>
        <p:txBody>
          <a:bodyPr wrap="square" lIns="0" tIns="0" rIns="0" bIns="0" rtlCol="0" anchor="ctr"/>
          <a:lstStyle/>
          <a:p>
            <a:pPr marL="0" indent="0">
              <a:buNone/>
            </a:pPr>
            <a:r>
              <a:rPr lang="en-US" sz="950" dirty="0">
                <a:solidFill>
                  <a:srgbClr val="6B6B60"/>
                </a:solidFill>
              </a:rPr>
              <a:t>Add cursor-based pagination to foodReviews to avoid loading all reviews at once.</a:t>
            </a:r>
            <a:endParaRPr lang="en-US" sz="950" dirty="0"/>
          </a:p>
        </p:txBody>
      </p:sp>
      <p:sp>
        <p:nvSpPr>
          <p:cNvPr id="47" name="Shape 45"/>
          <p:cNvSpPr/>
          <p:nvPr/>
        </p:nvSpPr>
        <p:spPr>
          <a:xfrm>
            <a:off x="4754880" y="399592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48" name="Text 46"/>
          <p:cNvSpPr/>
          <p:nvPr/>
        </p:nvSpPr>
        <p:spPr>
          <a:xfrm>
            <a:off x="4864608" y="4178808"/>
            <a:ext cx="475488" cy="475488"/>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49" name="Text 47"/>
          <p:cNvSpPr/>
          <p:nvPr/>
        </p:nvSpPr>
        <p:spPr>
          <a:xfrm>
            <a:off x="5431536" y="406908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Admin Panel</a:t>
            </a:r>
            <a:endParaRPr lang="en-US" sz="1200" dirty="0"/>
          </a:p>
        </p:txBody>
      </p:sp>
      <p:sp>
        <p:nvSpPr>
          <p:cNvPr id="50" name="Shape 48"/>
          <p:cNvSpPr/>
          <p:nvPr/>
        </p:nvSpPr>
        <p:spPr>
          <a:xfrm>
            <a:off x="8065008" y="4087368"/>
            <a:ext cx="676656" cy="201168"/>
          </a:xfrm>
          <a:prstGeom prst="roundRect">
            <a:avLst>
              <a:gd name="adj" fmla="val 18182"/>
            </a:avLst>
          </a:prstGeom>
          <a:solidFill>
            <a:srgbClr val="D4E6D8"/>
          </a:solidFill>
          <a:ln/>
        </p:spPr>
      </p:sp>
      <p:sp>
        <p:nvSpPr>
          <p:cNvPr id="51" name="Text 49"/>
          <p:cNvSpPr/>
          <p:nvPr/>
        </p:nvSpPr>
        <p:spPr>
          <a:xfrm>
            <a:off x="8065008" y="4087368"/>
            <a:ext cx="676656" cy="201168"/>
          </a:xfrm>
          <a:prstGeom prst="rect">
            <a:avLst/>
          </a:prstGeom>
          <a:noFill/>
          <a:ln/>
        </p:spPr>
        <p:txBody>
          <a:bodyPr wrap="square" lIns="0" tIns="0" rIns="0" bIns="0" rtlCol="0" anchor="ctr"/>
          <a:lstStyle/>
          <a:p>
            <a:pPr marL="0" indent="0" algn="ctr">
              <a:buNone/>
            </a:pPr>
            <a:r>
              <a:rPr lang="en-US" sz="700" dirty="0">
                <a:solidFill>
                  <a:srgbClr val="2D5A3D"/>
                </a:solidFill>
              </a:rPr>
              <a:t>Feature</a:t>
            </a:r>
            <a:endParaRPr lang="en-US" sz="700" dirty="0"/>
          </a:p>
        </p:txBody>
      </p:sp>
      <p:sp>
        <p:nvSpPr>
          <p:cNvPr id="52" name="Text 50"/>
          <p:cNvSpPr/>
          <p:nvPr/>
        </p:nvSpPr>
        <p:spPr>
          <a:xfrm>
            <a:off x="5431536" y="4343400"/>
            <a:ext cx="3310128" cy="438912"/>
          </a:xfrm>
          <a:prstGeom prst="rect">
            <a:avLst/>
          </a:prstGeom>
          <a:noFill/>
          <a:ln/>
        </p:spPr>
        <p:txBody>
          <a:bodyPr wrap="square" lIns="0" tIns="0" rIns="0" bIns="0" rtlCol="0" anchor="ctr"/>
          <a:lstStyle/>
          <a:p>
            <a:pPr marL="0" indent="0">
              <a:buNone/>
            </a:pPr>
            <a:r>
              <a:rPr lang="en-US" sz="950" dirty="0">
                <a:solidFill>
                  <a:srgbClr val="6B6B60"/>
                </a:solidFill>
              </a:rPr>
              <a:t>Central admin dashboard to monitor all 17 halls, manage moderator accounts, and view app-wide stats.</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5">
    <p:bg>
      <p:bgPr>
        <a:solidFill>
          <a:srgbClr val="2D5A3D"/>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256032"/>
          </a:xfrm>
          <a:prstGeom prst="rect">
            <a:avLst/>
          </a:prstGeom>
          <a:noFill/>
          <a:ln/>
        </p:spPr>
        <p:txBody>
          <a:bodyPr wrap="square" lIns="0" tIns="0" rIns="0" bIns="0" rtlCol="0" anchor="ctr"/>
          <a:lstStyle/>
          <a:p>
            <a:pPr marL="0" indent="0">
              <a:buNone/>
            </a:pPr>
            <a:r>
              <a:rPr lang="en-US" sz="1000" dirty="0">
                <a:solidFill>
                  <a:srgbClr val="A8D5B5"/>
                </a:solidFill>
              </a:rPr>
              <a:t>11 · Conclusion</a:t>
            </a:r>
            <a:endParaRPr lang="en-US" sz="1000" dirty="0"/>
          </a:p>
        </p:txBody>
      </p:sp>
      <p:sp>
        <p:nvSpPr>
          <p:cNvPr id="3" name="Text 1"/>
          <p:cNvSpPr/>
          <p:nvPr/>
        </p:nvSpPr>
        <p:spPr>
          <a:xfrm>
            <a:off x="457200" y="475488"/>
            <a:ext cx="8229600" cy="73152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HallMenu RU</a:t>
            </a:r>
            <a:endParaRPr lang="en-US" sz="4200" dirty="0"/>
          </a:p>
        </p:txBody>
      </p:sp>
      <p:sp>
        <p:nvSpPr>
          <p:cNvPr id="4" name="Text 2"/>
          <p:cNvSpPr/>
          <p:nvPr/>
        </p:nvSpPr>
        <p:spPr>
          <a:xfrm>
            <a:off x="457200" y="1170432"/>
            <a:ext cx="8229600" cy="347472"/>
          </a:xfrm>
          <a:prstGeom prst="rect">
            <a:avLst/>
          </a:prstGeom>
          <a:noFill/>
          <a:ln/>
        </p:spPr>
        <p:txBody>
          <a:bodyPr wrap="square" lIns="0" tIns="0" rIns="0" bIns="0" rtlCol="0" anchor="ctr"/>
          <a:lstStyle/>
          <a:p>
            <a:pPr marL="0" indent="0">
              <a:buNone/>
            </a:pPr>
            <a:r>
              <a:rPr lang="en-US" sz="1600" i="1" dirty="0">
                <a:solidFill>
                  <a:srgbClr val="A8D5B5"/>
                </a:solidFill>
              </a:rPr>
              <a:t>A real-world solution to a real-world problem at Rajshahi University</a:t>
            </a:r>
            <a:endParaRPr lang="en-US" sz="1600" dirty="0"/>
          </a:p>
        </p:txBody>
      </p:sp>
      <p:sp>
        <p:nvSpPr>
          <p:cNvPr id="5" name="Shape 3"/>
          <p:cNvSpPr/>
          <p:nvPr/>
        </p:nvSpPr>
        <p:spPr>
          <a:xfrm>
            <a:off x="457200" y="1691640"/>
            <a:ext cx="1828800" cy="1005840"/>
          </a:xfrm>
          <a:prstGeom prst="roundRect">
            <a:avLst>
              <a:gd name="adj" fmla="val 9091"/>
            </a:avLst>
          </a:prstGeom>
          <a:solidFill>
            <a:srgbClr val="1B4332"/>
          </a:solidFill>
          <a:ln/>
          <a:effectLst>
            <a:outerShdw blurRad="76200" dist="25400" dir="2700000" algn="bl" rotWithShape="0">
              <a:srgbClr val="000000">
                <a:alpha val="10000"/>
              </a:srgbClr>
            </a:outerShdw>
          </a:effectLst>
        </p:spPr>
      </p:sp>
      <p:sp>
        <p:nvSpPr>
          <p:cNvPr id="6" name="Text 4"/>
          <p:cNvSpPr/>
          <p:nvPr/>
        </p:nvSpPr>
        <p:spPr>
          <a:xfrm>
            <a:off x="457200" y="1719072"/>
            <a:ext cx="1828800" cy="640080"/>
          </a:xfrm>
          <a:prstGeom prst="rect">
            <a:avLst/>
          </a:prstGeom>
          <a:noFill/>
          <a:ln/>
        </p:spPr>
        <p:txBody>
          <a:bodyPr wrap="square" lIns="0" tIns="0" rIns="0" bIns="0" rtlCol="0" anchor="ctr"/>
          <a:lstStyle/>
          <a:p>
            <a:pPr marL="0" indent="0" algn="ctr">
              <a:buNone/>
            </a:pPr>
            <a:r>
              <a:rPr lang="en-US" sz="4400" b="1" dirty="0">
                <a:solidFill>
                  <a:srgbClr val="FFFFFF"/>
                </a:solidFill>
              </a:rPr>
              <a:t>17</a:t>
            </a:r>
            <a:endParaRPr lang="en-US" sz="4400" dirty="0"/>
          </a:p>
        </p:txBody>
      </p:sp>
      <p:sp>
        <p:nvSpPr>
          <p:cNvPr id="7" name="Text 5"/>
          <p:cNvSpPr/>
          <p:nvPr/>
        </p:nvSpPr>
        <p:spPr>
          <a:xfrm>
            <a:off x="457200" y="2331720"/>
            <a:ext cx="1828800" cy="320040"/>
          </a:xfrm>
          <a:prstGeom prst="rect">
            <a:avLst/>
          </a:prstGeom>
          <a:noFill/>
          <a:ln/>
        </p:spPr>
        <p:txBody>
          <a:bodyPr wrap="square" lIns="0" tIns="0" rIns="0" bIns="0" rtlCol="0" anchor="ctr"/>
          <a:lstStyle/>
          <a:p>
            <a:pPr marL="0" indent="0" algn="ctr">
              <a:buNone/>
            </a:pPr>
            <a:r>
              <a:rPr lang="en-US" sz="1000" dirty="0">
                <a:solidFill>
                  <a:srgbClr val="A8D5B5"/>
                </a:solidFill>
              </a:rPr>
              <a:t>Residential Halls</a:t>
            </a:r>
            <a:endParaRPr lang="en-US" sz="1000" dirty="0"/>
          </a:p>
        </p:txBody>
      </p:sp>
      <p:sp>
        <p:nvSpPr>
          <p:cNvPr id="8" name="Shape 6"/>
          <p:cNvSpPr/>
          <p:nvPr/>
        </p:nvSpPr>
        <p:spPr>
          <a:xfrm>
            <a:off x="2514600" y="1691640"/>
            <a:ext cx="1828800" cy="1005840"/>
          </a:xfrm>
          <a:prstGeom prst="roundRect">
            <a:avLst>
              <a:gd name="adj" fmla="val 9091"/>
            </a:avLst>
          </a:prstGeom>
          <a:solidFill>
            <a:srgbClr val="1B4332"/>
          </a:solidFill>
          <a:ln/>
          <a:effectLst>
            <a:outerShdw blurRad="76200" dist="25400" dir="2700000" algn="bl" rotWithShape="0">
              <a:srgbClr val="000000">
                <a:alpha val="10000"/>
              </a:srgbClr>
            </a:outerShdw>
          </a:effectLst>
        </p:spPr>
      </p:sp>
      <p:sp>
        <p:nvSpPr>
          <p:cNvPr id="9" name="Text 7"/>
          <p:cNvSpPr/>
          <p:nvPr/>
        </p:nvSpPr>
        <p:spPr>
          <a:xfrm>
            <a:off x="2514600" y="1719072"/>
            <a:ext cx="1828800" cy="640080"/>
          </a:xfrm>
          <a:prstGeom prst="rect">
            <a:avLst/>
          </a:prstGeom>
          <a:noFill/>
          <a:ln/>
        </p:spPr>
        <p:txBody>
          <a:bodyPr wrap="square" lIns="0" tIns="0" rIns="0" bIns="0" rtlCol="0" anchor="ctr"/>
          <a:lstStyle/>
          <a:p>
            <a:pPr marL="0" indent="0" algn="ctr">
              <a:buNone/>
            </a:pPr>
            <a:r>
              <a:rPr lang="en-US" sz="4400" b="1" dirty="0">
                <a:solidFill>
                  <a:srgbClr val="FFFFFF"/>
                </a:solidFill>
              </a:rPr>
              <a:t>23</a:t>
            </a:r>
            <a:endParaRPr lang="en-US" sz="4400" dirty="0"/>
          </a:p>
        </p:txBody>
      </p:sp>
      <p:sp>
        <p:nvSpPr>
          <p:cNvPr id="10" name="Text 8"/>
          <p:cNvSpPr/>
          <p:nvPr/>
        </p:nvSpPr>
        <p:spPr>
          <a:xfrm>
            <a:off x="2514600" y="2331720"/>
            <a:ext cx="1828800" cy="320040"/>
          </a:xfrm>
          <a:prstGeom prst="rect">
            <a:avLst/>
          </a:prstGeom>
          <a:noFill/>
          <a:ln/>
        </p:spPr>
        <p:txBody>
          <a:bodyPr wrap="square" lIns="0" tIns="0" rIns="0" bIns="0" rtlCol="0" anchor="ctr"/>
          <a:lstStyle/>
          <a:p>
            <a:pPr marL="0" indent="0" algn="ctr">
              <a:buNone/>
            </a:pPr>
            <a:r>
              <a:rPr lang="en-US" sz="1000" dirty="0">
                <a:solidFill>
                  <a:srgbClr val="A8D5B5"/>
                </a:solidFill>
              </a:rPr>
              <a:t>App Screens</a:t>
            </a:r>
            <a:endParaRPr lang="en-US" sz="1000" dirty="0"/>
          </a:p>
        </p:txBody>
      </p:sp>
      <p:sp>
        <p:nvSpPr>
          <p:cNvPr id="11" name="Shape 9"/>
          <p:cNvSpPr/>
          <p:nvPr/>
        </p:nvSpPr>
        <p:spPr>
          <a:xfrm>
            <a:off x="4572000" y="1691640"/>
            <a:ext cx="1828800" cy="1005840"/>
          </a:xfrm>
          <a:prstGeom prst="roundRect">
            <a:avLst>
              <a:gd name="adj" fmla="val 9091"/>
            </a:avLst>
          </a:prstGeom>
          <a:solidFill>
            <a:srgbClr val="1B4332"/>
          </a:solidFill>
          <a:ln/>
          <a:effectLst>
            <a:outerShdw blurRad="76200" dist="25400" dir="2700000" algn="bl" rotWithShape="0">
              <a:srgbClr val="000000">
                <a:alpha val="10000"/>
              </a:srgbClr>
            </a:outerShdw>
          </a:effectLst>
        </p:spPr>
      </p:sp>
      <p:sp>
        <p:nvSpPr>
          <p:cNvPr id="12" name="Text 10"/>
          <p:cNvSpPr/>
          <p:nvPr/>
        </p:nvSpPr>
        <p:spPr>
          <a:xfrm>
            <a:off x="4572000" y="1719072"/>
            <a:ext cx="1828800" cy="640080"/>
          </a:xfrm>
          <a:prstGeom prst="rect">
            <a:avLst/>
          </a:prstGeom>
          <a:noFill/>
          <a:ln/>
        </p:spPr>
        <p:txBody>
          <a:bodyPr wrap="square" lIns="0" tIns="0" rIns="0" bIns="0" rtlCol="0" anchor="ctr"/>
          <a:lstStyle/>
          <a:p>
            <a:pPr marL="0" indent="0" algn="ctr">
              <a:buNone/>
            </a:pPr>
            <a:r>
              <a:rPr lang="en-US" sz="4400" b="1" dirty="0">
                <a:solidFill>
                  <a:srgbClr val="FFFFFF"/>
                </a:solidFill>
              </a:rPr>
              <a:t>6</a:t>
            </a:r>
            <a:endParaRPr lang="en-US" sz="4400" dirty="0"/>
          </a:p>
        </p:txBody>
      </p:sp>
      <p:sp>
        <p:nvSpPr>
          <p:cNvPr id="13" name="Text 11"/>
          <p:cNvSpPr/>
          <p:nvPr/>
        </p:nvSpPr>
        <p:spPr>
          <a:xfrm>
            <a:off x="4572000" y="2331720"/>
            <a:ext cx="1828800" cy="320040"/>
          </a:xfrm>
          <a:prstGeom prst="rect">
            <a:avLst/>
          </a:prstGeom>
          <a:noFill/>
          <a:ln/>
        </p:spPr>
        <p:txBody>
          <a:bodyPr wrap="square" lIns="0" tIns="0" rIns="0" bIns="0" rtlCol="0" anchor="ctr"/>
          <a:lstStyle/>
          <a:p>
            <a:pPr marL="0" indent="0" algn="ctr">
              <a:buNone/>
            </a:pPr>
            <a:r>
              <a:rPr lang="en-US" sz="1000" dirty="0">
                <a:solidFill>
                  <a:srgbClr val="A8D5B5"/>
                </a:solidFill>
              </a:rPr>
              <a:t>Firestore Collections</a:t>
            </a:r>
            <a:endParaRPr lang="en-US" sz="1000" dirty="0"/>
          </a:p>
        </p:txBody>
      </p:sp>
      <p:sp>
        <p:nvSpPr>
          <p:cNvPr id="14" name="Shape 12"/>
          <p:cNvSpPr/>
          <p:nvPr/>
        </p:nvSpPr>
        <p:spPr>
          <a:xfrm>
            <a:off x="6629400" y="1691640"/>
            <a:ext cx="1828800" cy="1005840"/>
          </a:xfrm>
          <a:prstGeom prst="roundRect">
            <a:avLst>
              <a:gd name="adj" fmla="val 9091"/>
            </a:avLst>
          </a:prstGeom>
          <a:solidFill>
            <a:srgbClr val="1B4332"/>
          </a:solidFill>
          <a:ln/>
          <a:effectLst>
            <a:outerShdw blurRad="76200" dist="25400" dir="2700000" algn="bl" rotWithShape="0">
              <a:srgbClr val="000000">
                <a:alpha val="10000"/>
              </a:srgbClr>
            </a:outerShdw>
          </a:effectLst>
        </p:spPr>
      </p:sp>
      <p:sp>
        <p:nvSpPr>
          <p:cNvPr id="15" name="Text 13"/>
          <p:cNvSpPr/>
          <p:nvPr/>
        </p:nvSpPr>
        <p:spPr>
          <a:xfrm>
            <a:off x="6629400" y="1719072"/>
            <a:ext cx="1828800" cy="640080"/>
          </a:xfrm>
          <a:prstGeom prst="rect">
            <a:avLst/>
          </a:prstGeom>
          <a:noFill/>
          <a:ln/>
        </p:spPr>
        <p:txBody>
          <a:bodyPr wrap="square" lIns="0" tIns="0" rIns="0" bIns="0" rtlCol="0" anchor="ctr"/>
          <a:lstStyle/>
          <a:p>
            <a:pPr marL="0" indent="0" algn="ctr">
              <a:buNone/>
            </a:pPr>
            <a:r>
              <a:rPr lang="en-US" sz="4400" b="1" dirty="0">
                <a:solidFill>
                  <a:srgbClr val="FFFFFF"/>
                </a:solidFill>
              </a:rPr>
              <a:t>2</a:t>
            </a:r>
            <a:endParaRPr lang="en-US" sz="4400" dirty="0"/>
          </a:p>
        </p:txBody>
      </p:sp>
      <p:sp>
        <p:nvSpPr>
          <p:cNvPr id="16" name="Text 14"/>
          <p:cNvSpPr/>
          <p:nvPr/>
        </p:nvSpPr>
        <p:spPr>
          <a:xfrm>
            <a:off x="6629400" y="2331720"/>
            <a:ext cx="1828800" cy="320040"/>
          </a:xfrm>
          <a:prstGeom prst="rect">
            <a:avLst/>
          </a:prstGeom>
          <a:noFill/>
          <a:ln/>
        </p:spPr>
        <p:txBody>
          <a:bodyPr wrap="square" lIns="0" tIns="0" rIns="0" bIns="0" rtlCol="0" anchor="ctr"/>
          <a:lstStyle/>
          <a:p>
            <a:pPr marL="0" indent="0" algn="ctr">
              <a:buNone/>
            </a:pPr>
            <a:r>
              <a:rPr lang="en-US" sz="1000" dirty="0">
                <a:solidFill>
                  <a:srgbClr val="A8D5B5"/>
                </a:solidFill>
              </a:rPr>
              <a:t>User Roles</a:t>
            </a:r>
            <a:endParaRPr lang="en-US" sz="1000" dirty="0"/>
          </a:p>
        </p:txBody>
      </p:sp>
      <p:sp>
        <p:nvSpPr>
          <p:cNvPr id="17" name="Text 15"/>
          <p:cNvSpPr/>
          <p:nvPr/>
        </p:nvSpPr>
        <p:spPr>
          <a:xfrm>
            <a:off x="457200" y="2944368"/>
            <a:ext cx="8229600" cy="274320"/>
          </a:xfrm>
          <a:prstGeom prst="rect">
            <a:avLst/>
          </a:prstGeom>
          <a:noFill/>
          <a:ln/>
        </p:spPr>
        <p:txBody>
          <a:bodyPr wrap="square" lIns="0" tIns="0" rIns="0" bIns="0" rtlCol="0" anchor="ctr"/>
          <a:lstStyle/>
          <a:p>
            <a:pPr marL="0" indent="0">
              <a:buNone/>
            </a:pPr>
            <a:r>
              <a:rPr lang="en-US" sz="1100" dirty="0">
                <a:solidFill>
                  <a:srgbClr val="C8E6C9"/>
                </a:solidFill>
              </a:rPr>
              <a:t>✓  React Native + Expo → single codebase for Android and iOS</a:t>
            </a:r>
            <a:endParaRPr lang="en-US" sz="1100" dirty="0"/>
          </a:p>
        </p:txBody>
      </p:sp>
      <p:sp>
        <p:nvSpPr>
          <p:cNvPr id="18" name="Text 16"/>
          <p:cNvSpPr/>
          <p:nvPr/>
        </p:nvSpPr>
        <p:spPr>
          <a:xfrm>
            <a:off x="457200" y="3236976"/>
            <a:ext cx="8229600" cy="274320"/>
          </a:xfrm>
          <a:prstGeom prst="rect">
            <a:avLst/>
          </a:prstGeom>
          <a:noFill/>
          <a:ln/>
        </p:spPr>
        <p:txBody>
          <a:bodyPr wrap="square" lIns="0" tIns="0" rIns="0" bIns="0" rtlCol="0" anchor="ctr"/>
          <a:lstStyle/>
          <a:p>
            <a:pPr marL="0" indent="0">
              <a:buNone/>
            </a:pPr>
            <a:r>
              <a:rPr lang="en-US" sz="1100" dirty="0">
                <a:solidFill>
                  <a:srgbClr val="C8E6C9"/>
                </a:solidFill>
              </a:rPr>
              <a:t>✓  Firebase BaaS → no custom server, real-time sync built-in</a:t>
            </a:r>
            <a:endParaRPr lang="en-US" sz="1100" dirty="0"/>
          </a:p>
        </p:txBody>
      </p:sp>
      <p:sp>
        <p:nvSpPr>
          <p:cNvPr id="19" name="Text 17"/>
          <p:cNvSpPr/>
          <p:nvPr/>
        </p:nvSpPr>
        <p:spPr>
          <a:xfrm>
            <a:off x="457200" y="3529584"/>
            <a:ext cx="8229600" cy="274320"/>
          </a:xfrm>
          <a:prstGeom prst="rect">
            <a:avLst/>
          </a:prstGeom>
          <a:noFill/>
          <a:ln/>
        </p:spPr>
        <p:txBody>
          <a:bodyPr wrap="square" lIns="0" tIns="0" rIns="0" bIns="0" rtlCol="0" anchor="ctr"/>
          <a:lstStyle/>
          <a:p>
            <a:pPr marL="0" indent="0">
              <a:buNone/>
            </a:pPr>
            <a:r>
              <a:rPr lang="en-US" sz="1100" dirty="0">
                <a:solidFill>
                  <a:srgbClr val="C8E6C9"/>
                </a:solidFill>
              </a:rPr>
              <a:t>✓  Repository Pattern → clean separation; all Firebase calls in one file</a:t>
            </a:r>
            <a:endParaRPr lang="en-US" sz="1100" dirty="0"/>
          </a:p>
        </p:txBody>
      </p:sp>
      <p:sp>
        <p:nvSpPr>
          <p:cNvPr id="20" name="Text 18"/>
          <p:cNvSpPr/>
          <p:nvPr/>
        </p:nvSpPr>
        <p:spPr>
          <a:xfrm>
            <a:off x="457200" y="3822192"/>
            <a:ext cx="8229600" cy="274320"/>
          </a:xfrm>
          <a:prstGeom prst="rect">
            <a:avLst/>
          </a:prstGeom>
          <a:noFill/>
          <a:ln/>
        </p:spPr>
        <p:txBody>
          <a:bodyPr wrap="square" lIns="0" tIns="0" rIns="0" bIns="0" rtlCol="0" anchor="ctr"/>
          <a:lstStyle/>
          <a:p>
            <a:pPr marL="0" indent="0">
              <a:buNone/>
            </a:pPr>
            <a:r>
              <a:rPr lang="en-US" sz="1100" dirty="0">
                <a:solidFill>
                  <a:srgbClr val="C8E6C9"/>
                </a:solidFill>
              </a:rPr>
              <a:t>✓  Timezone-correct date key → Asia/Dhaka locale prevents midnight menu bug</a:t>
            </a:r>
            <a:endParaRPr lang="en-US" sz="1100" dirty="0"/>
          </a:p>
        </p:txBody>
      </p:sp>
      <p:sp>
        <p:nvSpPr>
          <p:cNvPr id="21" name="Text 19"/>
          <p:cNvSpPr/>
          <p:nvPr/>
        </p:nvSpPr>
        <p:spPr>
          <a:xfrm>
            <a:off x="457200" y="4114800"/>
            <a:ext cx="8229600" cy="274320"/>
          </a:xfrm>
          <a:prstGeom prst="rect">
            <a:avLst/>
          </a:prstGeom>
          <a:noFill/>
          <a:ln/>
        </p:spPr>
        <p:txBody>
          <a:bodyPr wrap="square" lIns="0" tIns="0" rIns="0" bIns="0" rtlCol="0" anchor="ctr"/>
          <a:lstStyle/>
          <a:p>
            <a:pPr marL="0" indent="0">
              <a:buNone/>
            </a:pPr>
            <a:r>
              <a:rPr lang="en-US" sz="1100" dirty="0">
                <a:solidFill>
                  <a:srgbClr val="C8E6C9"/>
                </a:solidFill>
              </a:rPr>
              <a:t>✓  Live serve count → auto status transitions at count ≤ 10 and = 0</a:t>
            </a:r>
            <a:endParaRPr lang="en-US" sz="1100" dirty="0"/>
          </a:p>
        </p:txBody>
      </p:sp>
      <p:sp>
        <p:nvSpPr>
          <p:cNvPr id="22" name="Text 20"/>
          <p:cNvSpPr/>
          <p:nvPr/>
        </p:nvSpPr>
        <p:spPr>
          <a:xfrm>
            <a:off x="457200" y="4407408"/>
            <a:ext cx="8229600" cy="274320"/>
          </a:xfrm>
          <a:prstGeom prst="rect">
            <a:avLst/>
          </a:prstGeom>
          <a:noFill/>
          <a:ln/>
        </p:spPr>
        <p:txBody>
          <a:bodyPr wrap="square" lIns="0" tIns="0" rIns="0" bIns="0" rtlCol="0" anchor="ctr"/>
          <a:lstStyle/>
          <a:p>
            <a:pPr marL="0" indent="0">
              <a:buNone/>
            </a:pPr>
            <a:r>
              <a:rPr lang="en-US" sz="1100" dirty="0">
                <a:solidFill>
                  <a:srgbClr val="C8E6C9"/>
                </a:solidFill>
              </a:rPr>
              <a:t>✓  Notice expiry → calculated at read time, no scheduled jobs needed</a:t>
            </a:r>
            <a:endParaRPr lang="en-US" sz="1100" dirty="0"/>
          </a:p>
        </p:txBody>
      </p:sp>
      <p:sp>
        <p:nvSpPr>
          <p:cNvPr id="23" name="Text 21"/>
          <p:cNvSpPr/>
          <p:nvPr/>
        </p:nvSpPr>
        <p:spPr>
          <a:xfrm>
            <a:off x="457200" y="4736592"/>
            <a:ext cx="8229600" cy="329184"/>
          </a:xfrm>
          <a:prstGeom prst="rect">
            <a:avLst/>
          </a:prstGeom>
          <a:noFill/>
          <a:ln/>
        </p:spPr>
        <p:txBody>
          <a:bodyPr wrap="square" lIns="0" tIns="0" rIns="0" bIns="0" rtlCol="0" anchor="ctr"/>
          <a:lstStyle/>
          <a:p>
            <a:pPr marL="0" indent="0" algn="ctr">
              <a:buNone/>
            </a:pPr>
            <a:r>
              <a:rPr lang="en-US" sz="1600" b="1" dirty="0">
                <a:solidFill>
                  <a:srgbClr val="FFFFFF"/>
                </a:solidFill>
              </a:rPr>
              <a:t>Thank You — Questions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9169</Words>
  <Application>Microsoft Macintosh PowerPoint</Application>
  <PresentationFormat>On-screen Show (16:9)</PresentationFormat>
  <Paragraphs>1132</Paragraphs>
  <Slides>40</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HallMenu RU — Project Presentation</dc:title>
  <dc:subject>PptxGenJS Presentation</dc:subject>
  <dc:creator>PptxGenJS</dc:creator>
  <cp:lastModifiedBy>Maisha</cp:lastModifiedBy>
  <cp:revision>3</cp:revision>
  <dcterms:created xsi:type="dcterms:W3CDTF">2026-06-27T13:27:11Z</dcterms:created>
  <dcterms:modified xsi:type="dcterms:W3CDTF">2026-07-07T17:57:26Z</dcterms:modified>
</cp:coreProperties>
</file>