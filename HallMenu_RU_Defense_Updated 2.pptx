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92" r:id="rId5"/>
    <p:sldId id="259" r:id="rId6"/>
    <p:sldId id="260" r:id="rId7"/>
    <p:sldId id="261" r:id="rId8"/>
    <p:sldId id="275" r:id="rId9"/>
    <p:sldId id="262" r:id="rId10"/>
    <p:sldId id="263" r:id="rId11"/>
    <p:sldId id="264" r:id="rId12"/>
    <p:sldId id="265" r:id="rId13"/>
    <p:sldId id="266" r:id="rId14"/>
    <p:sldId id="267" r:id="rId15"/>
    <p:sldId id="276" r:id="rId16"/>
    <p:sldId id="296" r:id="rId17"/>
    <p:sldId id="277" r:id="rId18"/>
    <p:sldId id="286" r:id="rId19"/>
    <p:sldId id="288" r:id="rId20"/>
    <p:sldId id="290" r:id="rId21"/>
    <p:sldId id="274"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092"/>
    <p:restoredTop sz="94610"/>
  </p:normalViewPr>
  <p:slideViewPr>
    <p:cSldViewPr snapToGrid="0" snapToObjects="1">
      <p:cViewPr varScale="1">
        <p:scale>
          <a:sx n="126" d="100"/>
          <a:sy n="126" d="100"/>
        </p:scale>
        <p:origin x="216" y="7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57164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This is HallMenu RU — a cross-platform mobile app for Rajshahi University's 17 residential halls.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Rajshahi University has 17 halls with thousands of students. Before this app, there was no digital menu system.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Firebase BaaS means no custom server needed. The Repository Pattern keeps all data access in one file.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ten major features. The most technically interesting ones are: the live serve count with automatic status transitions, the notice expiry system that filters at read time, the timezone fix using Asia Dhaka locale, and the onSnapshot real-time listener used for food reviews.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7EFAEE-F847-D8A6-2574-99AD41A20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681151-FDDA-7AE8-D068-5FC21C800B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DBED44-60B4-C26C-05B0-EAFC2098D882}"/>
              </a:ext>
            </a:extLst>
          </p:cNvPr>
          <p:cNvSpPr>
            <a:spLocks noGrp="1"/>
          </p:cNvSpPr>
          <p:nvPr>
            <p:ph type="body" idx="1"/>
          </p:nvPr>
        </p:nvSpPr>
        <p:spPr/>
        <p:txBody>
          <a:bodyPr/>
          <a:lstStyle/>
          <a:p>
            <a:r>
              <a:rPr lang="en-US" dirty="0"/>
              <a:t>Firestore has 6 collections. The menus collection is the most critical — its document ID is hallId underscore dateKey, giving O(1) lookup. Each document contains both dining and canteen data for that day. The foodReviews collection requires a composite index in the Firebase console because it uses multiple where clauses and an orderBy. All other lookups are simple single-document or single-where reads.</a:t>
            </a:r>
          </a:p>
        </p:txBody>
      </p:sp>
      <p:sp>
        <p:nvSpPr>
          <p:cNvPr id="4" name="Slide Number Placeholder 3">
            <a:extLst>
              <a:ext uri="{FF2B5EF4-FFF2-40B4-BE49-F238E27FC236}">
                <a16:creationId xmlns:a16="http://schemas.microsoft.com/office/drawing/2014/main" id="{6548D98E-36A8-2FA5-B15B-5BC0BA097DE3}"/>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17447361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uses Firebase BaaS — there is no custom backend server. The frontend is layered: screens handle UI, expo-router handles navigation, and repository.js centralizes all Firebase calls. The most important design decision is the composite document ID: hallId underscore dateKey. This gives O(1) lookup for any hall's menu on any date — no query needed.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has six security measures. Firebase handles bcrypt password hashing and JWT token management automatically. The role mismatch check on login prevents cross-role access. The re-authentication modal on the Role screen prevents dashboard access on shared devices. Firestore Security Rules enforce server-side access control. The main known limitation is that food reviews are unauthenticated.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eight planned improvements span different categories. The most impactful for users would be push notifications and offline support. The most critical technically is fixing the race condition in the serve count using Firestore's atomic increment. Student authentication for reviews would prevent abuse. An admin panel would give university management a bird's-eye view of all 17 halls.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confidence. Mention you know the limitations and how each would be fixed in production.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1F"/>
        </a:solidFill>
        <a:effectLst/>
      </p:bgPr>
    </p:bg>
    <p:spTree>
      <p:nvGrpSpPr>
        <p:cNvPr id="1" name=""/>
        <p:cNvGrpSpPr/>
        <p:nvPr/>
      </p:nvGrpSpPr>
      <p:grpSpPr>
        <a:xfrm>
          <a:off x="0" y="0"/>
          <a:ext cx="0" cy="0"/>
          <a:chOff x="0" y="0"/>
          <a:chExt cx="0" cy="0"/>
        </a:xfrm>
      </p:grpSpPr>
      <p:sp>
        <p:nvSpPr>
          <p:cNvPr id="2" name="Shape 0"/>
          <p:cNvSpPr/>
          <p:nvPr/>
        </p:nvSpPr>
        <p:spPr>
          <a:xfrm>
            <a:off x="5252936" y="-59339"/>
            <a:ext cx="3891064" cy="3501957"/>
          </a:xfrm>
          <a:prstGeom prst="ellipse">
            <a:avLst/>
          </a:prstGeom>
          <a:solidFill>
            <a:srgbClr val="2D5A3D">
              <a:alpha val="45000"/>
            </a:srgbClr>
          </a:solidFill>
          <a:ln w="12700">
            <a:solidFill>
              <a:srgbClr val="2D5A3D">
                <a:alpha val="45000"/>
              </a:srgbClr>
            </a:solidFill>
            <a:prstDash val="solid"/>
          </a:ln>
        </p:spPr>
        <p:txBody>
          <a:bodyPr/>
          <a:lstStyle/>
          <a:p>
            <a:endParaRPr lang="en-US" dirty="0"/>
          </a:p>
        </p:txBody>
      </p:sp>
      <p:sp>
        <p:nvSpPr>
          <p:cNvPr id="3" name="Shape 1"/>
          <p:cNvSpPr/>
          <p:nvPr/>
        </p:nvSpPr>
        <p:spPr>
          <a:xfrm>
            <a:off x="6400800" y="2368198"/>
            <a:ext cx="2743200" cy="2743200"/>
          </a:xfrm>
          <a:prstGeom prst="ellipse">
            <a:avLst/>
          </a:prstGeom>
          <a:solidFill>
            <a:srgbClr val="52B788">
              <a:alpha val="35000"/>
            </a:srgbClr>
          </a:solidFill>
          <a:ln w="12700">
            <a:solidFill>
              <a:srgbClr val="52B788">
                <a:alpha val="35000"/>
              </a:srgbClr>
            </a:solidFill>
            <a:prstDash val="solid"/>
          </a:ln>
        </p:spPr>
      </p:sp>
      <p:sp>
        <p:nvSpPr>
          <p:cNvPr id="4" name="Shape 2"/>
          <p:cNvSpPr/>
          <p:nvPr/>
        </p:nvSpPr>
        <p:spPr>
          <a:xfrm>
            <a:off x="548640" y="731520"/>
            <a:ext cx="1005840" cy="1005840"/>
          </a:xfrm>
          <a:prstGeom prst="roundRect">
            <a:avLst>
              <a:gd name="adj" fmla="val 13636"/>
            </a:avLst>
          </a:prstGeom>
          <a:solidFill>
            <a:srgbClr val="2D5A3D"/>
          </a:solidFill>
          <a:ln w="12700">
            <a:solidFill>
              <a:srgbClr val="52B788"/>
            </a:solidFill>
            <a:prstDash val="solid"/>
          </a:ln>
        </p:spPr>
      </p:sp>
      <p:sp>
        <p:nvSpPr>
          <p:cNvPr id="5" name="Text 3"/>
          <p:cNvSpPr/>
          <p:nvPr/>
        </p:nvSpPr>
        <p:spPr>
          <a:xfrm>
            <a:off x="548640" y="777240"/>
            <a:ext cx="1005840" cy="914400"/>
          </a:xfrm>
          <a:prstGeom prst="rect">
            <a:avLst/>
          </a:prstGeom>
          <a:noFill/>
          <a:ln/>
        </p:spPr>
        <p:txBody>
          <a:bodyPr wrap="square" lIns="0" tIns="0" rIns="0" bIns="0" rtlCol="0" anchor="ctr"/>
          <a:lstStyle/>
          <a:p>
            <a:pPr marL="0" indent="0" algn="ctr">
              <a:buNone/>
            </a:pPr>
            <a:r>
              <a:rPr lang="en-US" sz="2800" b="1" dirty="0">
                <a:solidFill>
                  <a:srgbClr val="FFFFFF"/>
                </a:solidFill>
                <a:latin typeface="Cambria" pitchFamily="34" charset="0"/>
                <a:ea typeface="Cambria" pitchFamily="34" charset="-122"/>
                <a:cs typeface="Cambria" pitchFamily="34" charset="-120"/>
              </a:rPr>
              <a:t>RU</a:t>
            </a:r>
            <a:endParaRPr lang="en-US" sz="2800" dirty="0"/>
          </a:p>
        </p:txBody>
      </p:sp>
      <p:sp>
        <p:nvSpPr>
          <p:cNvPr id="6" name="Text 4"/>
          <p:cNvSpPr/>
          <p:nvPr/>
        </p:nvSpPr>
        <p:spPr>
          <a:xfrm>
            <a:off x="548640" y="1920240"/>
            <a:ext cx="7315200" cy="914400"/>
          </a:xfrm>
          <a:prstGeom prst="rect">
            <a:avLst/>
          </a:prstGeom>
          <a:noFill/>
          <a:ln/>
        </p:spPr>
        <p:txBody>
          <a:bodyPr wrap="square" lIns="0" tIns="0" rIns="0" bIns="0" rtlCol="0" anchor="ctr"/>
          <a:lstStyle/>
          <a:p>
            <a:pPr marL="0" indent="0" algn="l">
              <a:buNone/>
            </a:pPr>
            <a:r>
              <a:rPr lang="en-US" sz="4400" b="1" dirty="0">
                <a:solidFill>
                  <a:srgbClr val="FFFFFF"/>
                </a:solidFill>
                <a:latin typeface="Cambria" pitchFamily="34" charset="0"/>
                <a:ea typeface="Cambria" pitchFamily="34" charset="-122"/>
                <a:cs typeface="Cambria" pitchFamily="34" charset="-120"/>
              </a:rPr>
              <a:t>HallMenu RU</a:t>
            </a:r>
            <a:endParaRPr lang="en-US" sz="4400" dirty="0"/>
          </a:p>
        </p:txBody>
      </p:sp>
      <p:sp>
        <p:nvSpPr>
          <p:cNvPr id="7" name="Text 5"/>
          <p:cNvSpPr/>
          <p:nvPr/>
        </p:nvSpPr>
        <p:spPr>
          <a:xfrm>
            <a:off x="548640" y="2834640"/>
            <a:ext cx="6858000" cy="502920"/>
          </a:xfrm>
          <a:prstGeom prst="rect">
            <a:avLst/>
          </a:prstGeom>
          <a:noFill/>
          <a:ln/>
        </p:spPr>
        <p:txBody>
          <a:bodyPr wrap="square" lIns="0" tIns="0" rIns="0" bIns="0" rtlCol="0" anchor="ctr"/>
          <a:lstStyle/>
          <a:p>
            <a:pPr marL="0" indent="0" algn="l">
              <a:buNone/>
            </a:pPr>
            <a:r>
              <a:rPr lang="en-US" sz="1600" dirty="0">
                <a:solidFill>
                  <a:srgbClr val="52B788"/>
                </a:solidFill>
                <a:latin typeface="Calibri" pitchFamily="34" charset="0"/>
                <a:ea typeface="Calibri" pitchFamily="34" charset="-122"/>
                <a:cs typeface="Calibri" pitchFamily="34" charset="-120"/>
              </a:rPr>
              <a:t>Rajshahi University Hall Dining Management App</a:t>
            </a:r>
            <a:endParaRPr lang="en-US" sz="1600" dirty="0"/>
          </a:p>
        </p:txBody>
      </p:sp>
      <p:sp>
        <p:nvSpPr>
          <p:cNvPr id="8" name="Text 6"/>
          <p:cNvSpPr/>
          <p:nvPr/>
        </p:nvSpPr>
        <p:spPr>
          <a:xfrm>
            <a:off x="548640" y="3429000"/>
            <a:ext cx="6858000" cy="365760"/>
          </a:xfrm>
          <a:prstGeom prst="rect">
            <a:avLst/>
          </a:prstGeom>
          <a:noFill/>
          <a:ln/>
        </p:spPr>
        <p:txBody>
          <a:bodyPr wrap="square" lIns="0" tIns="0" rIns="0" bIns="0" rtlCol="0" anchor="ctr"/>
          <a:lstStyle/>
          <a:p>
            <a:pPr marL="0" indent="0" algn="l">
              <a:buNone/>
            </a:pP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txBody>
          <a:bodyPr/>
          <a:lstStyle/>
          <a:p>
            <a:endParaRPr lang="en-US" dirty="0"/>
          </a:p>
        </p:txBody>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Project Overview</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endParaRPr lang="en-US" sz="1100" dirty="0"/>
          </a:p>
        </p:txBody>
      </p:sp>
      <p:sp>
        <p:nvSpPr>
          <p:cNvPr id="5" name="Shape 3"/>
          <p:cNvSpPr/>
          <p:nvPr/>
        </p:nvSpPr>
        <p:spPr>
          <a:xfrm>
            <a:off x="274320" y="1188720"/>
            <a:ext cx="4114800" cy="1463040"/>
          </a:xfrm>
          <a:prstGeom prst="roundRect">
            <a:avLst>
              <a:gd name="adj" fmla="val 6250"/>
            </a:avLst>
          </a:prstGeom>
          <a:solidFill>
            <a:srgbClr val="FFF3E0"/>
          </a:solidFill>
          <a:ln w="12700">
            <a:solidFill>
              <a:srgbClr val="F59E0B"/>
            </a:solidFill>
            <a:prstDash val="solid"/>
          </a:ln>
        </p:spPr>
      </p:sp>
      <p:sp>
        <p:nvSpPr>
          <p:cNvPr id="6" name="Text 4"/>
          <p:cNvSpPr/>
          <p:nvPr/>
        </p:nvSpPr>
        <p:spPr>
          <a:xfrm>
            <a:off x="457200" y="1280160"/>
            <a:ext cx="3657600" cy="365760"/>
          </a:xfrm>
          <a:prstGeom prst="rect">
            <a:avLst/>
          </a:prstGeom>
          <a:noFill/>
          <a:ln/>
        </p:spPr>
        <p:txBody>
          <a:bodyPr wrap="square" lIns="0" tIns="0" rIns="0" bIns="0" rtlCol="0" anchor="ctr"/>
          <a:lstStyle/>
          <a:p>
            <a:pPr marL="0" indent="0">
              <a:buNone/>
            </a:pPr>
            <a:r>
              <a:rPr lang="en-US" sz="1300" b="1" dirty="0">
                <a:solidFill>
                  <a:srgbClr val="B45309"/>
                </a:solidFill>
                <a:latin typeface="Cambria" pitchFamily="34" charset="0"/>
                <a:ea typeface="Cambria" pitchFamily="34" charset="-122"/>
                <a:cs typeface="Cambria" pitchFamily="34" charset="-120"/>
              </a:rPr>
              <a:t>❌  The Problem</a:t>
            </a:r>
            <a:endParaRPr lang="en-US" sz="1300" dirty="0"/>
          </a:p>
        </p:txBody>
      </p:sp>
      <p:sp>
        <p:nvSpPr>
          <p:cNvPr id="7" name="Text 5"/>
          <p:cNvSpPr/>
          <p:nvPr/>
        </p:nvSpPr>
        <p:spPr>
          <a:xfrm>
            <a:off x="457200" y="1664208"/>
            <a:ext cx="3749040" cy="868680"/>
          </a:xfrm>
          <a:prstGeom prst="rect">
            <a:avLst/>
          </a:prstGeom>
          <a:noFill/>
          <a:ln/>
        </p:spPr>
        <p:txBody>
          <a:bodyPr wrap="square" lIns="0" tIns="0" rIns="0" bIns="0" rtlCol="0" anchor="ctr"/>
          <a:lstStyle/>
          <a:p>
            <a:pPr marL="342900" indent="-342900">
              <a:buSzPct val="100000"/>
              <a:buChar char="•"/>
            </a:pPr>
            <a:r>
              <a:rPr lang="en-US" sz="1000" dirty="0">
                <a:solidFill>
                  <a:srgbClr val="333333"/>
                </a:solidFill>
              </a:rPr>
              <a:t>Students walk to dining halls not knowing what's cooked today</a:t>
            </a:r>
            <a:endParaRPr lang="en-US" sz="1000" dirty="0"/>
          </a:p>
          <a:p>
            <a:pPr marL="342900" indent="-342900">
              <a:buSzPct val="100000"/>
              <a:buChar char="•"/>
            </a:pPr>
            <a:r>
              <a:rPr lang="en-US" sz="1000" dirty="0">
                <a:solidFill>
                  <a:srgbClr val="333333"/>
                </a:solidFill>
              </a:rPr>
              <a:t>No real-time menu updates — information is static or unavailable</a:t>
            </a:r>
            <a:endParaRPr lang="en-US" sz="1000" dirty="0"/>
          </a:p>
          <a:p>
            <a:pPr marL="342900" indent="-342900">
              <a:buSzPct val="100000"/>
              <a:buChar char="•"/>
            </a:pPr>
            <a:r>
              <a:rPr lang="en-US" sz="1000" dirty="0">
                <a:solidFill>
                  <a:srgbClr val="333333"/>
                </a:solidFill>
              </a:rPr>
              <a:t>17 halls, thousands of students — no centralized digital system</a:t>
            </a:r>
            <a:endParaRPr lang="en-US" sz="1000" dirty="0"/>
          </a:p>
        </p:txBody>
      </p:sp>
      <p:sp>
        <p:nvSpPr>
          <p:cNvPr id="9" name="Text 7"/>
          <p:cNvSpPr/>
          <p:nvPr/>
        </p:nvSpPr>
        <p:spPr>
          <a:xfrm>
            <a:off x="4389120" y="1783080"/>
            <a:ext cx="640080" cy="365760"/>
          </a:xfrm>
          <a:prstGeom prst="rect">
            <a:avLst/>
          </a:prstGeom>
          <a:noFill/>
          <a:ln/>
        </p:spPr>
        <p:txBody>
          <a:bodyPr wrap="square" lIns="0" tIns="0" rIns="0" bIns="0" rtlCol="0" anchor="ctr"/>
          <a:lstStyle/>
          <a:p>
            <a:pPr marL="0" indent="0" algn="ctr">
              <a:buNone/>
            </a:pPr>
            <a:r>
              <a:rPr lang="en-US" sz="2200" b="1" dirty="0">
                <a:solidFill>
                  <a:srgbClr val="2D5A3D"/>
                </a:solidFill>
              </a:rPr>
              <a:t>→</a:t>
            </a:r>
            <a:endParaRPr lang="en-US" sz="2200" dirty="0"/>
          </a:p>
        </p:txBody>
      </p:sp>
      <p:sp>
        <p:nvSpPr>
          <p:cNvPr id="10" name="Shape 8"/>
          <p:cNvSpPr/>
          <p:nvPr/>
        </p:nvSpPr>
        <p:spPr>
          <a:xfrm>
            <a:off x="5029200" y="1188720"/>
            <a:ext cx="3840480" cy="1463040"/>
          </a:xfrm>
          <a:prstGeom prst="roundRect">
            <a:avLst>
              <a:gd name="adj" fmla="val 6250"/>
            </a:avLst>
          </a:prstGeom>
          <a:solidFill>
            <a:srgbClr val="E8F5E9"/>
          </a:solidFill>
          <a:ln w="12700">
            <a:solidFill>
              <a:srgbClr val="2D5A3D"/>
            </a:solidFill>
            <a:prstDash val="solid"/>
          </a:ln>
        </p:spPr>
      </p:sp>
      <p:sp>
        <p:nvSpPr>
          <p:cNvPr id="11" name="Text 9"/>
          <p:cNvSpPr/>
          <p:nvPr/>
        </p:nvSpPr>
        <p:spPr>
          <a:xfrm>
            <a:off x="5212080" y="1280160"/>
            <a:ext cx="3383280" cy="365760"/>
          </a:xfrm>
          <a:prstGeom prst="rect">
            <a:avLst/>
          </a:prstGeom>
          <a:noFill/>
          <a:ln/>
        </p:spPr>
        <p:txBody>
          <a:bodyPr wrap="square" lIns="0" tIns="0" rIns="0" bIns="0" rtlCol="0" anchor="ctr"/>
          <a:lstStyle/>
          <a:p>
            <a:pPr marL="0" indent="0">
              <a:buNone/>
            </a:pPr>
            <a:r>
              <a:rPr lang="en-US" sz="1300" b="1" dirty="0">
                <a:solidFill>
                  <a:srgbClr val="2D5A3D"/>
                </a:solidFill>
                <a:latin typeface="Cambria" pitchFamily="34" charset="0"/>
                <a:ea typeface="Cambria" pitchFamily="34" charset="-122"/>
                <a:cs typeface="Cambria" pitchFamily="34" charset="-120"/>
              </a:rPr>
              <a:t>✅  Our Solution</a:t>
            </a:r>
            <a:endParaRPr lang="en-US" sz="1300" dirty="0"/>
          </a:p>
        </p:txBody>
      </p:sp>
      <p:sp>
        <p:nvSpPr>
          <p:cNvPr id="12" name="Text 10"/>
          <p:cNvSpPr/>
          <p:nvPr/>
        </p:nvSpPr>
        <p:spPr>
          <a:xfrm>
            <a:off x="5212080" y="1664208"/>
            <a:ext cx="3474720" cy="868680"/>
          </a:xfrm>
          <a:prstGeom prst="rect">
            <a:avLst/>
          </a:prstGeom>
          <a:noFill/>
          <a:ln/>
        </p:spPr>
        <p:txBody>
          <a:bodyPr wrap="square" lIns="0" tIns="0" rIns="0" bIns="0" rtlCol="0" anchor="ctr"/>
          <a:lstStyle/>
          <a:p>
            <a:pPr marL="342900" indent="-342900">
              <a:buSzPct val="100000"/>
              <a:buChar char="•"/>
            </a:pPr>
            <a:r>
              <a:rPr lang="en-US" sz="1000" dirty="0">
                <a:solidFill>
                  <a:srgbClr val="333333"/>
                </a:solidFill>
              </a:rPr>
              <a:t>Real-time menu visible on phone — before leaving room</a:t>
            </a:r>
            <a:endParaRPr lang="en-US" sz="1000" dirty="0"/>
          </a:p>
          <a:p>
            <a:pPr marL="342900" indent="-342900">
              <a:buSzPct val="100000"/>
              <a:buChar char="•"/>
            </a:pPr>
            <a:r>
              <a:rPr lang="en-US" sz="1000" dirty="0">
                <a:solidFill>
                  <a:srgbClr val="333333"/>
                </a:solidFill>
              </a:rPr>
              <a:t>Live food availability count with automatic status updates</a:t>
            </a:r>
            <a:endParaRPr lang="en-US" sz="1000" dirty="0"/>
          </a:p>
          <a:p>
            <a:pPr marL="342900" indent="-342900">
              <a:buSzPct val="100000"/>
              <a:buChar char="•"/>
            </a:pPr>
            <a:r>
              <a:rPr lang="en-US" sz="1000" dirty="0">
                <a:solidFill>
                  <a:srgbClr val="333333"/>
                </a:solidFill>
              </a:rPr>
              <a:t>Notices, feasts, and reviews — all in one mobile app</a:t>
            </a:r>
            <a:endParaRPr lang="en-US" sz="1000" dirty="0"/>
          </a:p>
        </p:txBody>
      </p:sp>
      <p:sp>
        <p:nvSpPr>
          <p:cNvPr id="13" name="Shape 11"/>
          <p:cNvSpPr/>
          <p:nvPr/>
        </p:nvSpPr>
        <p:spPr>
          <a:xfrm>
            <a:off x="274320" y="2834640"/>
            <a:ext cx="1645920" cy="1188720"/>
          </a:xfrm>
          <a:prstGeom prst="roundRect">
            <a:avLst>
              <a:gd name="adj" fmla="val 7692"/>
            </a:avLst>
          </a:prstGeom>
          <a:solidFill>
            <a:srgbClr val="2D5A3D"/>
          </a:solidFill>
          <a:ln w="12700">
            <a:solidFill>
              <a:srgbClr val="2D5A3D"/>
            </a:solidFill>
            <a:prstDash val="solid"/>
          </a:ln>
        </p:spPr>
      </p:sp>
      <p:sp>
        <p:nvSpPr>
          <p:cNvPr id="14" name="Text 12"/>
          <p:cNvSpPr/>
          <p:nvPr/>
        </p:nvSpPr>
        <p:spPr>
          <a:xfrm>
            <a:off x="274320" y="2926080"/>
            <a:ext cx="1645920" cy="653796"/>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17</a:t>
            </a:r>
            <a:endParaRPr lang="en-US" sz="3000" dirty="0"/>
          </a:p>
        </p:txBody>
      </p:sp>
      <p:sp>
        <p:nvSpPr>
          <p:cNvPr id="15" name="Text 13"/>
          <p:cNvSpPr/>
          <p:nvPr/>
        </p:nvSpPr>
        <p:spPr>
          <a:xfrm>
            <a:off x="274320" y="3488436"/>
            <a:ext cx="1645920" cy="47548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Residential Halls</a:t>
            </a:r>
            <a:endParaRPr lang="en-US" sz="1000" dirty="0"/>
          </a:p>
        </p:txBody>
      </p:sp>
      <p:sp>
        <p:nvSpPr>
          <p:cNvPr id="16" name="Shape 14"/>
          <p:cNvSpPr/>
          <p:nvPr/>
        </p:nvSpPr>
        <p:spPr>
          <a:xfrm>
            <a:off x="2103120" y="2834640"/>
            <a:ext cx="1645920" cy="1188720"/>
          </a:xfrm>
          <a:prstGeom prst="roundRect">
            <a:avLst>
              <a:gd name="adj" fmla="val 7692"/>
            </a:avLst>
          </a:prstGeom>
          <a:solidFill>
            <a:srgbClr val="52B788"/>
          </a:solidFill>
          <a:ln w="12700">
            <a:solidFill>
              <a:srgbClr val="52B788"/>
            </a:solidFill>
            <a:prstDash val="solid"/>
          </a:ln>
        </p:spPr>
      </p:sp>
      <p:sp>
        <p:nvSpPr>
          <p:cNvPr id="17" name="Text 15"/>
          <p:cNvSpPr/>
          <p:nvPr/>
        </p:nvSpPr>
        <p:spPr>
          <a:xfrm>
            <a:off x="2103120" y="2926080"/>
            <a:ext cx="1645920" cy="653796"/>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24</a:t>
            </a:r>
            <a:endParaRPr lang="en-US" sz="3000" dirty="0"/>
          </a:p>
        </p:txBody>
      </p:sp>
      <p:sp>
        <p:nvSpPr>
          <p:cNvPr id="18" name="Text 16"/>
          <p:cNvSpPr/>
          <p:nvPr/>
        </p:nvSpPr>
        <p:spPr>
          <a:xfrm>
            <a:off x="2103120" y="3488436"/>
            <a:ext cx="1645920" cy="47548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App Screens</a:t>
            </a:r>
            <a:endParaRPr lang="en-US" sz="1000" dirty="0"/>
          </a:p>
        </p:txBody>
      </p:sp>
      <p:sp>
        <p:nvSpPr>
          <p:cNvPr id="19" name="Shape 17"/>
          <p:cNvSpPr/>
          <p:nvPr/>
        </p:nvSpPr>
        <p:spPr>
          <a:xfrm>
            <a:off x="3931920" y="2834640"/>
            <a:ext cx="1645920" cy="1188720"/>
          </a:xfrm>
          <a:prstGeom prst="roundRect">
            <a:avLst>
              <a:gd name="adj" fmla="val 7692"/>
            </a:avLst>
          </a:prstGeom>
          <a:solidFill>
            <a:srgbClr val="1E3A8A"/>
          </a:solidFill>
          <a:ln w="12700">
            <a:solidFill>
              <a:srgbClr val="1E3A8A"/>
            </a:solidFill>
            <a:prstDash val="solid"/>
          </a:ln>
        </p:spPr>
      </p:sp>
      <p:sp>
        <p:nvSpPr>
          <p:cNvPr id="20" name="Text 18"/>
          <p:cNvSpPr/>
          <p:nvPr/>
        </p:nvSpPr>
        <p:spPr>
          <a:xfrm>
            <a:off x="3931920" y="2926080"/>
            <a:ext cx="1645920" cy="653796"/>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rPr>
              <a:t>5</a:t>
            </a:r>
            <a:endParaRPr lang="en-US" sz="3000" dirty="0"/>
          </a:p>
        </p:txBody>
      </p:sp>
      <p:sp>
        <p:nvSpPr>
          <p:cNvPr id="21" name="Text 19"/>
          <p:cNvSpPr/>
          <p:nvPr/>
        </p:nvSpPr>
        <p:spPr>
          <a:xfrm>
            <a:off x="3931920" y="3488436"/>
            <a:ext cx="1645920" cy="47548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Firestore Collections</a:t>
            </a:r>
            <a:endParaRPr lang="en-US" sz="1000" dirty="0"/>
          </a:p>
        </p:txBody>
      </p:sp>
      <p:sp>
        <p:nvSpPr>
          <p:cNvPr id="22" name="Shape 20"/>
          <p:cNvSpPr/>
          <p:nvPr/>
        </p:nvSpPr>
        <p:spPr>
          <a:xfrm>
            <a:off x="5760720" y="2834640"/>
            <a:ext cx="1645920" cy="1188720"/>
          </a:xfrm>
          <a:prstGeom prst="roundRect">
            <a:avLst>
              <a:gd name="adj" fmla="val 7692"/>
            </a:avLst>
          </a:prstGeom>
          <a:solidFill>
            <a:srgbClr val="7E57C2"/>
          </a:solidFill>
          <a:ln w="12700">
            <a:solidFill>
              <a:srgbClr val="7E57C2"/>
            </a:solidFill>
            <a:prstDash val="solid"/>
          </a:ln>
        </p:spPr>
      </p:sp>
      <p:sp>
        <p:nvSpPr>
          <p:cNvPr id="23" name="Text 21"/>
          <p:cNvSpPr/>
          <p:nvPr/>
        </p:nvSpPr>
        <p:spPr>
          <a:xfrm>
            <a:off x="5760720" y="2926080"/>
            <a:ext cx="1645920" cy="653796"/>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2</a:t>
            </a:r>
            <a:endParaRPr lang="en-US" sz="3000" dirty="0"/>
          </a:p>
        </p:txBody>
      </p:sp>
      <p:sp>
        <p:nvSpPr>
          <p:cNvPr id="24" name="Text 22"/>
          <p:cNvSpPr/>
          <p:nvPr/>
        </p:nvSpPr>
        <p:spPr>
          <a:xfrm>
            <a:off x="5760720" y="3488436"/>
            <a:ext cx="1645920" cy="47548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User Roles</a:t>
            </a:r>
            <a:endParaRPr lang="en-US" sz="1000" dirty="0"/>
          </a:p>
        </p:txBody>
      </p:sp>
      <p:sp>
        <p:nvSpPr>
          <p:cNvPr id="25" name="Shape 23"/>
          <p:cNvSpPr/>
          <p:nvPr/>
        </p:nvSpPr>
        <p:spPr>
          <a:xfrm>
            <a:off x="7589520" y="2834640"/>
            <a:ext cx="1280160" cy="1188720"/>
          </a:xfrm>
          <a:prstGeom prst="roundRect">
            <a:avLst>
              <a:gd name="adj" fmla="val 7692"/>
            </a:avLst>
          </a:prstGeom>
          <a:solidFill>
            <a:srgbClr val="D4A017"/>
          </a:solidFill>
          <a:ln w="12700">
            <a:solidFill>
              <a:srgbClr val="D4A017"/>
            </a:solidFill>
            <a:prstDash val="solid"/>
          </a:ln>
        </p:spPr>
      </p:sp>
      <p:sp>
        <p:nvSpPr>
          <p:cNvPr id="26" name="Text 24"/>
          <p:cNvSpPr/>
          <p:nvPr/>
        </p:nvSpPr>
        <p:spPr>
          <a:xfrm>
            <a:off x="7589520" y="2926080"/>
            <a:ext cx="1280160" cy="653796"/>
          </a:xfrm>
          <a:prstGeom prst="rect">
            <a:avLst/>
          </a:prstGeom>
          <a:noFill/>
          <a:ln/>
        </p:spPr>
        <p:txBody>
          <a:bodyPr wrap="square" lIns="0" tIns="0" rIns="0" bIns="0"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BaaS</a:t>
            </a:r>
            <a:endParaRPr lang="en-US" sz="3000" dirty="0"/>
          </a:p>
        </p:txBody>
      </p:sp>
      <p:sp>
        <p:nvSpPr>
          <p:cNvPr id="27" name="Text 25"/>
          <p:cNvSpPr/>
          <p:nvPr/>
        </p:nvSpPr>
        <p:spPr>
          <a:xfrm>
            <a:off x="7589520" y="3488436"/>
            <a:ext cx="1280160" cy="475488"/>
          </a:xfrm>
          <a:prstGeom prst="rect">
            <a:avLst/>
          </a:prstGeom>
          <a:noFill/>
          <a:ln/>
        </p:spPr>
        <p:txBody>
          <a:bodyPr wrap="square" lIns="0" tIns="0" rIns="0" bIns="0" rtlCol="0" anchor="ctr"/>
          <a:lstStyle/>
          <a:p>
            <a:pPr marL="0" indent="0" algn="ctr">
              <a:buNone/>
            </a:pPr>
            <a:r>
              <a:rPr lang="en-US" sz="1000" dirty="0">
                <a:solidFill>
                  <a:srgbClr val="FFFFFF"/>
                </a:solidFill>
                <a:latin typeface="Calibri" pitchFamily="34" charset="0"/>
                <a:ea typeface="Calibri" pitchFamily="34" charset="-122"/>
                <a:cs typeface="Calibri" pitchFamily="34" charset="-120"/>
              </a:rPr>
              <a:t>Firebase Backend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Technology Stack &amp; Architecture</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BaaS Architecture — no custom server</a:t>
            </a:r>
            <a:endParaRPr lang="en-US" sz="1100" dirty="0"/>
          </a:p>
        </p:txBody>
      </p:sp>
      <p:sp>
        <p:nvSpPr>
          <p:cNvPr id="5" name="Shape 3"/>
          <p:cNvSpPr/>
          <p:nvPr/>
        </p:nvSpPr>
        <p:spPr>
          <a:xfrm>
            <a:off x="274320" y="1143000"/>
            <a:ext cx="4206240" cy="1143000"/>
          </a:xfrm>
          <a:prstGeom prst="roundRect">
            <a:avLst>
              <a:gd name="adj" fmla="val 6400"/>
            </a:avLst>
          </a:prstGeom>
          <a:solidFill>
            <a:srgbClr val="E8F5E9"/>
          </a:solidFill>
          <a:ln w="6350">
            <a:solidFill>
              <a:srgbClr val="D0D0D0"/>
            </a:solidFill>
            <a:prstDash val="solid"/>
          </a:ln>
          <a:effectLst>
            <a:outerShdw blurRad="101600" dist="38100" dir="2700000" algn="bl" rotWithShape="0">
              <a:srgbClr val="000000">
                <a:alpha val="12000"/>
              </a:srgbClr>
            </a:outerShdw>
          </a:effectLst>
        </p:spPr>
      </p:sp>
      <p:sp>
        <p:nvSpPr>
          <p:cNvPr id="6" name="Text 4"/>
          <p:cNvSpPr/>
          <p:nvPr/>
        </p:nvSpPr>
        <p:spPr>
          <a:xfrm>
            <a:off x="411480" y="1234440"/>
            <a:ext cx="3840480" cy="365760"/>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React Native + Expo</a:t>
            </a:r>
            <a:endParaRPr lang="en-US" sz="1200" dirty="0"/>
          </a:p>
        </p:txBody>
      </p:sp>
      <p:sp>
        <p:nvSpPr>
          <p:cNvPr id="7" name="Text 5"/>
          <p:cNvSpPr/>
          <p:nvPr/>
        </p:nvSpPr>
        <p:spPr>
          <a:xfrm>
            <a:off x="411480" y="1618488"/>
            <a:ext cx="3840480" cy="548640"/>
          </a:xfrm>
          <a:prstGeom prst="rect">
            <a:avLst/>
          </a:prstGeom>
          <a:noFill/>
          <a:ln/>
        </p:spPr>
        <p:txBody>
          <a:bodyPr wrap="square" lIns="0" tIns="0" rIns="0" bIns="0" rtlCol="0" anchor="t"/>
          <a:lstStyle/>
          <a:p>
            <a:pPr marL="0" indent="0">
              <a:buNone/>
            </a:pPr>
            <a:r>
              <a:rPr lang="en-US" sz="1000" dirty="0">
                <a:solidFill>
                  <a:srgbClr val="444444"/>
                </a:solidFill>
                <a:latin typeface="Calibri" pitchFamily="34" charset="0"/>
                <a:ea typeface="Calibri" pitchFamily="34" charset="-122"/>
                <a:cs typeface="Calibri" pitchFamily="34" charset="-120"/>
              </a:rPr>
              <a:t>Cross-platform: one codebase → Android &amp; iOS</a:t>
            </a:r>
            <a:endParaRPr lang="en-US" sz="1000" dirty="0"/>
          </a:p>
        </p:txBody>
      </p:sp>
      <p:sp>
        <p:nvSpPr>
          <p:cNvPr id="8" name="Shape 6"/>
          <p:cNvSpPr/>
          <p:nvPr/>
        </p:nvSpPr>
        <p:spPr>
          <a:xfrm>
            <a:off x="274320" y="2404872"/>
            <a:ext cx="4206240" cy="1143000"/>
          </a:xfrm>
          <a:prstGeom prst="roundRect">
            <a:avLst>
              <a:gd name="adj" fmla="val 6400"/>
            </a:avLst>
          </a:prstGeom>
          <a:solidFill>
            <a:srgbClr val="E3F2FD"/>
          </a:solidFill>
          <a:ln w="6350">
            <a:solidFill>
              <a:srgbClr val="D0D0D0"/>
            </a:solidFill>
            <a:prstDash val="solid"/>
          </a:ln>
          <a:effectLst>
            <a:outerShdw blurRad="101600" dist="38100" dir="2700000" algn="bl" rotWithShape="0">
              <a:srgbClr val="000000">
                <a:alpha val="12000"/>
              </a:srgbClr>
            </a:outerShdw>
          </a:effectLst>
        </p:spPr>
      </p:sp>
      <p:sp>
        <p:nvSpPr>
          <p:cNvPr id="9" name="Text 7"/>
          <p:cNvSpPr/>
          <p:nvPr/>
        </p:nvSpPr>
        <p:spPr>
          <a:xfrm>
            <a:off x="411480" y="2496312"/>
            <a:ext cx="3840480" cy="365760"/>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Expo Router</a:t>
            </a:r>
            <a:endParaRPr lang="en-US" sz="1200" dirty="0"/>
          </a:p>
        </p:txBody>
      </p:sp>
      <p:sp>
        <p:nvSpPr>
          <p:cNvPr id="10" name="Text 8"/>
          <p:cNvSpPr/>
          <p:nvPr/>
        </p:nvSpPr>
        <p:spPr>
          <a:xfrm>
            <a:off x="411480" y="2880360"/>
            <a:ext cx="3840480" cy="548640"/>
          </a:xfrm>
          <a:prstGeom prst="rect">
            <a:avLst/>
          </a:prstGeom>
          <a:noFill/>
          <a:ln/>
        </p:spPr>
        <p:txBody>
          <a:bodyPr wrap="square" lIns="0" tIns="0" rIns="0" bIns="0" rtlCol="0" anchor="t"/>
          <a:lstStyle/>
          <a:p>
            <a:pPr marL="0" indent="0">
              <a:buNone/>
            </a:pPr>
            <a:r>
              <a:rPr lang="en-US" sz="1000" dirty="0">
                <a:solidFill>
                  <a:srgbClr val="444444"/>
                </a:solidFill>
                <a:latin typeface="Calibri" pitchFamily="34" charset="0"/>
                <a:ea typeface="Calibri" pitchFamily="34" charset="-122"/>
                <a:cs typeface="Calibri" pitchFamily="34" charset="-120"/>
              </a:rPr>
              <a:t>File-based routing; (student-tabs) &amp; (mod-tabs) route groups for bottom nav</a:t>
            </a:r>
            <a:endParaRPr lang="en-US" sz="1000" dirty="0"/>
          </a:p>
        </p:txBody>
      </p:sp>
      <p:sp>
        <p:nvSpPr>
          <p:cNvPr id="11" name="Shape 9"/>
          <p:cNvSpPr/>
          <p:nvPr/>
        </p:nvSpPr>
        <p:spPr>
          <a:xfrm>
            <a:off x="274320" y="3666744"/>
            <a:ext cx="4206240" cy="1143000"/>
          </a:xfrm>
          <a:prstGeom prst="roundRect">
            <a:avLst>
              <a:gd name="adj" fmla="val 6400"/>
            </a:avLst>
          </a:prstGeom>
          <a:solidFill>
            <a:srgbClr val="FFF3E0"/>
          </a:solidFill>
          <a:ln w="6350">
            <a:solidFill>
              <a:srgbClr val="D0D0D0"/>
            </a:solidFill>
            <a:prstDash val="solid"/>
          </a:ln>
          <a:effectLst>
            <a:outerShdw blurRad="101600" dist="38100" dir="2700000" algn="bl" rotWithShape="0">
              <a:srgbClr val="000000">
                <a:alpha val="12000"/>
              </a:srgbClr>
            </a:outerShdw>
          </a:effectLst>
        </p:spPr>
      </p:sp>
      <p:sp>
        <p:nvSpPr>
          <p:cNvPr id="12" name="Text 10"/>
          <p:cNvSpPr/>
          <p:nvPr/>
        </p:nvSpPr>
        <p:spPr>
          <a:xfrm>
            <a:off x="411480" y="3758184"/>
            <a:ext cx="3840480" cy="365760"/>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Firebase Firestore</a:t>
            </a:r>
            <a:endParaRPr lang="en-US" sz="1200" dirty="0"/>
          </a:p>
        </p:txBody>
      </p:sp>
      <p:sp>
        <p:nvSpPr>
          <p:cNvPr id="13" name="Text 11"/>
          <p:cNvSpPr/>
          <p:nvPr/>
        </p:nvSpPr>
        <p:spPr>
          <a:xfrm>
            <a:off x="411480" y="4142232"/>
            <a:ext cx="3840480" cy="548640"/>
          </a:xfrm>
          <a:prstGeom prst="rect">
            <a:avLst/>
          </a:prstGeom>
          <a:noFill/>
          <a:ln/>
        </p:spPr>
        <p:txBody>
          <a:bodyPr wrap="square" lIns="0" tIns="0" rIns="0" bIns="0" rtlCol="0" anchor="t"/>
          <a:lstStyle/>
          <a:p>
            <a:pPr marL="0" indent="0">
              <a:buNone/>
            </a:pPr>
            <a:r>
              <a:rPr lang="en-US" sz="1000" dirty="0">
                <a:solidFill>
                  <a:srgbClr val="444444"/>
                </a:solidFill>
                <a:latin typeface="Calibri" pitchFamily="34" charset="0"/>
                <a:ea typeface="Calibri" pitchFamily="34" charset="-122"/>
                <a:cs typeface="Calibri" pitchFamily="34" charset="-120"/>
              </a:rPr>
              <a:t>NoSQL cloud database; real-time sync via onSnapshot()</a:t>
            </a:r>
            <a:endParaRPr lang="en-US" sz="1000" dirty="0"/>
          </a:p>
        </p:txBody>
      </p:sp>
      <p:sp>
        <p:nvSpPr>
          <p:cNvPr id="14" name="Shape 12"/>
          <p:cNvSpPr/>
          <p:nvPr/>
        </p:nvSpPr>
        <p:spPr>
          <a:xfrm>
            <a:off x="4754880" y="1143000"/>
            <a:ext cx="4206240" cy="1143000"/>
          </a:xfrm>
          <a:prstGeom prst="roundRect">
            <a:avLst>
              <a:gd name="adj" fmla="val 6400"/>
            </a:avLst>
          </a:prstGeom>
          <a:solidFill>
            <a:srgbClr val="F3E5F5"/>
          </a:solidFill>
          <a:ln w="6350">
            <a:solidFill>
              <a:srgbClr val="D0D0D0"/>
            </a:solidFill>
            <a:prstDash val="solid"/>
          </a:ln>
          <a:effectLst>
            <a:outerShdw blurRad="101600" dist="38100" dir="2700000" algn="bl" rotWithShape="0">
              <a:srgbClr val="000000">
                <a:alpha val="12000"/>
              </a:srgbClr>
            </a:outerShdw>
          </a:effectLst>
        </p:spPr>
      </p:sp>
      <p:sp>
        <p:nvSpPr>
          <p:cNvPr id="15" name="Text 13"/>
          <p:cNvSpPr/>
          <p:nvPr/>
        </p:nvSpPr>
        <p:spPr>
          <a:xfrm>
            <a:off x="4892040" y="1234440"/>
            <a:ext cx="3840480" cy="365760"/>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Firebase Auth</a:t>
            </a:r>
            <a:endParaRPr lang="en-US" sz="1200" dirty="0"/>
          </a:p>
        </p:txBody>
      </p:sp>
      <p:sp>
        <p:nvSpPr>
          <p:cNvPr id="16" name="Text 14"/>
          <p:cNvSpPr/>
          <p:nvPr/>
        </p:nvSpPr>
        <p:spPr>
          <a:xfrm>
            <a:off x="4892040" y="1618488"/>
            <a:ext cx="3840480" cy="548640"/>
          </a:xfrm>
          <a:prstGeom prst="rect">
            <a:avLst/>
          </a:prstGeom>
          <a:noFill/>
          <a:ln/>
        </p:spPr>
        <p:txBody>
          <a:bodyPr wrap="square" lIns="0" tIns="0" rIns="0" bIns="0" rtlCol="0" anchor="t"/>
          <a:lstStyle/>
          <a:p>
            <a:pPr marL="0" indent="0">
              <a:buNone/>
            </a:pPr>
            <a:r>
              <a:rPr lang="en-US" sz="1000" dirty="0">
                <a:solidFill>
                  <a:srgbClr val="444444"/>
                </a:solidFill>
                <a:latin typeface="Calibri" pitchFamily="34" charset="0"/>
                <a:ea typeface="Calibri" pitchFamily="34" charset="-122"/>
                <a:cs typeface="Calibri" pitchFamily="34" charset="-120"/>
              </a:rPr>
              <a:t>Email-password login; bcrypt hashing; JWT token management</a:t>
            </a:r>
            <a:endParaRPr lang="en-US" sz="1000" dirty="0"/>
          </a:p>
        </p:txBody>
      </p:sp>
      <p:sp>
        <p:nvSpPr>
          <p:cNvPr id="17" name="Shape 15"/>
          <p:cNvSpPr/>
          <p:nvPr/>
        </p:nvSpPr>
        <p:spPr>
          <a:xfrm>
            <a:off x="4754880" y="2404872"/>
            <a:ext cx="4206240" cy="1143000"/>
          </a:xfrm>
          <a:prstGeom prst="roundRect">
            <a:avLst>
              <a:gd name="adj" fmla="val 6400"/>
            </a:avLst>
          </a:prstGeom>
          <a:solidFill>
            <a:srgbClr val="E8F5E9"/>
          </a:solidFill>
          <a:ln w="6350">
            <a:solidFill>
              <a:srgbClr val="D0D0D0"/>
            </a:solidFill>
            <a:prstDash val="solid"/>
          </a:ln>
          <a:effectLst>
            <a:outerShdw blurRad="101600" dist="38100" dir="2700000" algn="bl" rotWithShape="0">
              <a:srgbClr val="000000">
                <a:alpha val="12000"/>
              </a:srgbClr>
            </a:outerShdw>
          </a:effectLst>
        </p:spPr>
      </p:sp>
      <p:sp>
        <p:nvSpPr>
          <p:cNvPr id="18" name="Text 16"/>
          <p:cNvSpPr/>
          <p:nvPr/>
        </p:nvSpPr>
        <p:spPr>
          <a:xfrm>
            <a:off x="4892040" y="2496312"/>
            <a:ext cx="3840480" cy="365760"/>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Repository Pattern</a:t>
            </a:r>
            <a:endParaRPr lang="en-US" sz="1200" dirty="0"/>
          </a:p>
        </p:txBody>
      </p:sp>
      <p:sp>
        <p:nvSpPr>
          <p:cNvPr id="19" name="Text 17"/>
          <p:cNvSpPr/>
          <p:nvPr/>
        </p:nvSpPr>
        <p:spPr>
          <a:xfrm>
            <a:off x="4892040" y="2880360"/>
            <a:ext cx="3840480" cy="548640"/>
          </a:xfrm>
          <a:prstGeom prst="rect">
            <a:avLst/>
          </a:prstGeom>
          <a:noFill/>
          <a:ln/>
        </p:spPr>
        <p:txBody>
          <a:bodyPr wrap="square" lIns="0" tIns="0" rIns="0" bIns="0" rtlCol="0" anchor="t"/>
          <a:lstStyle/>
          <a:p>
            <a:pPr marL="0" indent="0">
              <a:buNone/>
            </a:pPr>
            <a:r>
              <a:rPr lang="en-US" sz="1000" dirty="0">
                <a:solidFill>
                  <a:srgbClr val="444444"/>
                </a:solidFill>
                <a:latin typeface="Calibri" pitchFamily="34" charset="0"/>
                <a:ea typeface="Calibri" pitchFamily="34" charset="-122"/>
                <a:cs typeface="Calibri" pitchFamily="34" charset="-120"/>
              </a:rPr>
              <a:t>All Firebase CRUD centralized in repository.js</a:t>
            </a:r>
            <a:endParaRPr lang="en-US" sz="1000" dirty="0"/>
          </a:p>
        </p:txBody>
      </p:sp>
      <p:sp>
        <p:nvSpPr>
          <p:cNvPr id="21" name="Text 19"/>
          <p:cNvSpPr/>
          <p:nvPr/>
        </p:nvSpPr>
        <p:spPr>
          <a:xfrm>
            <a:off x="4892040" y="3758184"/>
            <a:ext cx="3840480" cy="365760"/>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a:t>
            </a:r>
            <a:endParaRPr lang="en-US" sz="1200" dirty="0"/>
          </a:p>
        </p:txBody>
      </p:sp>
      <p:sp>
        <p:nvSpPr>
          <p:cNvPr id="22" name="Text 20"/>
          <p:cNvSpPr/>
          <p:nvPr/>
        </p:nvSpPr>
        <p:spPr>
          <a:xfrm>
            <a:off x="4892040" y="4142232"/>
            <a:ext cx="3840480" cy="548640"/>
          </a:xfrm>
          <a:prstGeom prst="rect">
            <a:avLst/>
          </a:prstGeom>
          <a:noFill/>
          <a:ln/>
        </p:spPr>
        <p:txBody>
          <a:bodyPr wrap="square" lIns="0" tIns="0" rIns="0" bIns="0" rtlCol="0" anchor="t"/>
          <a:lstStyle/>
          <a:p>
            <a:pPr marL="0" indent="0">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65760" y="137160"/>
            <a:ext cx="1463040" cy="256032"/>
          </a:xfrm>
          <a:prstGeom prst="rect">
            <a:avLst/>
          </a:prstGeom>
          <a:noFill/>
          <a:ln/>
        </p:spPr>
        <p:txBody>
          <a:bodyPr wrap="square" lIns="0" tIns="0" rIns="0" bIns="0" rtlCol="0" anchor="ctr"/>
          <a:lstStyle/>
          <a:p>
            <a:pPr marL="0" indent="0" algn="ctr">
              <a:buNone/>
            </a:pPr>
            <a:endParaRPr lang="en-US" sz="800" dirty="0"/>
          </a:p>
        </p:txBody>
      </p:sp>
      <p:sp>
        <p:nvSpPr>
          <p:cNvPr id="4" name="Text 2"/>
          <p:cNvSpPr/>
          <p:nvPr/>
        </p:nvSpPr>
        <p:spPr>
          <a:xfrm>
            <a:off x="365760" y="502920"/>
            <a:ext cx="8229600" cy="457200"/>
          </a:xfrm>
          <a:prstGeom prst="rect">
            <a:avLst/>
          </a:prstGeom>
          <a:noFill/>
          <a:ln/>
        </p:spPr>
        <p:txBody>
          <a:bodyPr wrap="square" lIns="0" tIns="0" rIns="0" bIns="0" rtlCol="0" anchor="ctr"/>
          <a:lstStyle/>
          <a:p>
            <a:pPr marL="0" indent="0">
              <a:buNone/>
            </a:pPr>
            <a:r>
              <a:rPr lang="en-US" sz="3000" b="1" dirty="0">
                <a:solidFill>
                  <a:srgbClr val="1A1A1A"/>
                </a:solidFill>
                <a:latin typeface="Calibri" pitchFamily="34" charset="0"/>
                <a:ea typeface="Calibri" pitchFamily="34" charset="-122"/>
                <a:cs typeface="Calibri" pitchFamily="34" charset="-120"/>
              </a:rPr>
              <a:t>Key Features</a:t>
            </a:r>
            <a:endParaRPr lang="en-US" sz="3000" dirty="0"/>
          </a:p>
        </p:txBody>
      </p:sp>
      <p:sp>
        <p:nvSpPr>
          <p:cNvPr id="5" name="Shape 3"/>
          <p:cNvSpPr/>
          <p:nvPr/>
        </p:nvSpPr>
        <p:spPr>
          <a:xfrm>
            <a:off x="365760" y="1097280"/>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6" name="Text 4"/>
          <p:cNvSpPr/>
          <p:nvPr/>
        </p:nvSpPr>
        <p:spPr>
          <a:xfrm>
            <a:off x="475488" y="1207008"/>
            <a:ext cx="457200" cy="457200"/>
          </a:xfrm>
          <a:prstGeom prst="rect">
            <a:avLst/>
          </a:prstGeom>
          <a:noFill/>
          <a:ln/>
        </p:spPr>
        <p:txBody>
          <a:bodyPr wrap="square" lIns="0" tIns="0" rIns="0" bIns="0" rtlCol="0" anchor="ctr"/>
          <a:lstStyle/>
          <a:p>
            <a:pPr marL="0" indent="0">
              <a:buNone/>
            </a:pPr>
            <a:endParaRPr lang="en-US" sz="1800" dirty="0"/>
          </a:p>
        </p:txBody>
      </p:sp>
      <p:sp>
        <p:nvSpPr>
          <p:cNvPr id="7" name="Text 5"/>
          <p:cNvSpPr/>
          <p:nvPr/>
        </p:nvSpPr>
        <p:spPr>
          <a:xfrm>
            <a:off x="1024128" y="1170432"/>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Hall Search &amp; Filter</a:t>
            </a:r>
            <a:endParaRPr lang="en-US" sz="1200" dirty="0"/>
          </a:p>
        </p:txBody>
      </p:sp>
      <p:sp>
        <p:nvSpPr>
          <p:cNvPr id="8" name="Text 6"/>
          <p:cNvSpPr/>
          <p:nvPr/>
        </p:nvSpPr>
        <p:spPr>
          <a:xfrm>
            <a:off x="1024128" y="1408176"/>
            <a:ext cx="3291840" cy="292608"/>
          </a:xfrm>
          <a:prstGeom prst="rect">
            <a:avLst/>
          </a:prstGeom>
          <a:noFill/>
          <a:ln/>
        </p:spPr>
        <p:txBody>
          <a:bodyPr wrap="square" lIns="0" tIns="0" rIns="0" bIns="0" rtlCol="0" anchor="ctr"/>
          <a:lstStyle/>
          <a:p>
            <a:pPr marL="0" indent="0">
              <a:buNone/>
            </a:pPr>
            <a:r>
              <a:rPr lang="en-US" sz="950" dirty="0">
                <a:solidFill>
                  <a:srgbClr val="6B6B60"/>
                </a:solidFill>
              </a:rPr>
              <a:t>Search by name, filter by Male/Female, see 'Updated today' badge</a:t>
            </a:r>
            <a:endParaRPr lang="en-US" sz="950" dirty="0"/>
          </a:p>
        </p:txBody>
      </p:sp>
      <p:sp>
        <p:nvSpPr>
          <p:cNvPr id="9" name="Shape 7"/>
          <p:cNvSpPr/>
          <p:nvPr/>
        </p:nvSpPr>
        <p:spPr>
          <a:xfrm>
            <a:off x="4754880" y="1097280"/>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10" name="Text 8"/>
          <p:cNvSpPr/>
          <p:nvPr/>
        </p:nvSpPr>
        <p:spPr>
          <a:xfrm>
            <a:off x="4864608" y="1207008"/>
            <a:ext cx="457200" cy="457200"/>
          </a:xfrm>
          <a:prstGeom prst="rect">
            <a:avLst/>
          </a:prstGeom>
          <a:noFill/>
          <a:ln/>
        </p:spPr>
        <p:txBody>
          <a:bodyPr wrap="square" lIns="0" tIns="0" rIns="0" bIns="0" rtlCol="0" anchor="ctr"/>
          <a:lstStyle/>
          <a:p>
            <a:pPr marL="0" indent="0">
              <a:buNone/>
            </a:pPr>
            <a:endParaRPr lang="en-US" sz="1800" dirty="0"/>
          </a:p>
        </p:txBody>
      </p:sp>
      <p:sp>
        <p:nvSpPr>
          <p:cNvPr id="11" name="Text 9"/>
          <p:cNvSpPr/>
          <p:nvPr/>
        </p:nvSpPr>
        <p:spPr>
          <a:xfrm>
            <a:off x="5413248" y="1170432"/>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Real-Time Menu</a:t>
            </a:r>
            <a:endParaRPr lang="en-US" sz="1200" dirty="0"/>
          </a:p>
        </p:txBody>
      </p:sp>
      <p:sp>
        <p:nvSpPr>
          <p:cNvPr id="12" name="Text 10"/>
          <p:cNvSpPr/>
          <p:nvPr/>
        </p:nvSpPr>
        <p:spPr>
          <a:xfrm>
            <a:off x="5413248" y="1408176"/>
            <a:ext cx="3291840" cy="292608"/>
          </a:xfrm>
          <a:prstGeom prst="rect">
            <a:avLst/>
          </a:prstGeom>
          <a:noFill/>
          <a:ln/>
        </p:spPr>
        <p:txBody>
          <a:bodyPr wrap="square" lIns="0" tIns="0" rIns="0" bIns="0" rtlCol="0" anchor="ctr"/>
          <a:lstStyle/>
          <a:p>
            <a:pPr marL="0" indent="0">
              <a:buNone/>
            </a:pPr>
            <a:r>
              <a:rPr lang="en-US" sz="950" dirty="0">
                <a:solidFill>
                  <a:srgbClr val="6B6B60"/>
                </a:solidFill>
              </a:rPr>
              <a:t>Breakfast/Lunch/Dinner with live item status and remaining count</a:t>
            </a:r>
            <a:endParaRPr lang="en-US" sz="950" dirty="0"/>
          </a:p>
        </p:txBody>
      </p:sp>
      <p:sp>
        <p:nvSpPr>
          <p:cNvPr id="13" name="Shape 11"/>
          <p:cNvSpPr/>
          <p:nvPr/>
        </p:nvSpPr>
        <p:spPr>
          <a:xfrm>
            <a:off x="365760" y="1865376"/>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14" name="Text 12"/>
          <p:cNvSpPr/>
          <p:nvPr/>
        </p:nvSpPr>
        <p:spPr>
          <a:xfrm>
            <a:off x="475488" y="1975104"/>
            <a:ext cx="457200" cy="457200"/>
          </a:xfrm>
          <a:prstGeom prst="rect">
            <a:avLst/>
          </a:prstGeom>
          <a:noFill/>
          <a:ln/>
        </p:spPr>
        <p:txBody>
          <a:bodyPr wrap="square" lIns="0" tIns="0" rIns="0" bIns="0" rtlCol="0" anchor="ctr"/>
          <a:lstStyle/>
          <a:p>
            <a:pPr marL="0" indent="0">
              <a:buNone/>
            </a:pPr>
            <a:endParaRPr lang="en-US" sz="1800" dirty="0"/>
          </a:p>
        </p:txBody>
      </p:sp>
      <p:sp>
        <p:nvSpPr>
          <p:cNvPr id="15" name="Text 13"/>
          <p:cNvSpPr/>
          <p:nvPr/>
        </p:nvSpPr>
        <p:spPr>
          <a:xfrm>
            <a:off x="1024128" y="1938528"/>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Quick Status Update</a:t>
            </a:r>
            <a:endParaRPr lang="en-US" sz="1200" dirty="0"/>
          </a:p>
        </p:txBody>
      </p:sp>
      <p:sp>
        <p:nvSpPr>
          <p:cNvPr id="16" name="Text 14"/>
          <p:cNvSpPr/>
          <p:nvPr/>
        </p:nvSpPr>
        <p:spPr>
          <a:xfrm>
            <a:off x="1024128" y="2176272"/>
            <a:ext cx="3291840" cy="292608"/>
          </a:xfrm>
          <a:prstGeom prst="rect">
            <a:avLst/>
          </a:prstGeom>
          <a:noFill/>
          <a:ln/>
        </p:spPr>
        <p:txBody>
          <a:bodyPr wrap="square" lIns="0" tIns="0" rIns="0" bIns="0" rtlCol="0" anchor="ctr"/>
          <a:lstStyle/>
          <a:p>
            <a:pPr marL="0" indent="0">
              <a:buNone/>
            </a:pPr>
            <a:r>
              <a:rPr lang="en-US" sz="950" dirty="0">
                <a:solidFill>
                  <a:srgbClr val="6B6B60"/>
                </a:solidFill>
              </a:rPr>
              <a:t>Bulk status change: All Available / All Low / All Finished in one tap</a:t>
            </a:r>
            <a:endParaRPr lang="en-US" sz="950" dirty="0"/>
          </a:p>
        </p:txBody>
      </p:sp>
      <p:sp>
        <p:nvSpPr>
          <p:cNvPr id="17" name="Shape 15"/>
          <p:cNvSpPr/>
          <p:nvPr/>
        </p:nvSpPr>
        <p:spPr>
          <a:xfrm>
            <a:off x="4754880" y="1865376"/>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18" name="Text 16"/>
          <p:cNvSpPr/>
          <p:nvPr/>
        </p:nvSpPr>
        <p:spPr>
          <a:xfrm>
            <a:off x="4864608" y="1975104"/>
            <a:ext cx="457200" cy="457200"/>
          </a:xfrm>
          <a:prstGeom prst="rect">
            <a:avLst/>
          </a:prstGeom>
          <a:noFill/>
          <a:ln/>
        </p:spPr>
        <p:txBody>
          <a:bodyPr wrap="square" lIns="0" tIns="0" rIns="0" bIns="0" rtlCol="0" anchor="ctr"/>
          <a:lstStyle/>
          <a:p>
            <a:pPr marL="0" indent="0">
              <a:buNone/>
            </a:pPr>
            <a:endParaRPr lang="en-US" sz="1800" dirty="0"/>
          </a:p>
        </p:txBody>
      </p:sp>
      <p:sp>
        <p:nvSpPr>
          <p:cNvPr id="19" name="Text 17"/>
          <p:cNvSpPr/>
          <p:nvPr/>
        </p:nvSpPr>
        <p:spPr>
          <a:xfrm>
            <a:off x="5413248" y="1938528"/>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Live Serve Count</a:t>
            </a:r>
            <a:endParaRPr lang="en-US" sz="1200" dirty="0"/>
          </a:p>
        </p:txBody>
      </p:sp>
      <p:sp>
        <p:nvSpPr>
          <p:cNvPr id="20" name="Text 18"/>
          <p:cNvSpPr/>
          <p:nvPr/>
        </p:nvSpPr>
        <p:spPr>
          <a:xfrm>
            <a:off x="5413248" y="2176272"/>
            <a:ext cx="3291840" cy="292608"/>
          </a:xfrm>
          <a:prstGeom prst="rect">
            <a:avLst/>
          </a:prstGeom>
          <a:noFill/>
          <a:ln/>
        </p:spPr>
        <p:txBody>
          <a:bodyPr wrap="square" lIns="0" tIns="0" rIns="0" bIns="0" rtlCol="0" anchor="ctr"/>
          <a:lstStyle/>
          <a:p>
            <a:pPr marL="0" indent="0">
              <a:buNone/>
            </a:pPr>
            <a:r>
              <a:rPr lang="en-US" sz="950" dirty="0">
                <a:solidFill>
                  <a:srgbClr val="6B6B60"/>
                </a:solidFill>
              </a:rPr>
              <a:t>Tap − to serve one portion; status auto-updates at 0 and ≤10</a:t>
            </a:r>
            <a:endParaRPr lang="en-US" sz="950" dirty="0"/>
          </a:p>
        </p:txBody>
      </p:sp>
      <p:sp>
        <p:nvSpPr>
          <p:cNvPr id="21" name="Shape 19"/>
          <p:cNvSpPr/>
          <p:nvPr/>
        </p:nvSpPr>
        <p:spPr>
          <a:xfrm>
            <a:off x="365760" y="2633472"/>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txBody>
          <a:bodyPr/>
          <a:lstStyle/>
          <a:p>
            <a:endParaRPr lang="en-US" dirty="0"/>
          </a:p>
        </p:txBody>
      </p:sp>
      <p:sp>
        <p:nvSpPr>
          <p:cNvPr id="22" name="Text 20"/>
          <p:cNvSpPr/>
          <p:nvPr/>
        </p:nvSpPr>
        <p:spPr>
          <a:xfrm>
            <a:off x="475488" y="2743200"/>
            <a:ext cx="457200" cy="457200"/>
          </a:xfrm>
          <a:prstGeom prst="rect">
            <a:avLst/>
          </a:prstGeom>
          <a:noFill/>
          <a:ln/>
        </p:spPr>
        <p:txBody>
          <a:bodyPr wrap="square" lIns="0" tIns="0" rIns="0" bIns="0" rtlCol="0" anchor="ctr"/>
          <a:lstStyle/>
          <a:p>
            <a:pPr marL="0" indent="0">
              <a:buNone/>
            </a:pPr>
            <a:endParaRPr lang="en-US" sz="1800" dirty="0"/>
          </a:p>
        </p:txBody>
      </p:sp>
      <p:sp>
        <p:nvSpPr>
          <p:cNvPr id="23" name="Text 21"/>
          <p:cNvSpPr/>
          <p:nvPr/>
        </p:nvSpPr>
        <p:spPr>
          <a:xfrm>
            <a:off x="1024128" y="2706624"/>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Food Reviews</a:t>
            </a:r>
            <a:endParaRPr lang="en-US" sz="1200" dirty="0"/>
          </a:p>
        </p:txBody>
      </p:sp>
      <p:sp>
        <p:nvSpPr>
          <p:cNvPr id="24" name="Text 22"/>
          <p:cNvSpPr/>
          <p:nvPr/>
        </p:nvSpPr>
        <p:spPr>
          <a:xfrm>
            <a:off x="1024128" y="2944368"/>
            <a:ext cx="3291840" cy="292608"/>
          </a:xfrm>
          <a:prstGeom prst="rect">
            <a:avLst/>
          </a:prstGeom>
          <a:noFill/>
          <a:ln/>
        </p:spPr>
        <p:txBody>
          <a:bodyPr wrap="square" lIns="0" tIns="0" rIns="0" bIns="0" rtlCol="0" anchor="ctr"/>
          <a:lstStyle/>
          <a:p>
            <a:pPr marL="0" indent="0">
              <a:buNone/>
            </a:pPr>
            <a:r>
              <a:rPr lang="en-US" sz="950" dirty="0">
                <a:solidFill>
                  <a:srgbClr val="6B6B60"/>
                </a:solidFill>
              </a:rPr>
              <a:t>Star rating (1–5) + comment per food item, real-time via onSnapshot</a:t>
            </a:r>
            <a:endParaRPr lang="en-US" sz="950" dirty="0"/>
          </a:p>
        </p:txBody>
      </p:sp>
      <p:sp>
        <p:nvSpPr>
          <p:cNvPr id="25" name="Shape 23"/>
          <p:cNvSpPr/>
          <p:nvPr/>
        </p:nvSpPr>
        <p:spPr>
          <a:xfrm>
            <a:off x="4754880" y="2633472"/>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26" name="Text 24"/>
          <p:cNvSpPr/>
          <p:nvPr/>
        </p:nvSpPr>
        <p:spPr>
          <a:xfrm>
            <a:off x="4864608" y="2743200"/>
            <a:ext cx="457200" cy="457200"/>
          </a:xfrm>
          <a:prstGeom prst="rect">
            <a:avLst/>
          </a:prstGeom>
          <a:noFill/>
          <a:ln/>
        </p:spPr>
        <p:txBody>
          <a:bodyPr wrap="square" lIns="0" tIns="0" rIns="0" bIns="0" rtlCol="0" anchor="ctr"/>
          <a:lstStyle/>
          <a:p>
            <a:pPr marL="0" indent="0">
              <a:buNone/>
            </a:pPr>
            <a:endParaRPr lang="en-US" sz="1800" dirty="0"/>
          </a:p>
        </p:txBody>
      </p:sp>
      <p:sp>
        <p:nvSpPr>
          <p:cNvPr id="27" name="Text 25"/>
          <p:cNvSpPr/>
          <p:nvPr/>
        </p:nvSpPr>
        <p:spPr>
          <a:xfrm>
            <a:off x="5413248" y="2706624"/>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Notice System</a:t>
            </a:r>
            <a:endParaRPr lang="en-US" sz="1200" dirty="0"/>
          </a:p>
        </p:txBody>
      </p:sp>
      <p:sp>
        <p:nvSpPr>
          <p:cNvPr id="28" name="Text 26"/>
          <p:cNvSpPr/>
          <p:nvPr/>
        </p:nvSpPr>
        <p:spPr>
          <a:xfrm>
            <a:off x="5413248" y="2944368"/>
            <a:ext cx="3291840" cy="292608"/>
          </a:xfrm>
          <a:prstGeom prst="rect">
            <a:avLst/>
          </a:prstGeom>
          <a:noFill/>
          <a:ln/>
        </p:spPr>
        <p:txBody>
          <a:bodyPr wrap="square" lIns="0" tIns="0" rIns="0" bIns="0" rtlCol="0" anchor="ctr"/>
          <a:lstStyle/>
          <a:p>
            <a:pPr marL="0" indent="0">
              <a:buNone/>
            </a:pPr>
            <a:r>
              <a:rPr lang="en-US" sz="950" dirty="0">
                <a:solidFill>
                  <a:srgbClr val="6B6B60"/>
                </a:solidFill>
              </a:rPr>
              <a:t>Notices expire after set hours; getNotices() filters expired ones at read time</a:t>
            </a:r>
            <a:endParaRPr lang="en-US" sz="950" dirty="0"/>
          </a:p>
        </p:txBody>
      </p:sp>
      <p:sp>
        <p:nvSpPr>
          <p:cNvPr id="29" name="Shape 27"/>
          <p:cNvSpPr/>
          <p:nvPr/>
        </p:nvSpPr>
        <p:spPr>
          <a:xfrm>
            <a:off x="365760" y="3401568"/>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30" name="Text 28"/>
          <p:cNvSpPr/>
          <p:nvPr/>
        </p:nvSpPr>
        <p:spPr>
          <a:xfrm>
            <a:off x="475488" y="3511296"/>
            <a:ext cx="457200" cy="457200"/>
          </a:xfrm>
          <a:prstGeom prst="rect">
            <a:avLst/>
          </a:prstGeom>
          <a:noFill/>
          <a:ln/>
        </p:spPr>
        <p:txBody>
          <a:bodyPr wrap="square" lIns="0" tIns="0" rIns="0" bIns="0" rtlCol="0" anchor="ctr"/>
          <a:lstStyle/>
          <a:p>
            <a:pPr marL="0" indent="0">
              <a:buNone/>
            </a:pPr>
            <a:endParaRPr lang="en-US" sz="1800" dirty="0"/>
          </a:p>
        </p:txBody>
      </p:sp>
      <p:sp>
        <p:nvSpPr>
          <p:cNvPr id="31" name="Text 29"/>
          <p:cNvSpPr/>
          <p:nvPr/>
        </p:nvSpPr>
        <p:spPr>
          <a:xfrm>
            <a:off x="1024128" y="3474720"/>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Feast Management</a:t>
            </a:r>
            <a:endParaRPr lang="en-US" sz="1200" dirty="0"/>
          </a:p>
        </p:txBody>
      </p:sp>
      <p:sp>
        <p:nvSpPr>
          <p:cNvPr id="32" name="Text 30"/>
          <p:cNvSpPr/>
          <p:nvPr/>
        </p:nvSpPr>
        <p:spPr>
          <a:xfrm>
            <a:off x="1024128" y="3712464"/>
            <a:ext cx="3291840" cy="292608"/>
          </a:xfrm>
          <a:prstGeom prst="rect">
            <a:avLst/>
          </a:prstGeom>
          <a:noFill/>
          <a:ln/>
        </p:spPr>
        <p:txBody>
          <a:bodyPr wrap="square" lIns="0" tIns="0" rIns="0" bIns="0" rtlCol="0" anchor="ctr"/>
          <a:lstStyle/>
          <a:p>
            <a:pPr marL="0" indent="0">
              <a:buNone/>
            </a:pPr>
            <a:r>
              <a:rPr lang="en-US" sz="950" dirty="0">
                <a:solidFill>
                  <a:srgbClr val="6B6B60"/>
                </a:solidFill>
              </a:rPr>
              <a:t>Future-only feasts with date, menu, price and time range</a:t>
            </a:r>
            <a:endParaRPr lang="en-US" sz="950" dirty="0"/>
          </a:p>
        </p:txBody>
      </p:sp>
      <p:sp>
        <p:nvSpPr>
          <p:cNvPr id="33" name="Shape 31"/>
          <p:cNvSpPr/>
          <p:nvPr/>
        </p:nvSpPr>
        <p:spPr>
          <a:xfrm>
            <a:off x="4754880" y="3401568"/>
            <a:ext cx="4114800" cy="658368"/>
          </a:xfrm>
          <a:prstGeom prst="roundRect">
            <a:avLst>
              <a:gd name="adj" fmla="val 13889"/>
            </a:avLst>
          </a:prstGeom>
          <a:solidFill>
            <a:srgbClr val="FFFFFF"/>
          </a:solidFill>
          <a:ln/>
          <a:effectLst>
            <a:outerShdw blurRad="76200" dist="25400" dir="2700000" algn="bl" rotWithShape="0">
              <a:srgbClr val="000000">
                <a:alpha val="10000"/>
              </a:srgbClr>
            </a:outerShdw>
          </a:effectLst>
        </p:spPr>
      </p:sp>
      <p:sp>
        <p:nvSpPr>
          <p:cNvPr id="34" name="Text 32"/>
          <p:cNvSpPr/>
          <p:nvPr/>
        </p:nvSpPr>
        <p:spPr>
          <a:xfrm>
            <a:off x="4864608" y="3511296"/>
            <a:ext cx="457200" cy="457200"/>
          </a:xfrm>
          <a:prstGeom prst="rect">
            <a:avLst/>
          </a:prstGeom>
          <a:noFill/>
          <a:ln/>
        </p:spPr>
        <p:txBody>
          <a:bodyPr wrap="square" lIns="0" tIns="0" rIns="0" bIns="0" rtlCol="0" anchor="ctr"/>
          <a:lstStyle/>
          <a:p>
            <a:pPr marL="0" indent="0">
              <a:buNone/>
            </a:pPr>
            <a:endParaRPr lang="en-US" sz="1800" dirty="0"/>
          </a:p>
        </p:txBody>
      </p:sp>
      <p:sp>
        <p:nvSpPr>
          <p:cNvPr id="35" name="Text 33"/>
          <p:cNvSpPr/>
          <p:nvPr/>
        </p:nvSpPr>
        <p:spPr>
          <a:xfrm>
            <a:off x="5413248" y="3474720"/>
            <a:ext cx="3291840" cy="237744"/>
          </a:xfrm>
          <a:prstGeom prst="rect">
            <a:avLst/>
          </a:prstGeom>
          <a:noFill/>
          <a:ln/>
        </p:spPr>
        <p:txBody>
          <a:bodyPr wrap="square" lIns="0" tIns="0" rIns="0" bIns="0" rtlCol="0" anchor="ctr"/>
          <a:lstStyle/>
          <a:p>
            <a:pPr marL="0" indent="0">
              <a:buNone/>
            </a:pPr>
            <a:r>
              <a:rPr lang="en-US" sz="1200" b="1" dirty="0">
                <a:solidFill>
                  <a:srgbClr val="2D5A3D"/>
                </a:solidFill>
              </a:rPr>
              <a:t>Daily Reset</a:t>
            </a:r>
            <a:endParaRPr lang="en-US" sz="1200" dirty="0"/>
          </a:p>
        </p:txBody>
      </p:sp>
      <p:sp>
        <p:nvSpPr>
          <p:cNvPr id="36" name="Text 34"/>
          <p:cNvSpPr/>
          <p:nvPr/>
        </p:nvSpPr>
        <p:spPr>
          <a:xfrm>
            <a:off x="5413248" y="3712464"/>
            <a:ext cx="3291840" cy="292608"/>
          </a:xfrm>
          <a:prstGeom prst="rect">
            <a:avLst/>
          </a:prstGeom>
          <a:noFill/>
          <a:ln/>
        </p:spPr>
        <p:txBody>
          <a:bodyPr wrap="square" lIns="0" tIns="0" rIns="0" bIns="0" rtlCol="0" anchor="ctr"/>
          <a:lstStyle/>
          <a:p>
            <a:pPr marL="0" indent="0">
              <a:buNone/>
            </a:pPr>
            <a:r>
              <a:rPr lang="en-US" sz="950" dirty="0">
                <a:solidFill>
                  <a:srgbClr val="6B6B60"/>
                </a:solidFill>
              </a:rPr>
              <a:t>Duplicate yesterday's menu or clear everything — one-tap workflow</a:t>
            </a:r>
            <a:endParaRPr lang="en-US" sz="950" dirty="0"/>
          </a:p>
        </p:txBody>
      </p:sp>
      <p:sp>
        <p:nvSpPr>
          <p:cNvPr id="38" name="Text 36"/>
          <p:cNvSpPr/>
          <p:nvPr/>
        </p:nvSpPr>
        <p:spPr>
          <a:xfrm>
            <a:off x="475488" y="4279392"/>
            <a:ext cx="457200" cy="457200"/>
          </a:xfrm>
          <a:prstGeom prst="rect">
            <a:avLst/>
          </a:prstGeom>
          <a:noFill/>
          <a:ln/>
        </p:spPr>
        <p:txBody>
          <a:bodyPr wrap="square" lIns="0" tIns="0" rIns="0" bIns="0" rtlCol="0" anchor="ctr"/>
          <a:lstStyle/>
          <a:p>
            <a:pPr marL="0" indent="0">
              <a:buNone/>
            </a:pPr>
            <a:endParaRPr lang="en-US" sz="1800" dirty="0"/>
          </a:p>
        </p:txBody>
      </p:sp>
      <p:sp>
        <p:nvSpPr>
          <p:cNvPr id="39" name="Text 37"/>
          <p:cNvSpPr/>
          <p:nvPr/>
        </p:nvSpPr>
        <p:spPr>
          <a:xfrm>
            <a:off x="1024128" y="4242816"/>
            <a:ext cx="3291840" cy="237744"/>
          </a:xfrm>
          <a:prstGeom prst="rect">
            <a:avLst/>
          </a:prstGeom>
          <a:noFill/>
          <a:ln/>
        </p:spPr>
        <p:txBody>
          <a:bodyPr wrap="square" lIns="0" tIns="0" rIns="0" bIns="0" rtlCol="0" anchor="ctr"/>
          <a:lstStyle/>
          <a:p>
            <a:pPr marL="0" indent="0">
              <a:buNone/>
            </a:pPr>
            <a:endParaRPr lang="en-US" sz="1200" dirty="0"/>
          </a:p>
        </p:txBody>
      </p:sp>
      <p:sp>
        <p:nvSpPr>
          <p:cNvPr id="40" name="Text 38"/>
          <p:cNvSpPr/>
          <p:nvPr/>
        </p:nvSpPr>
        <p:spPr>
          <a:xfrm>
            <a:off x="1024128" y="4480560"/>
            <a:ext cx="3291840" cy="292608"/>
          </a:xfrm>
          <a:prstGeom prst="rect">
            <a:avLst/>
          </a:prstGeom>
          <a:noFill/>
          <a:ln/>
        </p:spPr>
        <p:txBody>
          <a:bodyPr wrap="square" lIns="0" tIns="0" rIns="0" bIns="0" rtlCol="0" anchor="ctr"/>
          <a:lstStyle/>
          <a:p>
            <a:pPr marL="0" indent="0">
              <a:buNone/>
            </a:pPr>
            <a:endParaRPr lang="en-US" sz="950" dirty="0"/>
          </a:p>
        </p:txBody>
      </p:sp>
      <p:sp>
        <p:nvSpPr>
          <p:cNvPr id="42" name="Text 40"/>
          <p:cNvSpPr/>
          <p:nvPr/>
        </p:nvSpPr>
        <p:spPr>
          <a:xfrm>
            <a:off x="4864608" y="4279392"/>
            <a:ext cx="457200" cy="457200"/>
          </a:xfrm>
          <a:prstGeom prst="rect">
            <a:avLst/>
          </a:prstGeom>
          <a:noFill/>
          <a:ln/>
        </p:spPr>
        <p:txBody>
          <a:bodyPr wrap="square" lIns="0" tIns="0" rIns="0" bIns="0" rtlCol="0" anchor="ctr"/>
          <a:lstStyle/>
          <a:p>
            <a:pPr marL="0" indent="0">
              <a:buNone/>
            </a:pPr>
            <a:endParaRPr lang="en-US" sz="1800" dirty="0"/>
          </a:p>
        </p:txBody>
      </p:sp>
      <p:sp>
        <p:nvSpPr>
          <p:cNvPr id="43" name="Text 41"/>
          <p:cNvSpPr/>
          <p:nvPr/>
        </p:nvSpPr>
        <p:spPr>
          <a:xfrm>
            <a:off x="5413248" y="4242816"/>
            <a:ext cx="3291840" cy="237744"/>
          </a:xfrm>
          <a:prstGeom prst="rect">
            <a:avLst/>
          </a:prstGeom>
          <a:noFill/>
          <a:ln/>
        </p:spPr>
        <p:txBody>
          <a:bodyPr wrap="square" lIns="0" tIns="0" rIns="0" bIns="0" rtlCol="0" anchor="ctr"/>
          <a:lstStyle/>
          <a:p>
            <a:pPr marL="0" indent="0">
              <a:buNone/>
            </a:pPr>
            <a:endParaRPr lang="en-US" sz="1200" dirty="0"/>
          </a:p>
        </p:txBody>
      </p:sp>
      <p:sp>
        <p:nvSpPr>
          <p:cNvPr id="44" name="Text 42"/>
          <p:cNvSpPr/>
          <p:nvPr/>
        </p:nvSpPr>
        <p:spPr>
          <a:xfrm>
            <a:off x="5413248" y="4480560"/>
            <a:ext cx="3291840" cy="292608"/>
          </a:xfrm>
          <a:prstGeom prst="rect">
            <a:avLst/>
          </a:prstGeom>
          <a:noFill/>
          <a:ln/>
        </p:spPr>
        <p:txBody>
          <a:bodyPr wrap="square" lIns="0" tIns="0" rIns="0" bIns="0" rtlCol="0" anchor="ctr"/>
          <a:lstStyle/>
          <a:p>
            <a:pPr marL="0" indent="0">
              <a:buNone/>
            </a:pP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A2E1F"/>
        </a:solidFill>
        <a:effectLst/>
      </p:bgPr>
    </p:bg>
    <p:spTree>
      <p:nvGrpSpPr>
        <p:cNvPr id="1" name=""/>
        <p:cNvGrpSpPr/>
        <p:nvPr/>
      </p:nvGrpSpPr>
      <p:grpSpPr>
        <a:xfrm>
          <a:off x="0" y="0"/>
          <a:ext cx="0" cy="0"/>
          <a:chOff x="0" y="0"/>
          <a:chExt cx="0" cy="0"/>
        </a:xfrm>
      </p:grpSpPr>
      <p:sp>
        <p:nvSpPr>
          <p:cNvPr id="4" name="Text 2"/>
          <p:cNvSpPr/>
          <p:nvPr/>
        </p:nvSpPr>
        <p:spPr>
          <a:xfrm>
            <a:off x="202411" y="124287"/>
            <a:ext cx="7772400" cy="503363"/>
          </a:xfrm>
          <a:prstGeom prst="rect">
            <a:avLst/>
          </a:prstGeom>
          <a:noFill/>
          <a:ln/>
        </p:spPr>
        <p:txBody>
          <a:bodyPr wrap="square" lIns="0" tIns="0" rIns="0" bIns="0" rtlCol="0" anchor="ctr"/>
          <a:lstStyle/>
          <a:p>
            <a:pPr marL="0" indent="0" algn="l">
              <a:buNone/>
            </a:pPr>
            <a:r>
              <a:rPr lang="en-US" sz="3800" b="1" dirty="0">
                <a:solidFill>
                  <a:srgbClr val="FFFFFF"/>
                </a:solidFill>
                <a:latin typeface="Cambria" pitchFamily="34" charset="0"/>
                <a:ea typeface="Cambria" pitchFamily="34" charset="-122"/>
                <a:cs typeface="Cambria" pitchFamily="34" charset="-120"/>
              </a:rPr>
              <a:t>Student-Facing Screens</a:t>
            </a:r>
            <a:endParaRPr lang="en-US" sz="3800" dirty="0"/>
          </a:p>
        </p:txBody>
      </p:sp>
      <p:sp>
        <p:nvSpPr>
          <p:cNvPr id="5" name="Text 3"/>
          <p:cNvSpPr/>
          <p:nvPr/>
        </p:nvSpPr>
        <p:spPr>
          <a:xfrm>
            <a:off x="548640" y="2743200"/>
            <a:ext cx="6858000" cy="640080"/>
          </a:xfrm>
          <a:prstGeom prst="rect">
            <a:avLst/>
          </a:prstGeom>
          <a:noFill/>
          <a:ln/>
        </p:spPr>
        <p:txBody>
          <a:bodyPr wrap="square" lIns="0" tIns="0" rIns="0" bIns="0" rtlCol="0" anchor="ctr"/>
          <a:lstStyle/>
          <a:p>
            <a:pPr marL="0" indent="0" algn="l">
              <a:buNone/>
            </a:pPr>
            <a:endParaRPr lang="en-US" sz="1600" dirty="0"/>
          </a:p>
        </p:txBody>
      </p:sp>
      <p:pic>
        <p:nvPicPr>
          <p:cNvPr id="6" name="Picture 5">
            <a:extLst>
              <a:ext uri="{FF2B5EF4-FFF2-40B4-BE49-F238E27FC236}">
                <a16:creationId xmlns:a16="http://schemas.microsoft.com/office/drawing/2014/main" id="{5B1FC1A3-7E9E-B739-0497-5C983BEEB746}"/>
              </a:ext>
            </a:extLst>
          </p:cNvPr>
          <p:cNvPicPr>
            <a:picLocks noChangeAspect="1"/>
          </p:cNvPicPr>
          <p:nvPr/>
        </p:nvPicPr>
        <p:blipFill>
          <a:blip r:embed="rId3"/>
          <a:stretch>
            <a:fillRect/>
          </a:stretch>
        </p:blipFill>
        <p:spPr>
          <a:xfrm>
            <a:off x="0" y="834501"/>
            <a:ext cx="9144000" cy="43089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Splash Screen, Onboarding &amp; Home</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App entry flow — no Firebase calls here</a:t>
            </a:r>
            <a:endParaRPr lang="en-US" sz="1100" dirty="0"/>
          </a:p>
        </p:txBody>
      </p:sp>
      <p:sp>
        <p:nvSpPr>
          <p:cNvPr id="5" name="Shape 3"/>
          <p:cNvSpPr/>
          <p:nvPr/>
        </p:nvSpPr>
        <p:spPr>
          <a:xfrm>
            <a:off x="274320" y="1143000"/>
            <a:ext cx="2743200" cy="3794760"/>
          </a:xfrm>
          <a:prstGeom prst="roundRect">
            <a:avLst>
              <a:gd name="adj" fmla="val 3333"/>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6" name="Text 4"/>
          <p:cNvSpPr/>
          <p:nvPr/>
        </p:nvSpPr>
        <p:spPr>
          <a:xfrm>
            <a:off x="365760" y="1207008"/>
            <a:ext cx="2560320" cy="365760"/>
          </a:xfrm>
          <a:prstGeom prst="rect">
            <a:avLst/>
          </a:prstGeom>
          <a:noFill/>
          <a:ln/>
        </p:spPr>
        <p:txBody>
          <a:bodyPr wrap="square" lIns="0" tIns="0" rIns="0" bIns="0" rtlCol="0" anchor="ctr"/>
          <a:lstStyle/>
          <a:p>
            <a:pPr marL="0" indent="0">
              <a:buNone/>
            </a:pPr>
            <a:r>
              <a:rPr lang="en-US" sz="1100" b="1" dirty="0">
                <a:solidFill>
                  <a:srgbClr val="2D5A3D"/>
                </a:solidFill>
                <a:latin typeface="Cambria" pitchFamily="34" charset="0"/>
                <a:ea typeface="Cambria" pitchFamily="34" charset="-122"/>
                <a:cs typeface="Cambria" pitchFamily="34" charset="-120"/>
              </a:rPr>
              <a:t>Splash Screen</a:t>
            </a:r>
            <a:endParaRPr lang="en-US" sz="1100" dirty="0"/>
          </a:p>
        </p:txBody>
      </p:sp>
      <p:sp>
        <p:nvSpPr>
          <p:cNvPr id="7" name="Text 5"/>
          <p:cNvSpPr/>
          <p:nvPr/>
        </p:nvSpPr>
        <p:spPr>
          <a:xfrm>
            <a:off x="365760" y="1600200"/>
            <a:ext cx="2560320" cy="201168"/>
          </a:xfrm>
          <a:prstGeom prst="rect">
            <a:avLst/>
          </a:prstGeom>
          <a:noFill/>
          <a:ln/>
        </p:spPr>
        <p:txBody>
          <a:bodyPr wrap="square" lIns="0" tIns="0" rIns="0" bIns="0" rtlCol="0" anchor="ctr"/>
          <a:lstStyle/>
          <a:p>
            <a:pPr marL="0" indent="0">
              <a:buNone/>
            </a:pPr>
            <a:r>
              <a:rPr lang="en-US" sz="900" b="1" dirty="0">
                <a:solidFill>
                  <a:srgbClr val="1E3A8A"/>
                </a:solidFill>
                <a:latin typeface="Calibri" pitchFamily="34" charset="0"/>
                <a:ea typeface="Calibri" pitchFamily="34" charset="-122"/>
                <a:cs typeface="Calibri" pitchFamily="34" charset="-120"/>
              </a:rPr>
              <a:t>Objective</a:t>
            </a:r>
            <a:endParaRPr lang="en-US" sz="900" dirty="0"/>
          </a:p>
        </p:txBody>
      </p:sp>
      <p:sp>
        <p:nvSpPr>
          <p:cNvPr id="8" name="Text 6"/>
          <p:cNvSpPr/>
          <p:nvPr/>
        </p:nvSpPr>
        <p:spPr>
          <a:xfrm>
            <a:off x="365760" y="1792224"/>
            <a:ext cx="2560320" cy="685800"/>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Display app logo + animated loading dots; route to Onboarding after 2 s</a:t>
            </a:r>
            <a:endParaRPr lang="en-US" sz="850" dirty="0"/>
          </a:p>
        </p:txBody>
      </p:sp>
      <p:sp>
        <p:nvSpPr>
          <p:cNvPr id="9" name="Text 7"/>
          <p:cNvSpPr/>
          <p:nvPr/>
        </p:nvSpPr>
        <p:spPr>
          <a:xfrm>
            <a:off x="365760" y="2496312"/>
            <a:ext cx="2560320" cy="201168"/>
          </a:xfrm>
          <a:prstGeom prst="rect">
            <a:avLst/>
          </a:prstGeom>
          <a:noFill/>
          <a:ln/>
        </p:spPr>
        <p:txBody>
          <a:bodyPr wrap="square" lIns="0" tIns="0" rIns="0" bIns="0" rtlCol="0" anchor="ctr"/>
          <a:lstStyle/>
          <a:p>
            <a:pPr marL="0" indent="0">
              <a:buNone/>
            </a:pPr>
            <a:r>
              <a:rPr lang="en-US" sz="900" b="1" dirty="0">
                <a:solidFill>
                  <a:srgbClr val="1E3A8A"/>
                </a:solidFill>
                <a:latin typeface="Calibri" pitchFamily="34" charset="0"/>
                <a:ea typeface="Calibri" pitchFamily="34" charset="-122"/>
                <a:cs typeface="Calibri" pitchFamily="34" charset="-120"/>
              </a:rPr>
              <a:t>UI &amp; Features</a:t>
            </a:r>
            <a:endParaRPr lang="en-US" sz="900" dirty="0"/>
          </a:p>
        </p:txBody>
      </p:sp>
      <p:sp>
        <p:nvSpPr>
          <p:cNvPr id="10" name="Text 8"/>
          <p:cNvSpPr/>
          <p:nvPr/>
        </p:nvSpPr>
        <p:spPr>
          <a:xfrm>
            <a:off x="365760" y="2706624"/>
            <a:ext cx="2560320" cy="1371600"/>
          </a:xfrm>
          <a:prstGeom prst="rect">
            <a:avLst/>
          </a:prstGeom>
          <a:noFill/>
          <a:ln/>
        </p:spPr>
        <p:txBody>
          <a:bodyPr wrap="square" lIns="0" tIns="0" rIns="0" bIns="0" rtlCol="0" anchor="t"/>
          <a:lstStyle/>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RU logo box (green)</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App name + tagline text</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3 animated loading dots</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2-second auto-navigation</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No Firebase call</a:t>
            </a:r>
            <a:endParaRPr lang="en-US" sz="800" dirty="0"/>
          </a:p>
        </p:txBody>
      </p:sp>
      <p:sp>
        <p:nvSpPr>
          <p:cNvPr id="11" name="Text 9"/>
          <p:cNvSpPr/>
          <p:nvPr/>
        </p:nvSpPr>
        <p:spPr>
          <a:xfrm>
            <a:off x="365760" y="4315968"/>
            <a:ext cx="2560320" cy="502920"/>
          </a:xfrm>
          <a:prstGeom prst="rect">
            <a:avLst/>
          </a:prstGeom>
          <a:noFill/>
          <a:ln/>
        </p:spPr>
        <p:txBody>
          <a:bodyPr wrap="square" lIns="0" tIns="0" rIns="0" bIns="0" rtlCol="0" anchor="ctr"/>
          <a:lstStyle/>
          <a:p>
            <a:pPr marL="0" indent="0">
              <a:buNone/>
            </a:pPr>
            <a:r>
              <a:rPr lang="en-US" sz="800" i="1" dirty="0">
                <a:solidFill>
                  <a:srgbClr val="555555"/>
                </a:solidFill>
                <a:latin typeface="Calibri" pitchFamily="34" charset="0"/>
                <a:ea typeface="Calibri" pitchFamily="34" charset="-122"/>
                <a:cs typeface="Calibri" pitchFamily="34" charset="-120"/>
              </a:rPr>
              <a:t>Nav: → Onboarding (router.replace)</a:t>
            </a:r>
            <a:endParaRPr lang="en-US" sz="800" dirty="0"/>
          </a:p>
        </p:txBody>
      </p:sp>
      <p:sp>
        <p:nvSpPr>
          <p:cNvPr id="12" name="Shape 10"/>
          <p:cNvSpPr/>
          <p:nvPr/>
        </p:nvSpPr>
        <p:spPr>
          <a:xfrm>
            <a:off x="3218688" y="1143000"/>
            <a:ext cx="2743200" cy="3794760"/>
          </a:xfrm>
          <a:prstGeom prst="roundRect">
            <a:avLst>
              <a:gd name="adj" fmla="val 3333"/>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13" name="Text 11"/>
          <p:cNvSpPr/>
          <p:nvPr/>
        </p:nvSpPr>
        <p:spPr>
          <a:xfrm>
            <a:off x="3310128" y="1207008"/>
            <a:ext cx="2560320" cy="365760"/>
          </a:xfrm>
          <a:prstGeom prst="rect">
            <a:avLst/>
          </a:prstGeom>
          <a:noFill/>
          <a:ln/>
        </p:spPr>
        <p:txBody>
          <a:bodyPr wrap="square" lIns="0" tIns="0" rIns="0" bIns="0" rtlCol="0" anchor="ctr"/>
          <a:lstStyle/>
          <a:p>
            <a:pPr marL="0" indent="0">
              <a:buNone/>
            </a:pPr>
            <a:r>
              <a:rPr lang="en-US" sz="1100" b="1" dirty="0">
                <a:solidFill>
                  <a:srgbClr val="2D5A3D"/>
                </a:solidFill>
                <a:latin typeface="Cambria" pitchFamily="34" charset="0"/>
                <a:ea typeface="Cambria" pitchFamily="34" charset="-122"/>
                <a:cs typeface="Cambria" pitchFamily="34" charset="-120"/>
              </a:rPr>
              <a:t>Onboarding Screen</a:t>
            </a:r>
            <a:endParaRPr lang="en-US" sz="1100" dirty="0"/>
          </a:p>
        </p:txBody>
      </p:sp>
      <p:sp>
        <p:nvSpPr>
          <p:cNvPr id="14" name="Text 12"/>
          <p:cNvSpPr/>
          <p:nvPr/>
        </p:nvSpPr>
        <p:spPr>
          <a:xfrm>
            <a:off x="3310128" y="1600200"/>
            <a:ext cx="2560320" cy="201168"/>
          </a:xfrm>
          <a:prstGeom prst="rect">
            <a:avLst/>
          </a:prstGeom>
          <a:noFill/>
          <a:ln/>
        </p:spPr>
        <p:txBody>
          <a:bodyPr wrap="square" lIns="0" tIns="0" rIns="0" bIns="0" rtlCol="0" anchor="ctr"/>
          <a:lstStyle/>
          <a:p>
            <a:pPr marL="0" indent="0">
              <a:buNone/>
            </a:pPr>
            <a:r>
              <a:rPr lang="en-US" sz="900" b="1" dirty="0">
                <a:solidFill>
                  <a:srgbClr val="1E3A8A"/>
                </a:solidFill>
                <a:latin typeface="Calibri" pitchFamily="34" charset="0"/>
                <a:ea typeface="Calibri" pitchFamily="34" charset="-122"/>
                <a:cs typeface="Calibri" pitchFamily="34" charset="-120"/>
              </a:rPr>
              <a:t>Objective</a:t>
            </a:r>
            <a:endParaRPr lang="en-US" sz="900" dirty="0"/>
          </a:p>
        </p:txBody>
      </p:sp>
      <p:sp>
        <p:nvSpPr>
          <p:cNvPr id="15" name="Text 13"/>
          <p:cNvSpPr/>
          <p:nvPr/>
        </p:nvSpPr>
        <p:spPr>
          <a:xfrm>
            <a:off x="3310128" y="1792224"/>
            <a:ext cx="2560320" cy="685800"/>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3-slide intro to app features; first-run experience</a:t>
            </a:r>
            <a:endParaRPr lang="en-US" sz="850" dirty="0"/>
          </a:p>
        </p:txBody>
      </p:sp>
      <p:sp>
        <p:nvSpPr>
          <p:cNvPr id="16" name="Text 14"/>
          <p:cNvSpPr/>
          <p:nvPr/>
        </p:nvSpPr>
        <p:spPr>
          <a:xfrm>
            <a:off x="3310128" y="2496312"/>
            <a:ext cx="2560320" cy="201168"/>
          </a:xfrm>
          <a:prstGeom prst="rect">
            <a:avLst/>
          </a:prstGeom>
          <a:noFill/>
          <a:ln/>
        </p:spPr>
        <p:txBody>
          <a:bodyPr wrap="square" lIns="0" tIns="0" rIns="0" bIns="0" rtlCol="0" anchor="ctr"/>
          <a:lstStyle/>
          <a:p>
            <a:pPr marL="0" indent="0">
              <a:buNone/>
            </a:pPr>
            <a:r>
              <a:rPr lang="en-US" sz="900" b="1" dirty="0">
                <a:solidFill>
                  <a:srgbClr val="1E3A8A"/>
                </a:solidFill>
                <a:latin typeface="Calibri" pitchFamily="34" charset="0"/>
                <a:ea typeface="Calibri" pitchFamily="34" charset="-122"/>
                <a:cs typeface="Calibri" pitchFamily="34" charset="-120"/>
              </a:rPr>
              <a:t>UI &amp; Features</a:t>
            </a:r>
            <a:endParaRPr lang="en-US" sz="900" dirty="0"/>
          </a:p>
        </p:txBody>
      </p:sp>
      <p:sp>
        <p:nvSpPr>
          <p:cNvPr id="17" name="Text 15"/>
          <p:cNvSpPr/>
          <p:nvPr/>
        </p:nvSpPr>
        <p:spPr>
          <a:xfrm>
            <a:off x="3310128" y="2706624"/>
            <a:ext cx="2560320" cy="1371600"/>
          </a:xfrm>
          <a:prstGeom prst="rect">
            <a:avLst/>
          </a:prstGeom>
          <a:noFill/>
          <a:ln/>
        </p:spPr>
        <p:txBody>
          <a:bodyPr wrap="square" lIns="0" tIns="0" rIns="0" bIns="0" rtlCol="0" anchor="t"/>
          <a:lstStyle/>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FlatList (pagingEnabled, scrollEnabled: false)</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Dot indicator row</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Next / Back / Skip / Get Started buttons</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3 slides: Welcome, Meals, Updates</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AsyncStorage hook commented (always shows)</a:t>
            </a:r>
            <a:endParaRPr lang="en-US" sz="800" dirty="0"/>
          </a:p>
        </p:txBody>
      </p:sp>
      <p:sp>
        <p:nvSpPr>
          <p:cNvPr id="18" name="Text 16"/>
          <p:cNvSpPr/>
          <p:nvPr/>
        </p:nvSpPr>
        <p:spPr>
          <a:xfrm>
            <a:off x="3310128" y="4315968"/>
            <a:ext cx="2560320" cy="502920"/>
          </a:xfrm>
          <a:prstGeom prst="rect">
            <a:avLst/>
          </a:prstGeom>
          <a:noFill/>
          <a:ln/>
        </p:spPr>
        <p:txBody>
          <a:bodyPr wrap="square" lIns="0" tIns="0" rIns="0" bIns="0" rtlCol="0" anchor="ctr"/>
          <a:lstStyle/>
          <a:p>
            <a:pPr marL="0" indent="0">
              <a:buNone/>
            </a:pPr>
            <a:r>
              <a:rPr lang="en-US" sz="800" i="1" dirty="0">
                <a:solidFill>
                  <a:srgbClr val="555555"/>
                </a:solidFill>
                <a:latin typeface="Calibri" pitchFamily="34" charset="0"/>
                <a:ea typeface="Calibri" pitchFamily="34" charset="-122"/>
                <a:cs typeface="Calibri" pitchFamily="34" charset="-120"/>
              </a:rPr>
              <a:t>Nav: → Home (router.replace)</a:t>
            </a:r>
            <a:endParaRPr lang="en-US" sz="800" dirty="0"/>
          </a:p>
        </p:txBody>
      </p:sp>
      <p:sp>
        <p:nvSpPr>
          <p:cNvPr id="19" name="Shape 17"/>
          <p:cNvSpPr/>
          <p:nvPr/>
        </p:nvSpPr>
        <p:spPr>
          <a:xfrm>
            <a:off x="6163056" y="1143000"/>
            <a:ext cx="2743200" cy="3794760"/>
          </a:xfrm>
          <a:prstGeom prst="roundRect">
            <a:avLst>
              <a:gd name="adj" fmla="val 3333"/>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20" name="Text 18"/>
          <p:cNvSpPr/>
          <p:nvPr/>
        </p:nvSpPr>
        <p:spPr>
          <a:xfrm>
            <a:off x="6254496" y="1207008"/>
            <a:ext cx="2560320" cy="365760"/>
          </a:xfrm>
          <a:prstGeom prst="rect">
            <a:avLst/>
          </a:prstGeom>
          <a:noFill/>
          <a:ln/>
        </p:spPr>
        <p:txBody>
          <a:bodyPr wrap="square" lIns="0" tIns="0" rIns="0" bIns="0" rtlCol="0" anchor="ctr"/>
          <a:lstStyle/>
          <a:p>
            <a:pPr marL="0" indent="0">
              <a:buNone/>
            </a:pPr>
            <a:r>
              <a:rPr lang="en-US" sz="1100" b="1" dirty="0">
                <a:solidFill>
                  <a:srgbClr val="2D5A3D"/>
                </a:solidFill>
                <a:latin typeface="Cambria" pitchFamily="34" charset="0"/>
                <a:ea typeface="Cambria" pitchFamily="34" charset="-122"/>
                <a:cs typeface="Cambria" pitchFamily="34" charset="-120"/>
              </a:rPr>
              <a:t>Home Screen</a:t>
            </a:r>
            <a:endParaRPr lang="en-US" sz="1100" dirty="0"/>
          </a:p>
        </p:txBody>
      </p:sp>
      <p:sp>
        <p:nvSpPr>
          <p:cNvPr id="21" name="Text 19"/>
          <p:cNvSpPr/>
          <p:nvPr/>
        </p:nvSpPr>
        <p:spPr>
          <a:xfrm>
            <a:off x="6254496" y="1600200"/>
            <a:ext cx="2560320" cy="201168"/>
          </a:xfrm>
          <a:prstGeom prst="rect">
            <a:avLst/>
          </a:prstGeom>
          <a:noFill/>
          <a:ln/>
        </p:spPr>
        <p:txBody>
          <a:bodyPr wrap="square" lIns="0" tIns="0" rIns="0" bIns="0" rtlCol="0" anchor="ctr"/>
          <a:lstStyle/>
          <a:p>
            <a:pPr marL="0" indent="0">
              <a:buNone/>
            </a:pPr>
            <a:r>
              <a:rPr lang="en-US" sz="900" b="1" dirty="0">
                <a:solidFill>
                  <a:srgbClr val="1E3A8A"/>
                </a:solidFill>
                <a:latin typeface="Calibri" pitchFamily="34" charset="0"/>
                <a:ea typeface="Calibri" pitchFamily="34" charset="-122"/>
                <a:cs typeface="Calibri" pitchFamily="34" charset="-120"/>
              </a:rPr>
              <a:t>Objective</a:t>
            </a:r>
            <a:endParaRPr lang="en-US" sz="900" dirty="0"/>
          </a:p>
        </p:txBody>
      </p:sp>
      <p:sp>
        <p:nvSpPr>
          <p:cNvPr id="22" name="Text 20"/>
          <p:cNvSpPr/>
          <p:nvPr/>
        </p:nvSpPr>
        <p:spPr>
          <a:xfrm>
            <a:off x="6254496" y="1792224"/>
            <a:ext cx="2560320" cy="685800"/>
          </a:xfrm>
          <a:prstGeom prst="rect">
            <a:avLst/>
          </a:prstGeom>
          <a:noFill/>
          <a:ln/>
        </p:spPr>
        <p:txBody>
          <a:bodyPr wrap="square" lIns="0" tIns="0" rIns="0" bIns="0" rtlCol="0" anchor="ctr"/>
          <a:lstStyle/>
          <a:p>
            <a:pPr marL="0" indent="0">
              <a:buNone/>
            </a:pPr>
            <a:r>
              <a:rPr lang="en-US" sz="850" dirty="0">
                <a:solidFill>
                  <a:srgbClr val="444444"/>
                </a:solidFill>
                <a:latin typeface="Calibri" pitchFamily="34" charset="0"/>
                <a:ea typeface="Calibri" pitchFamily="34" charset="-122"/>
                <a:cs typeface="Calibri" pitchFamily="34" charset="-120"/>
              </a:rPr>
              <a:t>Role selection gateway — Student or Moderator</a:t>
            </a:r>
            <a:endParaRPr lang="en-US" sz="850" dirty="0"/>
          </a:p>
        </p:txBody>
      </p:sp>
      <p:sp>
        <p:nvSpPr>
          <p:cNvPr id="23" name="Text 21"/>
          <p:cNvSpPr/>
          <p:nvPr/>
        </p:nvSpPr>
        <p:spPr>
          <a:xfrm>
            <a:off x="6254496" y="2496312"/>
            <a:ext cx="2560320" cy="201168"/>
          </a:xfrm>
          <a:prstGeom prst="rect">
            <a:avLst/>
          </a:prstGeom>
          <a:noFill/>
          <a:ln/>
        </p:spPr>
        <p:txBody>
          <a:bodyPr wrap="square" lIns="0" tIns="0" rIns="0" bIns="0" rtlCol="0" anchor="ctr"/>
          <a:lstStyle/>
          <a:p>
            <a:pPr marL="0" indent="0">
              <a:buNone/>
            </a:pPr>
            <a:r>
              <a:rPr lang="en-US" sz="900" b="1" dirty="0">
                <a:solidFill>
                  <a:srgbClr val="1E3A8A"/>
                </a:solidFill>
                <a:latin typeface="Calibri" pitchFamily="34" charset="0"/>
                <a:ea typeface="Calibri" pitchFamily="34" charset="-122"/>
                <a:cs typeface="Calibri" pitchFamily="34" charset="-120"/>
              </a:rPr>
              <a:t>UI &amp; Features</a:t>
            </a:r>
            <a:endParaRPr lang="en-US" sz="900" dirty="0"/>
          </a:p>
        </p:txBody>
      </p:sp>
      <p:sp>
        <p:nvSpPr>
          <p:cNvPr id="24" name="Text 22"/>
          <p:cNvSpPr/>
          <p:nvPr/>
        </p:nvSpPr>
        <p:spPr>
          <a:xfrm>
            <a:off x="6254496" y="2706624"/>
            <a:ext cx="2560320" cy="1371600"/>
          </a:xfrm>
          <a:prstGeom prst="rect">
            <a:avLst/>
          </a:prstGeom>
          <a:noFill/>
          <a:ln/>
        </p:spPr>
        <p:txBody>
          <a:bodyPr wrap="square" lIns="0" tIns="0" rIns="0" bIns="0" rtlCol="0" anchor="t"/>
          <a:lstStyle/>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Green brand card (RU logo)</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Two role cards (Student / Moderator)</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Role icon + name + desc + arrow</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Student → HallList</a:t>
            </a:r>
            <a:endParaRPr lang="en-US" sz="800" dirty="0"/>
          </a:p>
          <a:p>
            <a:pPr marL="342900" indent="-342900">
              <a:buSzPct val="100000"/>
              <a:buChar char="•"/>
            </a:pPr>
            <a:r>
              <a:rPr lang="en-US" sz="800" dirty="0">
                <a:solidFill>
                  <a:srgbClr val="333333"/>
                </a:solidFill>
                <a:latin typeface="Calibri" pitchFamily="34" charset="0"/>
                <a:ea typeface="Calibri" pitchFamily="34" charset="-122"/>
                <a:cs typeface="Calibri" pitchFamily="34" charset="-120"/>
              </a:rPr>
              <a:t>Moderator → ModeratorRole</a:t>
            </a:r>
            <a:endParaRPr lang="en-US" sz="800" dirty="0"/>
          </a:p>
        </p:txBody>
      </p:sp>
      <p:sp>
        <p:nvSpPr>
          <p:cNvPr id="25" name="Text 23"/>
          <p:cNvSpPr/>
          <p:nvPr/>
        </p:nvSpPr>
        <p:spPr>
          <a:xfrm>
            <a:off x="6254496" y="4315968"/>
            <a:ext cx="2560320" cy="502920"/>
          </a:xfrm>
          <a:prstGeom prst="rect">
            <a:avLst/>
          </a:prstGeom>
          <a:noFill/>
          <a:ln/>
        </p:spPr>
        <p:txBody>
          <a:bodyPr wrap="square" lIns="0" tIns="0" rIns="0" bIns="0" rtlCol="0" anchor="ctr"/>
          <a:lstStyle/>
          <a:p>
            <a:pPr marL="0" indent="0">
              <a:buNone/>
            </a:pPr>
            <a:r>
              <a:rPr lang="en-US" sz="800" i="1" dirty="0">
                <a:solidFill>
                  <a:srgbClr val="555555"/>
                </a:solidFill>
                <a:latin typeface="Calibri" pitchFamily="34" charset="0"/>
                <a:ea typeface="Calibri" pitchFamily="34" charset="-122"/>
                <a:cs typeface="Calibri" pitchFamily="34" charset="-120"/>
              </a:rPr>
              <a:t>Nav: Student → /HallList · Moderator → /ModeratorRole</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Hall List Screen &amp; Hall Detail Screen</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Core student viewing experience</a:t>
            </a:r>
            <a:endParaRPr lang="en-US" sz="1100" dirty="0"/>
          </a:p>
        </p:txBody>
      </p:sp>
      <p:sp>
        <p:nvSpPr>
          <p:cNvPr id="5" name="Shape 3"/>
          <p:cNvSpPr/>
          <p:nvPr/>
        </p:nvSpPr>
        <p:spPr>
          <a:xfrm>
            <a:off x="274320" y="1143000"/>
            <a:ext cx="4114800" cy="3794760"/>
          </a:xfrm>
          <a:prstGeom prst="roundRect">
            <a:avLst>
              <a:gd name="adj" fmla="val 1928"/>
            </a:avLst>
          </a:prstGeom>
          <a:solidFill>
            <a:srgbClr val="F8FAF8"/>
          </a:solidFill>
          <a:ln w="6350">
            <a:solidFill>
              <a:srgbClr val="E0E0E0"/>
            </a:solidFill>
            <a:prstDash val="solid"/>
          </a:ln>
          <a:effectLst>
            <a:outerShdw blurRad="101600" dist="38100" dir="2700000" algn="bl" rotWithShape="0">
              <a:srgbClr val="000000">
                <a:alpha val="12000"/>
              </a:srgbClr>
            </a:outerShdw>
          </a:effectLst>
        </p:spPr>
      </p:sp>
      <p:sp>
        <p:nvSpPr>
          <p:cNvPr id="6" name="Text 4"/>
          <p:cNvSpPr/>
          <p:nvPr/>
        </p:nvSpPr>
        <p:spPr>
          <a:xfrm>
            <a:off x="411480" y="1234440"/>
            <a:ext cx="3840480" cy="347472"/>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Hall List Screen</a:t>
            </a:r>
            <a:endParaRPr lang="en-US" sz="1200" dirty="0"/>
          </a:p>
        </p:txBody>
      </p:sp>
      <p:sp>
        <p:nvSpPr>
          <p:cNvPr id="7" name="Text 5"/>
          <p:cNvSpPr/>
          <p:nvPr/>
        </p:nvSpPr>
        <p:spPr>
          <a:xfrm>
            <a:off x="411480" y="1600200"/>
            <a:ext cx="3840480" cy="324612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Objective: Browse all 17 halls with search + Boys/Girls filter</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UI: FlatList, TextInput search bar, 3 filter chips, Feast &amp; Notice quick cards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Feature: 'Updated today' badge — parallel Promise.all() reads all 17 menus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API: getMenu(hallId, today) × 17 concurrent calls via Promise.all()</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DB: menus collection read; halls.js static list</a:t>
            </a:r>
            <a:endParaRPr lang="en-US" sz="1000" dirty="0"/>
          </a:p>
        </p:txBody>
      </p:sp>
      <p:sp>
        <p:nvSpPr>
          <p:cNvPr id="8" name="Text 6"/>
          <p:cNvSpPr/>
          <p:nvPr/>
        </p:nvSpPr>
        <p:spPr>
          <a:xfrm>
            <a:off x="411480" y="4681728"/>
            <a:ext cx="3840480" cy="219456"/>
          </a:xfrm>
          <a:prstGeom prst="rect">
            <a:avLst/>
          </a:prstGeom>
          <a:noFill/>
          <a:ln/>
        </p:spPr>
        <p:txBody>
          <a:bodyPr wrap="square" lIns="0" tIns="0" rIns="0" bIns="0" rtlCol="0" anchor="ctr"/>
          <a:lstStyle/>
          <a:p>
            <a:pPr marL="0" indent="0">
              <a:buNone/>
            </a:pPr>
            <a:endParaRPr lang="en-US" sz="850" dirty="0"/>
          </a:p>
        </p:txBody>
      </p:sp>
      <p:sp>
        <p:nvSpPr>
          <p:cNvPr id="9" name="Shape 7"/>
          <p:cNvSpPr/>
          <p:nvPr/>
        </p:nvSpPr>
        <p:spPr>
          <a:xfrm>
            <a:off x="4663440" y="1143000"/>
            <a:ext cx="4206240" cy="3794760"/>
          </a:xfrm>
          <a:prstGeom prst="roundRect">
            <a:avLst>
              <a:gd name="adj" fmla="val 1928"/>
            </a:avLst>
          </a:prstGeom>
          <a:solidFill>
            <a:srgbClr val="F8FAF8"/>
          </a:solidFill>
          <a:ln w="6350">
            <a:solidFill>
              <a:srgbClr val="E0E0E0"/>
            </a:solidFill>
            <a:prstDash val="solid"/>
          </a:ln>
          <a:effectLst>
            <a:outerShdw blurRad="101600" dist="38100" dir="2700000" algn="bl" rotWithShape="0">
              <a:srgbClr val="000000">
                <a:alpha val="12000"/>
              </a:srgbClr>
            </a:outerShdw>
          </a:effectLst>
        </p:spPr>
      </p:sp>
      <p:sp>
        <p:nvSpPr>
          <p:cNvPr id="10" name="Text 8"/>
          <p:cNvSpPr/>
          <p:nvPr/>
        </p:nvSpPr>
        <p:spPr>
          <a:xfrm>
            <a:off x="4800600" y="1234440"/>
            <a:ext cx="3931920" cy="347472"/>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Hall Detail Screen</a:t>
            </a:r>
            <a:endParaRPr lang="en-US" sz="1200" dirty="0"/>
          </a:p>
        </p:txBody>
      </p:sp>
      <p:sp>
        <p:nvSpPr>
          <p:cNvPr id="11" name="Text 9"/>
          <p:cNvSpPr/>
          <p:nvPr/>
        </p:nvSpPr>
        <p:spPr>
          <a:xfrm>
            <a:off x="4800600" y="1600200"/>
            <a:ext cx="3931920" cy="324612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Objective: Show today's complete Dining + Canteen menu for one hall</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UI: Expandable accordion cards (Dining / Canteen), meal tabs (Breakfast/Lunch/Dinner), item rows with status badges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Feature: Each item is tappable → FoodDetailScreen; NOT_UPDATED badge shown when meal data absent</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API: subscribeMenu(hallId, today) — real-time onSnapshot() listener</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DB: menus/{hallId}_{dateKey} — reads dining &amp; canteen sub-objects</a:t>
            </a:r>
            <a:endParaRPr lang="en-US" sz="1000" dirty="0"/>
          </a:p>
        </p:txBody>
      </p:sp>
      <p:sp>
        <p:nvSpPr>
          <p:cNvPr id="12" name="Text 10"/>
          <p:cNvSpPr/>
          <p:nvPr/>
        </p:nvSpPr>
        <p:spPr>
          <a:xfrm>
            <a:off x="4800600" y="4681728"/>
            <a:ext cx="3931920" cy="219456"/>
          </a:xfrm>
          <a:prstGeom prst="rect">
            <a:avLst/>
          </a:prstGeom>
          <a:noFill/>
          <a:ln/>
        </p:spPr>
        <p:txBody>
          <a:bodyPr wrap="square" lIns="0" tIns="0" rIns="0" bIns="0" rtlCol="0" anchor="ctr"/>
          <a:lstStyle/>
          <a:p>
            <a:pPr marL="0" indent="0">
              <a:buNone/>
            </a:pP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Global Food Search Screen</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Find any food item across all 17 halls instantly</a:t>
            </a:r>
            <a:endParaRPr lang="en-US" sz="1100" dirty="0"/>
          </a:p>
        </p:txBody>
      </p:sp>
      <p:sp>
        <p:nvSpPr>
          <p:cNvPr id="5" name="Shape 3"/>
          <p:cNvSpPr/>
          <p:nvPr/>
        </p:nvSpPr>
        <p:spPr>
          <a:xfrm>
            <a:off x="274320" y="1143000"/>
            <a:ext cx="8595360" cy="2560320"/>
          </a:xfrm>
          <a:prstGeom prst="roundRect">
            <a:avLst>
              <a:gd name="adj" fmla="val 1928"/>
            </a:avLst>
          </a:prstGeom>
          <a:solidFill>
            <a:srgbClr val="F8FAF8"/>
          </a:solidFill>
          <a:ln w="6350">
            <a:solidFill>
              <a:srgbClr val="E0E0E0"/>
            </a:solidFill>
            <a:prstDash val="solid"/>
          </a:ln>
          <a:effectLst>
            <a:outerShdw blurRad="101600" dist="38100" dir="2700000" algn="bl" rotWithShape="0">
              <a:srgbClr val="000000">
                <a:alpha val="12000"/>
              </a:srgbClr>
            </a:outerShdw>
          </a:effectLst>
        </p:spPr>
      </p:sp>
      <p:sp>
        <p:nvSpPr>
          <p:cNvPr id="6" name="Text 4"/>
          <p:cNvSpPr/>
          <p:nvPr/>
        </p:nvSpPr>
        <p:spPr>
          <a:xfrm>
            <a:off x="411480" y="1234440"/>
            <a:ext cx="8321760" cy="347472"/>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Global Food Search Screen</a:t>
            </a:r>
            <a:endParaRPr lang="en-US" sz="1200" dirty="0"/>
          </a:p>
        </p:txBody>
      </p:sp>
      <p:sp>
        <p:nvSpPr>
          <p:cNvPr id="7" name="Text 5"/>
          <p:cNvSpPr/>
          <p:nvPr/>
        </p:nvSpPr>
        <p:spPr>
          <a:xfrm>
            <a:off x="411480" y="1600200"/>
            <a:ext cx="8321760" cy="160020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Objective: Search for any food item by name across all 17 halls at once</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UI: TextInput search bar + FlatList results; mirrors HallListScreen's search pattern</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Feature: Fetches all 17 halls once on load, then filters client-side — instant results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API: getMenu(hallId, today) × 17 concurrent calls via Promise.all()</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Entry point: Linked from a quick-link card on HallListScreen; routed via _layout.js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DB: menus collection read across all halls; halls.js static list</a:t>
            </a:r>
            <a:endParaRPr lang="en-US" sz="1000" dirty="0"/>
          </a:p>
        </p:txBody>
      </p:sp>
      <p:sp>
        <p:nvSpPr>
          <p:cNvPr id="8" name="Text 6"/>
          <p:cNvSpPr/>
          <p:nvPr/>
        </p:nvSpPr>
        <p:spPr>
          <a:xfrm>
            <a:off x="411480" y="3383280"/>
            <a:ext cx="8321760" cy="219456"/>
          </a:xfrm>
          <a:prstGeom prst="rect">
            <a:avLst/>
          </a:prstGeom>
          <a:noFill/>
          <a:ln/>
        </p:spPr>
        <p:txBody>
          <a:bodyPr wrap="square" lIns="0" tIns="0" rIns="0" bIns="0" rtlCol="0" anchor="ctr"/>
          <a:lstStyle/>
          <a:p>
            <a:pPr marL="0" indent="0">
              <a:buNone/>
            </a:pP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Food Detail · Feast · Notices Screens</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Review system + content viewing</a:t>
            </a:r>
            <a:endParaRPr lang="en-US" sz="1100" dirty="0"/>
          </a:p>
        </p:txBody>
      </p:sp>
      <p:sp>
        <p:nvSpPr>
          <p:cNvPr id="5" name="Shape 3"/>
          <p:cNvSpPr/>
          <p:nvPr/>
        </p:nvSpPr>
        <p:spPr>
          <a:xfrm>
            <a:off x="274320" y="1143000"/>
            <a:ext cx="2788920" cy="365760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6" name="Text 4"/>
          <p:cNvSpPr/>
          <p:nvPr/>
        </p:nvSpPr>
        <p:spPr>
          <a:xfrm>
            <a:off x="384048"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Food Detail Screen</a:t>
            </a:r>
            <a:endParaRPr lang="en-US" sz="1050" dirty="0"/>
          </a:p>
        </p:txBody>
      </p:sp>
      <p:sp>
        <p:nvSpPr>
          <p:cNvPr id="7" name="Text 5"/>
          <p:cNvSpPr/>
          <p:nvPr/>
        </p:nvSpPr>
        <p:spPr>
          <a:xfrm>
            <a:off x="384048" y="1618488"/>
            <a:ext cx="2578608" cy="2697480"/>
          </a:xfrm>
          <a:prstGeom prst="rect">
            <a:avLst/>
          </a:prstGeom>
          <a:noFill/>
          <a:ln/>
        </p:spPr>
        <p:txBody>
          <a:bodyPr wrap="square" lIns="0" tIns="0" rIns="0" bIns="0" rtlCol="0" anchor="t"/>
          <a:lstStyle/>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Objective: View food info, submit star rating + comment, see all reviews</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UI: Food info card (emoji, price, status badge, avg rating), 5-star selector, TextInput comment, review list</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API: addDoc(foodReviews) on submit; onSnapshot() real-time review listener</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DB: foodReviews — hallId + dateKey + itemName compound query (needs composite index)</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Validation: Rating &gt; 0 required; comment must not be empty; Error: Alert on Firestore fail</a:t>
            </a:r>
            <a:endParaRPr lang="en-US" sz="800" dirty="0"/>
          </a:p>
        </p:txBody>
      </p:sp>
      <p:sp>
        <p:nvSpPr>
          <p:cNvPr id="8" name="Text 6"/>
          <p:cNvSpPr/>
          <p:nvPr/>
        </p:nvSpPr>
        <p:spPr>
          <a:xfrm>
            <a:off x="384048" y="4361688"/>
            <a:ext cx="2578608" cy="365760"/>
          </a:xfrm>
          <a:prstGeom prst="rect">
            <a:avLst/>
          </a:prstGeom>
          <a:noFill/>
          <a:ln/>
        </p:spPr>
        <p:txBody>
          <a:bodyPr wrap="square" lIns="0" tIns="0" rIns="0" bIns="0" rtlCol="0" anchor="ctr"/>
          <a:lstStyle/>
          <a:p>
            <a:pPr marL="0" indent="0">
              <a:buNone/>
            </a:pPr>
            <a:r>
              <a:rPr lang="en-US" sz="750" i="1" dirty="0">
                <a:solidFill>
                  <a:srgbClr val="888888"/>
                </a:solidFill>
                <a:latin typeface="Calibri" pitchFamily="34" charset="0"/>
                <a:ea typeface="Calibri" pitchFamily="34" charset="-122"/>
                <a:cs typeface="Calibri" pitchFamily="34" charset="-120"/>
              </a:rPr>
              <a:t>Security: No auth required — any student can review. Future: Student ID gate.</a:t>
            </a:r>
            <a:endParaRPr lang="en-US" sz="750" dirty="0"/>
          </a:p>
        </p:txBody>
      </p:sp>
      <p:sp>
        <p:nvSpPr>
          <p:cNvPr id="9" name="Shape 7"/>
          <p:cNvSpPr/>
          <p:nvPr/>
        </p:nvSpPr>
        <p:spPr>
          <a:xfrm>
            <a:off x="3218688" y="1143000"/>
            <a:ext cx="2788920" cy="365760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10" name="Text 8"/>
          <p:cNvSpPr/>
          <p:nvPr/>
        </p:nvSpPr>
        <p:spPr>
          <a:xfrm>
            <a:off x="3328416"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Feast Screen</a:t>
            </a:r>
            <a:endParaRPr lang="en-US" sz="1050" dirty="0"/>
          </a:p>
        </p:txBody>
      </p:sp>
      <p:sp>
        <p:nvSpPr>
          <p:cNvPr id="11" name="Text 9"/>
          <p:cNvSpPr/>
          <p:nvPr/>
        </p:nvSpPr>
        <p:spPr>
          <a:xfrm>
            <a:off x="3328416" y="1618488"/>
            <a:ext cx="2578608" cy="2697480"/>
          </a:xfrm>
          <a:prstGeom prst="rect">
            <a:avLst/>
          </a:prstGeom>
          <a:noFill/>
          <a:ln/>
        </p:spPr>
        <p:txBody>
          <a:bodyPr wrap="square" lIns="0" tIns="0" rIns="0" bIns="0" rtlCol="0" anchor="t"/>
          <a:lstStyle/>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Objective: Students see upcoming dining &amp; canteen feasts</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UI: Two accordion sections (Dining / Canteen), feast card with hall name, date, menu, price, countdown badge</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Feature: Past feasts filtered — only f.date &gt;= today shown</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API: getFeasts('dining') + getFeasts('canteen') via Promise.all()</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DB: feasts collection; filter by role field</a:t>
            </a:r>
            <a:endParaRPr lang="en-US" sz="800" dirty="0"/>
          </a:p>
        </p:txBody>
      </p:sp>
      <p:sp>
        <p:nvSpPr>
          <p:cNvPr id="12" name="Text 10"/>
          <p:cNvSpPr/>
          <p:nvPr/>
        </p:nvSpPr>
        <p:spPr>
          <a:xfrm>
            <a:off x="3328416" y="4361688"/>
            <a:ext cx="2578608" cy="365760"/>
          </a:xfrm>
          <a:prstGeom prst="rect">
            <a:avLst/>
          </a:prstGeom>
          <a:noFill/>
          <a:ln/>
        </p:spPr>
        <p:txBody>
          <a:bodyPr wrap="square" lIns="0" tIns="0" rIns="0" bIns="0" rtlCol="0" anchor="ctr"/>
          <a:lstStyle/>
          <a:p>
            <a:pPr marL="0" indent="0">
              <a:buNone/>
            </a:pPr>
            <a:r>
              <a:rPr lang="en-US" sz="750" i="1" dirty="0">
                <a:solidFill>
                  <a:srgbClr val="888888"/>
                </a:solidFill>
                <a:latin typeface="Calibri" pitchFamily="34" charset="0"/>
                <a:ea typeface="Calibri" pitchFamily="34" charset="-122"/>
                <a:cs typeface="Calibri" pitchFamily="34" charset="-120"/>
              </a:rPr>
              <a:t>Future: push notification 1 day before feast date.</a:t>
            </a:r>
            <a:endParaRPr lang="en-US" sz="750" dirty="0"/>
          </a:p>
        </p:txBody>
      </p:sp>
      <p:sp>
        <p:nvSpPr>
          <p:cNvPr id="13" name="Shape 11"/>
          <p:cNvSpPr/>
          <p:nvPr/>
        </p:nvSpPr>
        <p:spPr>
          <a:xfrm>
            <a:off x="6163056" y="1143000"/>
            <a:ext cx="2788920" cy="365760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14" name="Text 12"/>
          <p:cNvSpPr/>
          <p:nvPr/>
        </p:nvSpPr>
        <p:spPr>
          <a:xfrm>
            <a:off x="6272784"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Notices Screen</a:t>
            </a:r>
            <a:endParaRPr lang="en-US" sz="1050" dirty="0"/>
          </a:p>
        </p:txBody>
      </p:sp>
      <p:sp>
        <p:nvSpPr>
          <p:cNvPr id="15" name="Text 13"/>
          <p:cNvSpPr/>
          <p:nvPr/>
        </p:nvSpPr>
        <p:spPr>
          <a:xfrm>
            <a:off x="6272784" y="1618488"/>
            <a:ext cx="2578608" cy="2697480"/>
          </a:xfrm>
          <a:prstGeom prst="rect">
            <a:avLst/>
          </a:prstGeom>
          <a:noFill/>
          <a:ln/>
        </p:spPr>
        <p:txBody>
          <a:bodyPr wrap="square" lIns="0" tIns="0" rIns="0" bIns="0" rtlCol="0" anchor="t"/>
          <a:lstStyle/>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Objective: Students view active dining and canteen notices</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UI: Two accordion sections, notice card with type badge (emoji + color), title, message, hall, timestamp, expiry</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Feature: Expired notices auto-filtered at read time using createdAt + expiresIn hours</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API: getNotices('dining') + getNotices('canteen') via Promise.all()</a:t>
            </a:r>
            <a:endParaRPr lang="en-US" sz="800" dirty="0"/>
          </a:p>
          <a:p>
            <a:pPr marL="342900" indent="-342900">
              <a:spcAft>
                <a:spcPts val="200"/>
              </a:spcAft>
              <a:buSzPct val="100000"/>
              <a:buChar char="•"/>
            </a:pPr>
            <a:r>
              <a:rPr lang="en-US" sz="800" dirty="0">
                <a:solidFill>
                  <a:srgbClr val="333333"/>
                </a:solidFill>
                <a:latin typeface="Calibri" pitchFamily="34" charset="0"/>
                <a:ea typeface="Calibri" pitchFamily="34" charset="-122"/>
                <a:cs typeface="Calibri" pitchFamily="34" charset="-120"/>
              </a:rPr>
              <a:t>DB: notices collection; type field used as query filter</a:t>
            </a:r>
            <a:endParaRPr lang="en-US" sz="800" dirty="0"/>
          </a:p>
        </p:txBody>
      </p:sp>
      <p:sp>
        <p:nvSpPr>
          <p:cNvPr id="16" name="Text 14"/>
          <p:cNvSpPr/>
          <p:nvPr/>
        </p:nvSpPr>
        <p:spPr>
          <a:xfrm>
            <a:off x="6272784" y="4361688"/>
            <a:ext cx="2578608" cy="365760"/>
          </a:xfrm>
          <a:prstGeom prst="rect">
            <a:avLst/>
          </a:prstGeom>
          <a:noFill/>
          <a:ln/>
        </p:spPr>
        <p:txBody>
          <a:bodyPr wrap="square" lIns="0" tIns="0" rIns="0" bIns="0" rtlCol="0" anchor="ctr"/>
          <a:lstStyle/>
          <a:p>
            <a:pPr marL="0" indent="0">
              <a:buNone/>
            </a:pPr>
            <a:r>
              <a:rPr lang="en-US" sz="750" i="1" dirty="0">
                <a:solidFill>
                  <a:srgbClr val="888888"/>
                </a:solidFill>
                <a:latin typeface="Calibri" pitchFamily="34" charset="0"/>
                <a:ea typeface="Calibri" pitchFamily="34" charset="-122"/>
                <a:cs typeface="Calibri" pitchFamily="34" charset="-120"/>
              </a:rPr>
              <a:t>Error: Network fail → empty list with no crash. Graceful degradation.</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1A2E1F"/>
        </a:solidFill>
        <a:effectLst/>
      </p:bgPr>
    </p:bg>
    <p:spTree>
      <p:nvGrpSpPr>
        <p:cNvPr id="1" name=""/>
        <p:cNvGrpSpPr/>
        <p:nvPr/>
      </p:nvGrpSpPr>
      <p:grpSpPr>
        <a:xfrm>
          <a:off x="0" y="0"/>
          <a:ext cx="0" cy="0"/>
          <a:chOff x="0" y="0"/>
          <a:chExt cx="0" cy="0"/>
        </a:xfrm>
      </p:grpSpPr>
      <p:sp>
        <p:nvSpPr>
          <p:cNvPr id="4" name="Text 2"/>
          <p:cNvSpPr/>
          <p:nvPr/>
        </p:nvSpPr>
        <p:spPr>
          <a:xfrm>
            <a:off x="184656" y="129170"/>
            <a:ext cx="7772400" cy="556630"/>
          </a:xfrm>
          <a:prstGeom prst="rect">
            <a:avLst/>
          </a:prstGeom>
          <a:noFill/>
          <a:ln/>
        </p:spPr>
        <p:txBody>
          <a:bodyPr wrap="square" lIns="0" tIns="0" rIns="0" bIns="0" rtlCol="0" anchor="ctr"/>
          <a:lstStyle/>
          <a:p>
            <a:pPr marL="0" indent="0" algn="l">
              <a:buNone/>
            </a:pPr>
            <a:r>
              <a:rPr lang="en-US" sz="3800" b="1" dirty="0">
                <a:solidFill>
                  <a:srgbClr val="FFFFFF"/>
                </a:solidFill>
                <a:latin typeface="Cambria" pitchFamily="34" charset="0"/>
                <a:ea typeface="Cambria" pitchFamily="34" charset="-122"/>
                <a:cs typeface="Cambria" pitchFamily="34" charset="-120"/>
              </a:rPr>
              <a:t>Moderator-Facing Screens</a:t>
            </a:r>
            <a:endParaRPr lang="en-US" sz="3800" dirty="0"/>
          </a:p>
        </p:txBody>
      </p:sp>
      <p:sp>
        <p:nvSpPr>
          <p:cNvPr id="5" name="Text 3"/>
          <p:cNvSpPr/>
          <p:nvPr/>
        </p:nvSpPr>
        <p:spPr>
          <a:xfrm>
            <a:off x="548640" y="2743200"/>
            <a:ext cx="6858000" cy="640080"/>
          </a:xfrm>
          <a:prstGeom prst="rect">
            <a:avLst/>
          </a:prstGeom>
          <a:noFill/>
          <a:ln/>
        </p:spPr>
        <p:txBody>
          <a:bodyPr wrap="square" lIns="0" tIns="0" rIns="0" bIns="0" rtlCol="0" anchor="ctr"/>
          <a:lstStyle/>
          <a:p>
            <a:pPr marL="0" indent="0" algn="l">
              <a:buNone/>
            </a:pPr>
            <a:endParaRPr lang="en-US" sz="1600" dirty="0"/>
          </a:p>
        </p:txBody>
      </p:sp>
      <p:pic>
        <p:nvPicPr>
          <p:cNvPr id="6" name="Picture 5">
            <a:extLst>
              <a:ext uri="{FF2B5EF4-FFF2-40B4-BE49-F238E27FC236}">
                <a16:creationId xmlns:a16="http://schemas.microsoft.com/office/drawing/2014/main" id="{289CE9BF-88CA-F44A-6948-870B268343BB}"/>
              </a:ext>
            </a:extLst>
          </p:cNvPr>
          <p:cNvPicPr>
            <a:picLocks noChangeAspect="1"/>
          </p:cNvPicPr>
          <p:nvPr/>
        </p:nvPicPr>
        <p:blipFill>
          <a:blip r:embed="rId3"/>
          <a:stretch>
            <a:fillRect/>
          </a:stretch>
        </p:blipFill>
        <p:spPr>
          <a:xfrm>
            <a:off x="1" y="781234"/>
            <a:ext cx="7406640" cy="436226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Moderator Role, Login &amp; Dashboard</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Authentication flow + control panel</a:t>
            </a:r>
            <a:endParaRPr lang="en-US" sz="1100" dirty="0"/>
          </a:p>
        </p:txBody>
      </p:sp>
      <p:sp>
        <p:nvSpPr>
          <p:cNvPr id="5" name="Shape 3"/>
          <p:cNvSpPr/>
          <p:nvPr/>
        </p:nvSpPr>
        <p:spPr>
          <a:xfrm>
            <a:off x="274320"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6" name="Text 4"/>
          <p:cNvSpPr/>
          <p:nvPr/>
        </p:nvSpPr>
        <p:spPr>
          <a:xfrm>
            <a:off x="384048"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Moderator Role Screen</a:t>
            </a:r>
            <a:endParaRPr lang="en-US" sz="1050" dirty="0"/>
          </a:p>
        </p:txBody>
      </p:sp>
      <p:sp>
        <p:nvSpPr>
          <p:cNvPr id="7" name="Text 5"/>
          <p:cNvSpPr/>
          <p:nvPr/>
        </p:nvSpPr>
        <p:spPr>
          <a:xfrm>
            <a:off x="384048"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Select Dining or Canteen role to proceed</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Two role cards with colors (green/purple); Modal for password re-confirmation when session exists</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auth.currentUser check — if session active, show password confirm modal instead of login page</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getModeratorData(uid), signInWithEmailAndPassword() for re-auth</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Security: Password must be re-entered even with existing session</a:t>
            </a:r>
            <a:endParaRPr lang="en-US" sz="800" dirty="0"/>
          </a:p>
        </p:txBody>
      </p:sp>
      <p:sp>
        <p:nvSpPr>
          <p:cNvPr id="8" name="Shape 6"/>
          <p:cNvSpPr/>
          <p:nvPr/>
        </p:nvSpPr>
        <p:spPr>
          <a:xfrm>
            <a:off x="3218688"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9" name="Text 7"/>
          <p:cNvSpPr/>
          <p:nvPr/>
        </p:nvSpPr>
        <p:spPr>
          <a:xfrm>
            <a:off x="3328416"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Moderator Login Screen</a:t>
            </a:r>
            <a:endParaRPr lang="en-US" sz="1050" dirty="0"/>
          </a:p>
        </p:txBody>
      </p:sp>
      <p:sp>
        <p:nvSpPr>
          <p:cNvPr id="10" name="Text 8"/>
          <p:cNvSpPr/>
          <p:nvPr/>
        </p:nvSpPr>
        <p:spPr>
          <a:xfrm>
            <a:off x="3328416"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Email + password login for assigned moderator</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Role badge, email &amp; password TextInput, eye toggle, hint box showing email format</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Auto-appends @rudining.com if @ not present; role mismatch check after login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signInWithEmailAndPassword(auth, email, pass) + getModeratorData(uid)</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Validation: Empty field alert; role !== expected role → Alert + setLoading(false)</a:t>
            </a:r>
            <a:endParaRPr lang="en-US" sz="800" dirty="0"/>
          </a:p>
        </p:txBody>
      </p:sp>
      <p:sp>
        <p:nvSpPr>
          <p:cNvPr id="11" name="Shape 9"/>
          <p:cNvSpPr/>
          <p:nvPr/>
        </p:nvSpPr>
        <p:spPr>
          <a:xfrm>
            <a:off x="6163056"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12" name="Text 10"/>
          <p:cNvSpPr/>
          <p:nvPr/>
        </p:nvSpPr>
        <p:spPr>
          <a:xfrm>
            <a:off x="6272784"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Moderator Dashboard</a:t>
            </a:r>
            <a:endParaRPr lang="en-US" sz="1050" dirty="0"/>
          </a:p>
        </p:txBody>
      </p:sp>
      <p:sp>
        <p:nvSpPr>
          <p:cNvPr id="13" name="Text 11"/>
          <p:cNvSpPr/>
          <p:nvPr/>
        </p:nvSpPr>
        <p:spPr>
          <a:xfrm>
            <a:off x="6272784"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Central hub for all moderator actions</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Green/purple header card with hall name, role badge, date; Pressable menu cards with icon + description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isDining flag drives separate DINING_ITEMS vs CANTEEN_ITEMS menu lists</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signOut(auth) on logout → router.replace('/Home')</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Security: All params (hallId, role) passed via Expo Router params — no local storage</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Menu Editor &amp; Quick Status Screens</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Primary content management tools</a:t>
            </a:r>
            <a:endParaRPr lang="en-US" sz="1100" dirty="0"/>
          </a:p>
        </p:txBody>
      </p:sp>
      <p:sp>
        <p:nvSpPr>
          <p:cNvPr id="5" name="Shape 3"/>
          <p:cNvSpPr/>
          <p:nvPr/>
        </p:nvSpPr>
        <p:spPr>
          <a:xfrm>
            <a:off x="274320" y="1143000"/>
            <a:ext cx="4114800" cy="3794760"/>
          </a:xfrm>
          <a:prstGeom prst="roundRect">
            <a:avLst>
              <a:gd name="adj" fmla="val 1928"/>
            </a:avLst>
          </a:prstGeom>
          <a:solidFill>
            <a:srgbClr val="F8FAF8"/>
          </a:solidFill>
          <a:ln w="6350">
            <a:solidFill>
              <a:srgbClr val="E0E0E0"/>
            </a:solidFill>
            <a:prstDash val="solid"/>
          </a:ln>
          <a:effectLst>
            <a:outerShdw blurRad="101600" dist="38100" dir="2700000" algn="bl" rotWithShape="0">
              <a:srgbClr val="000000">
                <a:alpha val="12000"/>
              </a:srgbClr>
            </a:outerShdw>
          </a:effectLst>
        </p:spPr>
      </p:sp>
      <p:sp>
        <p:nvSpPr>
          <p:cNvPr id="6" name="Text 4"/>
          <p:cNvSpPr/>
          <p:nvPr/>
        </p:nvSpPr>
        <p:spPr>
          <a:xfrm>
            <a:off x="411480" y="1234440"/>
            <a:ext cx="3840480" cy="347472"/>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Menu Editor Screen (Dining)</a:t>
            </a:r>
            <a:endParaRPr lang="en-US" sz="1200" dirty="0"/>
          </a:p>
        </p:txBody>
      </p:sp>
      <p:sp>
        <p:nvSpPr>
          <p:cNvPr id="7" name="Text 5"/>
          <p:cNvSpPr/>
          <p:nvPr/>
        </p:nvSpPr>
        <p:spPr>
          <a:xfrm>
            <a:off x="411480" y="1600200"/>
            <a:ext cx="3840480" cy="324612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Objective: Create/edit Breakfast, Lunch, Dinner menus with items, prices, counts, and status</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UI: 3 meal tabs, time TextInput, per-item card (name/price/count/status chips), Note field, Preview, Save</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Feature: Preview renders student-side view before save; immutable state updates with spread operator</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API: getMenu() on load → saveDiningMenu() → logUpdate() on save</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Validation: Price ≥ 0 numeric check; count ≥ 0; blank items filtered on save</a:t>
            </a:r>
            <a:endParaRPr lang="en-US" sz="1000" dirty="0"/>
          </a:p>
        </p:txBody>
      </p:sp>
      <p:sp>
        <p:nvSpPr>
          <p:cNvPr id="8" name="Text 6"/>
          <p:cNvSpPr/>
          <p:nvPr/>
        </p:nvSpPr>
        <p:spPr>
          <a:xfrm>
            <a:off x="411480" y="4518148"/>
            <a:ext cx="3840480" cy="320040"/>
          </a:xfrm>
          <a:prstGeom prst="rect">
            <a:avLst/>
          </a:prstGeom>
          <a:noFill/>
          <a:ln/>
        </p:spPr>
        <p:txBody>
          <a:bodyPr wrap="square" lIns="0" tIns="0" rIns="0" bIns="0" rtlCol="0" anchor="ctr"/>
          <a:lstStyle/>
          <a:p>
            <a:pPr marL="0" indent="0">
              <a:buNone/>
            </a:pPr>
            <a:r>
              <a:rPr lang="en-US" sz="850" i="1" dirty="0">
                <a:solidFill>
                  <a:srgbClr val="888888"/>
                </a:solidFill>
                <a:latin typeface="Calibri" pitchFamily="34" charset="0"/>
                <a:ea typeface="Calibri" pitchFamily="34" charset="-122"/>
                <a:cs typeface="Calibri" pitchFamily="34" charset="-120"/>
              </a:rPr>
              <a:t>Canteen version: CanteenMenuEditorScreen — same pattern, single 'Canteen' section, no meal tabs.</a:t>
            </a:r>
            <a:endParaRPr lang="en-US" sz="850" dirty="0"/>
          </a:p>
        </p:txBody>
      </p:sp>
      <p:sp>
        <p:nvSpPr>
          <p:cNvPr id="9" name="Shape 7"/>
          <p:cNvSpPr/>
          <p:nvPr/>
        </p:nvSpPr>
        <p:spPr>
          <a:xfrm>
            <a:off x="4663440" y="1143000"/>
            <a:ext cx="4206240" cy="3794760"/>
          </a:xfrm>
          <a:prstGeom prst="roundRect">
            <a:avLst>
              <a:gd name="adj" fmla="val 1928"/>
            </a:avLst>
          </a:prstGeom>
          <a:solidFill>
            <a:srgbClr val="F8FAF8"/>
          </a:solidFill>
          <a:ln w="6350">
            <a:solidFill>
              <a:srgbClr val="E0E0E0"/>
            </a:solidFill>
            <a:prstDash val="solid"/>
          </a:ln>
          <a:effectLst>
            <a:outerShdw blurRad="101600" dist="38100" dir="2700000" algn="bl" rotWithShape="0">
              <a:srgbClr val="000000">
                <a:alpha val="12000"/>
              </a:srgbClr>
            </a:outerShdw>
          </a:effectLst>
        </p:spPr>
      </p:sp>
      <p:sp>
        <p:nvSpPr>
          <p:cNvPr id="10" name="Text 8"/>
          <p:cNvSpPr/>
          <p:nvPr/>
        </p:nvSpPr>
        <p:spPr>
          <a:xfrm>
            <a:off x="4800600" y="1234440"/>
            <a:ext cx="3931920" cy="347472"/>
          </a:xfrm>
          <a:prstGeom prst="rect">
            <a:avLst/>
          </a:prstGeom>
          <a:noFill/>
          <a:ln/>
        </p:spPr>
        <p:txBody>
          <a:bodyPr wrap="square" lIns="0" tIns="0" rIns="0" bIns="0" rtlCol="0" anchor="ctr"/>
          <a:lstStyle/>
          <a:p>
            <a:pPr marL="0" indent="0">
              <a:buNone/>
            </a:pPr>
            <a:r>
              <a:rPr lang="en-US" sz="1200" b="1" dirty="0">
                <a:solidFill>
                  <a:srgbClr val="2D5A3D"/>
                </a:solidFill>
                <a:latin typeface="Cambria" pitchFamily="34" charset="0"/>
                <a:ea typeface="Cambria" pitchFamily="34" charset="-122"/>
                <a:cs typeface="Cambria" pitchFamily="34" charset="-120"/>
              </a:rPr>
              <a:t>⚡ Quick Status Screen (Dining)</a:t>
            </a:r>
            <a:endParaRPr lang="en-US" sz="1200" dirty="0"/>
          </a:p>
        </p:txBody>
      </p:sp>
      <p:sp>
        <p:nvSpPr>
          <p:cNvPr id="11" name="Text 9"/>
          <p:cNvSpPr/>
          <p:nvPr/>
        </p:nvSpPr>
        <p:spPr>
          <a:xfrm>
            <a:off x="4800600" y="1600200"/>
            <a:ext cx="3931920" cy="3246120"/>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Objective: Rapidly update item status (Available / Low / Finished) without editing full menu</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UI: Per-meal card, 'All Available / Low / Finished' bulk buttons, count TextInput, 3-chip status row per item</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Feature: Bulk Apply sets all items in a meal to one status simultaneously</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API: getMenu() on load → quickUpdateDining(hallId, today, meals) on save</a:t>
            </a:r>
            <a:endParaRPr lang="en-US" sz="1000" dirty="0"/>
          </a:p>
          <a:p>
            <a:pPr marL="342900" indent="-342900">
              <a:spcAft>
                <a:spcPts val="300"/>
              </a:spcAft>
              <a:buSzPct val="100000"/>
              <a:buChar char="•"/>
            </a:pPr>
            <a:r>
              <a:rPr lang="en-US" sz="1000" dirty="0">
                <a:solidFill>
                  <a:srgbClr val="333333"/>
                </a:solidFill>
                <a:latin typeface="Calibri" pitchFamily="34" charset="0"/>
                <a:ea typeface="Calibri" pitchFamily="34" charset="-122"/>
                <a:cs typeface="Calibri" pitchFamily="34" charset="-120"/>
              </a:rPr>
              <a:t>Validation: Non-empty count; numeric parsing handled on save via Number()</a:t>
            </a:r>
            <a:endParaRPr lang="en-US" sz="1000" dirty="0"/>
          </a:p>
        </p:txBody>
      </p:sp>
      <p:sp>
        <p:nvSpPr>
          <p:cNvPr id="12" name="Text 10"/>
          <p:cNvSpPr/>
          <p:nvPr/>
        </p:nvSpPr>
        <p:spPr>
          <a:xfrm>
            <a:off x="4800600" y="4496300"/>
            <a:ext cx="3931920" cy="320040"/>
          </a:xfrm>
          <a:prstGeom prst="rect">
            <a:avLst/>
          </a:prstGeom>
          <a:noFill/>
          <a:ln/>
        </p:spPr>
        <p:txBody>
          <a:bodyPr wrap="square" lIns="0" tIns="0" rIns="0" bIns="0" rtlCol="0" anchor="ctr"/>
          <a:lstStyle/>
          <a:p>
            <a:pPr marL="0" indent="0">
              <a:buNone/>
            </a:pPr>
            <a:r>
              <a:rPr lang="en-US" sz="850" i="1" dirty="0">
                <a:solidFill>
                  <a:srgbClr val="888888"/>
                </a:solidFill>
                <a:latin typeface="Calibri" pitchFamily="34" charset="0"/>
                <a:ea typeface="Calibri" pitchFamily="34" charset="-122"/>
                <a:cs typeface="Calibri" pitchFamily="34" charset="-120"/>
              </a:rPr>
              <a:t>Canteen version: CanteenQuickStatusScreen — same logic, single items array, no meal loop.</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Available Food · Notice Editor · Feast Editor</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Live serving + content publishing</a:t>
            </a:r>
            <a:endParaRPr lang="en-US" sz="1100" dirty="0"/>
          </a:p>
        </p:txBody>
      </p:sp>
      <p:sp>
        <p:nvSpPr>
          <p:cNvPr id="5" name="Shape 3"/>
          <p:cNvSpPr/>
          <p:nvPr/>
        </p:nvSpPr>
        <p:spPr>
          <a:xfrm>
            <a:off x="274320"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6" name="Text 4"/>
          <p:cNvSpPr/>
          <p:nvPr/>
        </p:nvSpPr>
        <p:spPr>
          <a:xfrm>
            <a:off x="384048"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Available Food Screen</a:t>
            </a:r>
            <a:endParaRPr lang="en-US" sz="1050" dirty="0"/>
          </a:p>
        </p:txBody>
      </p:sp>
      <p:sp>
        <p:nvSpPr>
          <p:cNvPr id="7" name="Text 5"/>
          <p:cNvSpPr/>
          <p:nvPr/>
        </p:nvSpPr>
        <p:spPr>
          <a:xfrm>
            <a:off x="384048"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Real-time stock management — serve food and auto-reduce count</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Info banner, meal tabs (dining) or flat list (canteen), item cards with '−' serve &amp; '+1' restock buttons</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 serves (count−1, auto status); outlined '+1' restocks — fixes accidental over-serving</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getMenu() on load; upsertMenu() after each serve (updates entire dining/canteen object)</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Known Issue: Race condition if two moderators serve simultaneously — fix: Firestore increment()</a:t>
            </a:r>
            <a:endParaRPr lang="en-US" sz="800" dirty="0"/>
          </a:p>
        </p:txBody>
      </p:sp>
      <p:sp>
        <p:nvSpPr>
          <p:cNvPr id="8" name="Shape 6"/>
          <p:cNvSpPr/>
          <p:nvPr/>
        </p:nvSpPr>
        <p:spPr>
          <a:xfrm>
            <a:off x="3218688"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9" name="Text 7"/>
          <p:cNvSpPr/>
          <p:nvPr/>
        </p:nvSpPr>
        <p:spPr>
          <a:xfrm>
            <a:off x="3328416"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Notice Editor Screen</a:t>
            </a:r>
            <a:endParaRPr lang="en-US" sz="1050" dirty="0"/>
          </a:p>
        </p:txBody>
      </p:sp>
      <p:sp>
        <p:nvSpPr>
          <p:cNvPr id="10" name="Text 8"/>
          <p:cNvSpPr/>
          <p:nvPr/>
        </p:nvSpPr>
        <p:spPr>
          <a:xfrm>
            <a:off x="3328416"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Post a new dining or canteen notice with type, title, message, expiry</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Horizontal type chip selector (delay/shortage/closure/update/other), title &amp; message TextInput, expiry hours, 'Edit Notice' secondary button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Selected type shown with emoji badge; 'Edit Notice' links to EditNoticeScreen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postNotice(hallId, hallName, role, payload) → addDoc() to notices collection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Validation: message.trim() must not be empty; expiresIn defaults to 6 if omitted</a:t>
            </a:r>
            <a:endParaRPr lang="en-US" sz="800" dirty="0"/>
          </a:p>
        </p:txBody>
      </p:sp>
      <p:sp>
        <p:nvSpPr>
          <p:cNvPr id="11" name="Shape 9"/>
          <p:cNvSpPr/>
          <p:nvPr/>
        </p:nvSpPr>
        <p:spPr>
          <a:xfrm>
            <a:off x="6163056"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12" name="Text 10"/>
          <p:cNvSpPr/>
          <p:nvPr/>
        </p:nvSpPr>
        <p:spPr>
          <a:xfrm>
            <a:off x="6272784"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Feast Editor Screen</a:t>
            </a:r>
            <a:endParaRPr lang="en-US" sz="1050" dirty="0"/>
          </a:p>
        </p:txBody>
      </p:sp>
      <p:sp>
        <p:nvSpPr>
          <p:cNvPr id="13" name="Text 11"/>
          <p:cNvSpPr/>
          <p:nvPr/>
        </p:nvSpPr>
        <p:spPr>
          <a:xfrm>
            <a:off x="6272784"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Schedule a new feast event with date, title, time range, menu, price</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5 TextInput fields; 'Edit Feast' secondary button; Save Feast primary button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Menu entered comma-separated → stored as Array&lt;String&gt; in Firestore</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addFeast(hallId, hallName, role, payload) → addDoc() to feasts collection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Validation: date and title required; price parsed as Number; empty menu items filtered</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2D5A3D"/>
          </a:solidFill>
          <a:ln w="12700">
            <a:solidFill>
              <a:srgbClr val="2D5A3D"/>
            </a:solidFill>
            <a:prstDash val="solid"/>
          </a:ln>
        </p:spPr>
      </p:sp>
      <p:sp>
        <p:nvSpPr>
          <p:cNvPr id="3" name="Text 1"/>
          <p:cNvSpPr/>
          <p:nvPr/>
        </p:nvSpPr>
        <p:spPr>
          <a:xfrm>
            <a:off x="365760" y="109728"/>
            <a:ext cx="8229600" cy="502920"/>
          </a:xfrm>
          <a:prstGeom prst="rect">
            <a:avLst/>
          </a:prstGeom>
          <a:noFill/>
          <a:ln/>
        </p:spPr>
        <p:txBody>
          <a:bodyPr wrap="square" lIns="0" tIns="0" rIns="0" bIns="0" rtlCol="0" anchor="ctr"/>
          <a:lstStyle/>
          <a:p>
            <a:pPr marL="0" indent="0" algn="l">
              <a:buNone/>
            </a:pPr>
            <a:r>
              <a:rPr lang="en-US" sz="2200" b="1" dirty="0">
                <a:solidFill>
                  <a:srgbClr val="FFFFFF"/>
                </a:solidFill>
                <a:latin typeface="Cambria" pitchFamily="34" charset="0"/>
                <a:ea typeface="Cambria" pitchFamily="34" charset="-122"/>
                <a:cs typeface="Cambria" pitchFamily="34" charset="-120"/>
              </a:rPr>
              <a:t>Daily Reset · Edit Screens </a:t>
            </a:r>
            <a:endParaRPr lang="en-US" sz="2200" dirty="0"/>
          </a:p>
        </p:txBody>
      </p:sp>
      <p:sp>
        <p:nvSpPr>
          <p:cNvPr id="4" name="Text 2"/>
          <p:cNvSpPr/>
          <p:nvPr/>
        </p:nvSpPr>
        <p:spPr>
          <a:xfrm>
            <a:off x="365760" y="594360"/>
            <a:ext cx="8229600" cy="320040"/>
          </a:xfrm>
          <a:prstGeom prst="rect">
            <a:avLst/>
          </a:prstGeom>
          <a:noFill/>
          <a:ln/>
        </p:spPr>
        <p:txBody>
          <a:bodyPr wrap="square" lIns="0" tIns="0" rIns="0" bIns="0" rtlCol="0" anchor="ctr"/>
          <a:lstStyle/>
          <a:p>
            <a:pPr marL="0" indent="0">
              <a:buNone/>
            </a:pPr>
            <a:r>
              <a:rPr lang="en-US" sz="1100" dirty="0">
                <a:solidFill>
                  <a:srgbClr val="52B788"/>
                </a:solidFill>
                <a:latin typeface="Calibri" pitchFamily="34" charset="0"/>
                <a:ea typeface="Calibri" pitchFamily="34" charset="-122"/>
                <a:cs typeface="Calibri" pitchFamily="34" charset="-120"/>
              </a:rPr>
              <a:t>Day management + history tracking</a:t>
            </a:r>
            <a:endParaRPr lang="en-US" sz="1100" dirty="0"/>
          </a:p>
        </p:txBody>
      </p:sp>
      <p:sp>
        <p:nvSpPr>
          <p:cNvPr id="5" name="Shape 3"/>
          <p:cNvSpPr/>
          <p:nvPr/>
        </p:nvSpPr>
        <p:spPr>
          <a:xfrm>
            <a:off x="274320"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6" name="Text 4"/>
          <p:cNvSpPr/>
          <p:nvPr/>
        </p:nvSpPr>
        <p:spPr>
          <a:xfrm>
            <a:off x="384048"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Daily Reset Screen</a:t>
            </a:r>
            <a:endParaRPr lang="en-US" sz="1050" dirty="0"/>
          </a:p>
        </p:txBody>
      </p:sp>
      <p:sp>
        <p:nvSpPr>
          <p:cNvPr id="7" name="Text 5"/>
          <p:cNvSpPr/>
          <p:nvPr/>
        </p:nvSpPr>
        <p:spPr>
          <a:xfrm>
            <a:off x="384048"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Start a new day by copying yesterday's menu or clearing everything</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Two action cards — 'Duplicate Yesterday' (green) + 'Clear All' (red/danger)</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resetItemsForDuplicate() strips stale count → null &amp; status → available; keeps name/price/time</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duplicateYesterday() + upsertMenu() for clear (sets empty items arrays)</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Validation: Alert confirmation before both actions; 'No Data' alert if yesterday's doc missing</a:t>
            </a:r>
            <a:endParaRPr lang="en-US" sz="800" dirty="0"/>
          </a:p>
        </p:txBody>
      </p:sp>
      <p:sp>
        <p:nvSpPr>
          <p:cNvPr id="8" name="Shape 6"/>
          <p:cNvSpPr/>
          <p:nvPr/>
        </p:nvSpPr>
        <p:spPr>
          <a:xfrm>
            <a:off x="3218688" y="1143000"/>
            <a:ext cx="2788920" cy="3840480"/>
          </a:xfrm>
          <a:prstGeom prst="roundRect">
            <a:avLst>
              <a:gd name="adj" fmla="val 3279"/>
            </a:avLst>
          </a:prstGeom>
          <a:solidFill>
            <a:srgbClr val="F8FAF8"/>
          </a:solidFill>
          <a:ln w="6350">
            <a:solidFill>
              <a:srgbClr val="D5D5D5"/>
            </a:solidFill>
            <a:prstDash val="solid"/>
          </a:ln>
          <a:effectLst>
            <a:outerShdw blurRad="101600" dist="38100" dir="2700000" algn="bl" rotWithShape="0">
              <a:srgbClr val="000000">
                <a:alpha val="12000"/>
              </a:srgbClr>
            </a:outerShdw>
          </a:effectLst>
        </p:spPr>
      </p:sp>
      <p:sp>
        <p:nvSpPr>
          <p:cNvPr id="9" name="Text 7"/>
          <p:cNvSpPr/>
          <p:nvPr/>
        </p:nvSpPr>
        <p:spPr>
          <a:xfrm>
            <a:off x="3328416" y="1207008"/>
            <a:ext cx="2578608" cy="384048"/>
          </a:xfrm>
          <a:prstGeom prst="rect">
            <a:avLst/>
          </a:prstGeom>
          <a:noFill/>
          <a:ln/>
        </p:spPr>
        <p:txBody>
          <a:bodyPr wrap="square" lIns="0" tIns="0" rIns="0" bIns="0" rtlCol="0" anchor="ctr"/>
          <a:lstStyle/>
          <a:p>
            <a:pPr marL="0" indent="0">
              <a:buNone/>
            </a:pPr>
            <a:r>
              <a:rPr lang="en-US" sz="1050" b="1" dirty="0">
                <a:solidFill>
                  <a:srgbClr val="2D5A3D"/>
                </a:solidFill>
                <a:latin typeface="Cambria" pitchFamily="34" charset="0"/>
                <a:ea typeface="Cambria" pitchFamily="34" charset="-122"/>
                <a:cs typeface="Cambria" pitchFamily="34" charset="-120"/>
              </a:rPr>
              <a:t>📝 Edit Notice / Edit Feast</a:t>
            </a:r>
            <a:endParaRPr lang="en-US" sz="1050" dirty="0"/>
          </a:p>
        </p:txBody>
      </p:sp>
      <p:sp>
        <p:nvSpPr>
          <p:cNvPr id="10" name="Text 8"/>
          <p:cNvSpPr/>
          <p:nvPr/>
        </p:nvSpPr>
        <p:spPr>
          <a:xfrm>
            <a:off x="3328416" y="1618488"/>
            <a:ext cx="2578608" cy="3246120"/>
          </a:xfrm>
          <a:prstGeom prst="rect">
            <a:avLst/>
          </a:prstGeom>
          <a:noFill/>
          <a:ln/>
        </p:spPr>
        <p:txBody>
          <a:bodyPr wrap="square" lIns="0" tIns="0" rIns="0" bIns="0" rtlCol="0" anchor="t"/>
          <a:lstStyle/>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Objective: Browse all hall notices/feasts as cards, then edit or delete any one</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UI: List-mode cards (Edit/Delete each) → tap opens pre-filled edit form + Save Changes button</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Feature: Expired feasts shown dimmed below; upcoming feasts sorted to the top</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API: getNotices/getFeasts → filter by hallId → updateNotice/updateFeast or deleteNotice/deleteFeast</a:t>
            </a:r>
            <a:endParaRPr lang="en-US" sz="800" dirty="0"/>
          </a:p>
          <a:p>
            <a:pPr marL="342900" indent="-342900">
              <a:spcAft>
                <a:spcPts val="300"/>
              </a:spcAft>
              <a:buSzPct val="100000"/>
              <a:buChar char="•"/>
            </a:pPr>
            <a:r>
              <a:rPr lang="en-US" sz="800" dirty="0">
                <a:solidFill>
                  <a:srgbClr val="333333"/>
                </a:solidFill>
                <a:latin typeface="Calibri" pitchFamily="34" charset="0"/>
                <a:ea typeface="Calibri" pitchFamily="34" charset="-122"/>
                <a:cs typeface="Calibri" pitchFamily="34" charset="-120"/>
              </a:rPr>
              <a:t>Note: Same list-then-edit pattern used for both Edit Notice and Edit Feast screens</a:t>
            </a:r>
            <a:endParaRPr lang="en-US" sz="800" dirty="0"/>
          </a:p>
        </p:txBody>
      </p:sp>
      <p:sp>
        <p:nvSpPr>
          <p:cNvPr id="13" name="Text 11"/>
          <p:cNvSpPr/>
          <p:nvPr/>
        </p:nvSpPr>
        <p:spPr>
          <a:xfrm>
            <a:off x="6272784" y="1618488"/>
            <a:ext cx="2578608" cy="3246120"/>
          </a:xfrm>
          <a:prstGeom prst="rect">
            <a:avLst/>
          </a:prstGeom>
          <a:noFill/>
          <a:ln/>
        </p:spPr>
        <p:txBody>
          <a:bodyPr wrap="square" lIns="0" tIns="0" rIns="0" bIns="0" rtlCol="0" anchor="t"/>
          <a:lstStyle/>
          <a:p>
            <a:pPr marL="342900" indent="-342900">
              <a:spcAft>
                <a:spcPts val="300"/>
              </a:spcAft>
              <a:buSzPct val="100000"/>
              <a:buChar char="•"/>
            </a:pP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D871EE3-ADBE-958E-A8A5-588E715824D6}"/>
              </a:ext>
            </a:extLst>
          </p:cNvPr>
          <p:cNvPicPr>
            <a:picLocks noChangeAspect="1"/>
          </p:cNvPicPr>
          <p:nvPr/>
        </p:nvPicPr>
        <p:blipFill>
          <a:blip r:embed="rId2"/>
          <a:stretch>
            <a:fillRect/>
          </a:stretch>
        </p:blipFill>
        <p:spPr>
          <a:xfrm>
            <a:off x="-88777" y="0"/>
            <a:ext cx="9232777" cy="5619565"/>
          </a:xfrm>
          <a:prstGeom prst="rect">
            <a:avLst/>
          </a:prstGeom>
        </p:spPr>
      </p:pic>
    </p:spTree>
    <p:extLst>
      <p:ext uri="{BB962C8B-B14F-4D97-AF65-F5344CB8AC3E}">
        <p14:creationId xmlns:p14="http://schemas.microsoft.com/office/powerpoint/2010/main" val="29338377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A260C4-0F50-54B2-6E59-6206B0DD356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73594F85-A20C-3BF5-C4B0-274EF5F9130B}"/>
              </a:ext>
            </a:extLst>
          </p:cNvPr>
          <p:cNvSpPr/>
          <p:nvPr/>
        </p:nvSpPr>
        <p:spPr>
          <a:xfrm>
            <a:off x="0" y="0"/>
            <a:ext cx="9144000" cy="640080"/>
          </a:xfrm>
          <a:prstGeom prst="roundRect">
            <a:avLst>
              <a:gd name="adj" fmla="val 14286"/>
            </a:avLst>
          </a:prstGeom>
          <a:solidFill>
            <a:srgbClr val="2D5A3D"/>
          </a:solidFill>
          <a:ln/>
          <a:effectLst>
            <a:outerShdw blurRad="76200" dist="25400" dir="2700000" algn="bl" rotWithShape="0">
              <a:srgbClr val="000000">
                <a:alpha val="10000"/>
              </a:srgbClr>
            </a:outerShdw>
          </a:effectLst>
        </p:spPr>
      </p:sp>
      <p:sp>
        <p:nvSpPr>
          <p:cNvPr id="3" name="Text 1">
            <a:extLst>
              <a:ext uri="{FF2B5EF4-FFF2-40B4-BE49-F238E27FC236}">
                <a16:creationId xmlns:a16="http://schemas.microsoft.com/office/drawing/2014/main" id="{E7139925-4DB8-B191-B805-62284B855AEE}"/>
              </a:ext>
            </a:extLst>
          </p:cNvPr>
          <p:cNvSpPr/>
          <p:nvPr/>
        </p:nvSpPr>
        <p:spPr>
          <a:xfrm>
            <a:off x="365760" y="0"/>
            <a:ext cx="8229600" cy="256032"/>
          </a:xfrm>
          <a:prstGeom prst="rect">
            <a:avLst/>
          </a:prstGeom>
          <a:noFill/>
          <a:ln/>
        </p:spPr>
        <p:txBody>
          <a:bodyPr wrap="square" lIns="50800" tIns="50800" rIns="50800" bIns="50800" rtlCol="0" anchor="t"/>
          <a:lstStyle/>
          <a:p>
            <a:pPr marL="0" indent="0">
              <a:buNone/>
            </a:pPr>
            <a:r>
              <a:rPr lang="en-US" sz="900" dirty="0">
                <a:solidFill>
                  <a:srgbClr val="A8D5B5"/>
                </a:solidFill>
              </a:rPr>
              <a:t>08 · Database</a:t>
            </a:r>
            <a:endParaRPr lang="en-US" sz="900" dirty="0"/>
          </a:p>
        </p:txBody>
      </p:sp>
      <p:sp>
        <p:nvSpPr>
          <p:cNvPr id="4" name="Text 2">
            <a:extLst>
              <a:ext uri="{FF2B5EF4-FFF2-40B4-BE49-F238E27FC236}">
                <a16:creationId xmlns:a16="http://schemas.microsoft.com/office/drawing/2014/main" id="{E14278BB-9B97-685E-DFBF-5A4B906F686D}"/>
              </a:ext>
            </a:extLst>
          </p:cNvPr>
          <p:cNvSpPr/>
          <p:nvPr/>
        </p:nvSpPr>
        <p:spPr>
          <a:xfrm>
            <a:off x="365760" y="164592"/>
            <a:ext cx="8229600" cy="475488"/>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Database Overview — Firebase Firestore</a:t>
            </a:r>
            <a:endParaRPr lang="en-US" sz="2400" dirty="0"/>
          </a:p>
        </p:txBody>
      </p:sp>
      <p:sp>
        <p:nvSpPr>
          <p:cNvPr id="7" name="Text 5">
            <a:extLst>
              <a:ext uri="{FF2B5EF4-FFF2-40B4-BE49-F238E27FC236}">
                <a16:creationId xmlns:a16="http://schemas.microsoft.com/office/drawing/2014/main" id="{F08662D8-FEC2-4475-160A-A17EA59D0B65}"/>
              </a:ext>
            </a:extLst>
          </p:cNvPr>
          <p:cNvSpPr/>
          <p:nvPr/>
        </p:nvSpPr>
        <p:spPr>
          <a:xfrm>
            <a:off x="457200" y="868680"/>
            <a:ext cx="8686800" cy="4110228"/>
          </a:xfrm>
          <a:prstGeom prst="rect">
            <a:avLst/>
          </a:prstGeom>
          <a:noFill/>
          <a:ln/>
        </p:spPr>
        <p:txBody>
          <a:bodyPr wrap="square" lIns="0" tIns="0" rIns="0" bIns="0" rtlCol="0" anchor="ctr"/>
          <a:lstStyle/>
          <a:p>
            <a:pPr marL="0" indent="0" algn="ctr">
              <a:buNone/>
            </a:pPr>
            <a:r>
              <a:rPr lang="en-US" sz="1100" b="1" dirty="0">
                <a:solidFill>
                  <a:srgbClr val="FFFFFF"/>
                </a:solidFill>
              </a:rPr>
              <a:t>menus</a:t>
            </a:r>
            <a:endParaRPr lang="en-US" sz="1100" dirty="0"/>
          </a:p>
        </p:txBody>
      </p:sp>
      <p:sp>
        <p:nvSpPr>
          <p:cNvPr id="8" name="Text 6">
            <a:extLst>
              <a:ext uri="{FF2B5EF4-FFF2-40B4-BE49-F238E27FC236}">
                <a16:creationId xmlns:a16="http://schemas.microsoft.com/office/drawing/2014/main" id="{918086C8-D241-C983-962B-18F03973325C}"/>
              </a:ext>
            </a:extLst>
          </p:cNvPr>
          <p:cNvSpPr/>
          <p:nvPr/>
        </p:nvSpPr>
        <p:spPr>
          <a:xfrm>
            <a:off x="1188720" y="2999232"/>
            <a:ext cx="1463040" cy="201168"/>
          </a:xfrm>
          <a:prstGeom prst="rect">
            <a:avLst/>
          </a:prstGeom>
          <a:noFill/>
          <a:ln/>
        </p:spPr>
        <p:txBody>
          <a:bodyPr wrap="square" lIns="0" tIns="0" rIns="0" bIns="0" rtlCol="0" anchor="ctr"/>
          <a:lstStyle/>
          <a:p>
            <a:pPr marL="0" indent="0" algn="ctr">
              <a:buNone/>
            </a:pPr>
            <a:endParaRPr lang="en-US" sz="700" dirty="0"/>
          </a:p>
        </p:txBody>
      </p:sp>
      <p:sp>
        <p:nvSpPr>
          <p:cNvPr id="9" name="Text 7">
            <a:extLst>
              <a:ext uri="{FF2B5EF4-FFF2-40B4-BE49-F238E27FC236}">
                <a16:creationId xmlns:a16="http://schemas.microsoft.com/office/drawing/2014/main" id="{4C7DFE92-FF59-5EBE-91AF-CFEEB404AE97}"/>
              </a:ext>
            </a:extLst>
          </p:cNvPr>
          <p:cNvSpPr/>
          <p:nvPr/>
        </p:nvSpPr>
        <p:spPr>
          <a:xfrm>
            <a:off x="2011680" y="868680"/>
            <a:ext cx="5669280" cy="274320"/>
          </a:xfrm>
          <a:prstGeom prst="rect">
            <a:avLst/>
          </a:prstGeom>
          <a:noFill/>
          <a:ln/>
        </p:spPr>
        <p:txBody>
          <a:bodyPr wrap="square" lIns="0" tIns="0" rIns="0" bIns="0" rtlCol="0" anchor="ctr"/>
          <a:lstStyle/>
          <a:p>
            <a:pPr marL="0" indent="0">
              <a:buNone/>
            </a:pPr>
            <a:endParaRPr lang="en-US" sz="950" dirty="0"/>
          </a:p>
        </p:txBody>
      </p:sp>
      <p:sp>
        <p:nvSpPr>
          <p:cNvPr id="11" name="Text 9">
            <a:extLst>
              <a:ext uri="{FF2B5EF4-FFF2-40B4-BE49-F238E27FC236}">
                <a16:creationId xmlns:a16="http://schemas.microsoft.com/office/drawing/2014/main" id="{91A64076-179F-DD36-3A52-257083244B0B}"/>
              </a:ext>
            </a:extLst>
          </p:cNvPr>
          <p:cNvSpPr/>
          <p:nvPr/>
        </p:nvSpPr>
        <p:spPr>
          <a:xfrm>
            <a:off x="7772400" y="886968"/>
            <a:ext cx="914400" cy="402336"/>
          </a:xfrm>
          <a:prstGeom prst="rect">
            <a:avLst/>
          </a:prstGeom>
          <a:noFill/>
          <a:ln/>
        </p:spPr>
        <p:txBody>
          <a:bodyPr wrap="square" lIns="25400" tIns="25400" rIns="25400" bIns="25400" rtlCol="0" anchor="ctr"/>
          <a:lstStyle/>
          <a:p>
            <a:pPr marL="0" indent="0" algn="ctr">
              <a:buNone/>
            </a:pPr>
            <a:endParaRPr lang="en-US" sz="750" dirty="0"/>
          </a:p>
        </p:txBody>
      </p:sp>
      <p:sp>
        <p:nvSpPr>
          <p:cNvPr id="14" name="Text 12">
            <a:extLst>
              <a:ext uri="{FF2B5EF4-FFF2-40B4-BE49-F238E27FC236}">
                <a16:creationId xmlns:a16="http://schemas.microsoft.com/office/drawing/2014/main" id="{C5FD0ABB-2724-A26A-7C06-9F6AA67780F9}"/>
              </a:ext>
            </a:extLst>
          </p:cNvPr>
          <p:cNvSpPr/>
          <p:nvPr/>
        </p:nvSpPr>
        <p:spPr>
          <a:xfrm>
            <a:off x="457200" y="1572768"/>
            <a:ext cx="1463040" cy="219456"/>
          </a:xfrm>
          <a:prstGeom prst="rect">
            <a:avLst/>
          </a:prstGeom>
          <a:noFill/>
          <a:ln/>
        </p:spPr>
        <p:txBody>
          <a:bodyPr wrap="square" lIns="0" tIns="0" rIns="0" bIns="0" rtlCol="0" anchor="ctr"/>
          <a:lstStyle/>
          <a:p>
            <a:pPr marL="0" indent="0" algn="ctr">
              <a:buNone/>
            </a:pPr>
            <a:endParaRPr lang="en-US" sz="1100" dirty="0"/>
          </a:p>
        </p:txBody>
      </p:sp>
      <p:sp>
        <p:nvSpPr>
          <p:cNvPr id="16" name="Text 14">
            <a:extLst>
              <a:ext uri="{FF2B5EF4-FFF2-40B4-BE49-F238E27FC236}">
                <a16:creationId xmlns:a16="http://schemas.microsoft.com/office/drawing/2014/main" id="{5ECA76C4-2545-24DF-5143-0C084968CA0F}"/>
              </a:ext>
            </a:extLst>
          </p:cNvPr>
          <p:cNvSpPr/>
          <p:nvPr/>
        </p:nvSpPr>
        <p:spPr>
          <a:xfrm>
            <a:off x="2011680" y="1572768"/>
            <a:ext cx="5669280" cy="274320"/>
          </a:xfrm>
          <a:prstGeom prst="rect">
            <a:avLst/>
          </a:prstGeom>
          <a:noFill/>
          <a:ln/>
        </p:spPr>
        <p:txBody>
          <a:bodyPr wrap="square" lIns="0" tIns="0" rIns="0" bIns="0" rtlCol="0" anchor="ctr"/>
          <a:lstStyle/>
          <a:p>
            <a:pPr marL="0" indent="0">
              <a:buNone/>
            </a:pPr>
            <a:r>
              <a:rPr lang="en-US" sz="950" dirty="0">
                <a:solidFill>
                  <a:srgbClr val="FFFFFF"/>
                </a:solidFill>
              </a:rPr>
              <a:t>hallId  |  hallName  |  name  |  role (dining/canteen)  |  email  |  createdAt</a:t>
            </a:r>
            <a:endParaRPr lang="en-US" sz="950" dirty="0"/>
          </a:p>
        </p:txBody>
      </p:sp>
      <p:sp>
        <p:nvSpPr>
          <p:cNvPr id="18" name="Text 16">
            <a:extLst>
              <a:ext uri="{FF2B5EF4-FFF2-40B4-BE49-F238E27FC236}">
                <a16:creationId xmlns:a16="http://schemas.microsoft.com/office/drawing/2014/main" id="{0CA1A49B-91B7-1474-4464-90CC0775D97E}"/>
              </a:ext>
            </a:extLst>
          </p:cNvPr>
          <p:cNvSpPr/>
          <p:nvPr/>
        </p:nvSpPr>
        <p:spPr>
          <a:xfrm>
            <a:off x="7772400" y="1591056"/>
            <a:ext cx="914400" cy="402336"/>
          </a:xfrm>
          <a:prstGeom prst="rect">
            <a:avLst/>
          </a:prstGeom>
          <a:noFill/>
          <a:ln/>
        </p:spPr>
        <p:txBody>
          <a:bodyPr wrap="square" lIns="25400" tIns="25400" rIns="25400" bIns="25400" rtlCol="0" anchor="ctr"/>
          <a:lstStyle/>
          <a:p>
            <a:pPr marL="0" indent="0" algn="ctr">
              <a:buNone/>
            </a:pPr>
            <a:r>
              <a:rPr lang="en-US" sz="750" dirty="0">
                <a:solidFill>
                  <a:srgbClr val="A8D5B5"/>
                </a:solidFill>
              </a:rPr>
              <a:t>l.</a:t>
            </a:r>
            <a:endParaRPr lang="en-US" sz="750" dirty="0"/>
          </a:p>
        </p:txBody>
      </p:sp>
      <p:sp>
        <p:nvSpPr>
          <p:cNvPr id="21" name="Text 19">
            <a:extLst>
              <a:ext uri="{FF2B5EF4-FFF2-40B4-BE49-F238E27FC236}">
                <a16:creationId xmlns:a16="http://schemas.microsoft.com/office/drawing/2014/main" id="{EB4D8949-CD5F-2D6A-4F0D-E8413B3C5A39}"/>
              </a:ext>
            </a:extLst>
          </p:cNvPr>
          <p:cNvSpPr/>
          <p:nvPr/>
        </p:nvSpPr>
        <p:spPr>
          <a:xfrm>
            <a:off x="457200" y="2276856"/>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notices</a:t>
            </a:r>
            <a:endParaRPr lang="en-US" sz="1100" dirty="0"/>
          </a:p>
        </p:txBody>
      </p:sp>
      <p:sp>
        <p:nvSpPr>
          <p:cNvPr id="25" name="Text 23">
            <a:extLst>
              <a:ext uri="{FF2B5EF4-FFF2-40B4-BE49-F238E27FC236}">
                <a16:creationId xmlns:a16="http://schemas.microsoft.com/office/drawing/2014/main" id="{BCC4DF91-077E-E05B-65BB-0F8A2DE099BA}"/>
              </a:ext>
            </a:extLst>
          </p:cNvPr>
          <p:cNvSpPr/>
          <p:nvPr/>
        </p:nvSpPr>
        <p:spPr>
          <a:xfrm>
            <a:off x="7772400" y="2295144"/>
            <a:ext cx="914400" cy="402336"/>
          </a:xfrm>
          <a:prstGeom prst="rect">
            <a:avLst/>
          </a:prstGeom>
          <a:noFill/>
          <a:ln/>
        </p:spPr>
        <p:txBody>
          <a:bodyPr wrap="square" lIns="25400" tIns="25400" rIns="25400" bIns="25400" rtlCol="0" anchor="ctr"/>
          <a:lstStyle/>
          <a:p>
            <a:pPr marL="0" indent="0" algn="ctr">
              <a:buNone/>
            </a:pPr>
            <a:r>
              <a:rPr lang="en-US" sz="750" dirty="0">
                <a:solidFill>
                  <a:srgbClr val="A8D5B5"/>
                </a:solidFill>
              </a:rPr>
              <a:t>.</a:t>
            </a:r>
            <a:endParaRPr lang="en-US" sz="750" dirty="0"/>
          </a:p>
        </p:txBody>
      </p:sp>
      <p:sp>
        <p:nvSpPr>
          <p:cNvPr id="28" name="Text 26">
            <a:extLst>
              <a:ext uri="{FF2B5EF4-FFF2-40B4-BE49-F238E27FC236}">
                <a16:creationId xmlns:a16="http://schemas.microsoft.com/office/drawing/2014/main" id="{E95B0CF3-DB2A-A149-6947-04B898E76390}"/>
              </a:ext>
            </a:extLst>
          </p:cNvPr>
          <p:cNvSpPr/>
          <p:nvPr/>
        </p:nvSpPr>
        <p:spPr>
          <a:xfrm>
            <a:off x="457200" y="2980944"/>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feasts</a:t>
            </a:r>
            <a:endParaRPr lang="en-US" sz="1100" dirty="0"/>
          </a:p>
        </p:txBody>
      </p:sp>
      <p:sp>
        <p:nvSpPr>
          <p:cNvPr id="30" name="Text 28">
            <a:extLst>
              <a:ext uri="{FF2B5EF4-FFF2-40B4-BE49-F238E27FC236}">
                <a16:creationId xmlns:a16="http://schemas.microsoft.com/office/drawing/2014/main" id="{12256FBB-515A-945E-65BD-F69FF7832850}"/>
              </a:ext>
            </a:extLst>
          </p:cNvPr>
          <p:cNvSpPr/>
          <p:nvPr/>
        </p:nvSpPr>
        <p:spPr>
          <a:xfrm>
            <a:off x="365760" y="2965922"/>
            <a:ext cx="5669280" cy="274320"/>
          </a:xfrm>
          <a:prstGeom prst="rect">
            <a:avLst/>
          </a:prstGeom>
          <a:noFill/>
          <a:ln/>
        </p:spPr>
        <p:txBody>
          <a:bodyPr wrap="square" lIns="0" tIns="0" rIns="0" bIns="0" rtlCol="0" anchor="ctr"/>
          <a:lstStyle/>
          <a:p>
            <a:pPr marL="0" indent="0">
              <a:buNone/>
            </a:pPr>
            <a:endParaRPr lang="en-US" sz="950" dirty="0"/>
          </a:p>
        </p:txBody>
      </p:sp>
      <p:sp>
        <p:nvSpPr>
          <p:cNvPr id="32" name="Text 30">
            <a:extLst>
              <a:ext uri="{FF2B5EF4-FFF2-40B4-BE49-F238E27FC236}">
                <a16:creationId xmlns:a16="http://schemas.microsoft.com/office/drawing/2014/main" id="{C4631F02-4913-CD18-6683-D6F0F0B5B090}"/>
              </a:ext>
            </a:extLst>
          </p:cNvPr>
          <p:cNvSpPr/>
          <p:nvPr/>
        </p:nvSpPr>
        <p:spPr>
          <a:xfrm>
            <a:off x="7772400" y="2999232"/>
            <a:ext cx="914400" cy="402336"/>
          </a:xfrm>
          <a:prstGeom prst="rect">
            <a:avLst/>
          </a:prstGeom>
          <a:noFill/>
          <a:ln/>
        </p:spPr>
        <p:txBody>
          <a:bodyPr wrap="square" lIns="25400" tIns="25400" rIns="25400" bIns="25400" rtlCol="0" anchor="ctr"/>
          <a:lstStyle/>
          <a:p>
            <a:pPr marL="0" indent="0" algn="ctr">
              <a:buNone/>
            </a:pPr>
            <a:endParaRPr lang="en-US" sz="750" dirty="0"/>
          </a:p>
        </p:txBody>
      </p:sp>
      <p:sp>
        <p:nvSpPr>
          <p:cNvPr id="35" name="Text 33">
            <a:extLst>
              <a:ext uri="{FF2B5EF4-FFF2-40B4-BE49-F238E27FC236}">
                <a16:creationId xmlns:a16="http://schemas.microsoft.com/office/drawing/2014/main" id="{00DA1CA5-9ECA-45BD-F687-25E51A33901F}"/>
              </a:ext>
            </a:extLst>
          </p:cNvPr>
          <p:cNvSpPr/>
          <p:nvPr/>
        </p:nvSpPr>
        <p:spPr>
          <a:xfrm>
            <a:off x="457200" y="3685032"/>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updateHistory</a:t>
            </a:r>
            <a:endParaRPr lang="en-US" sz="1100" dirty="0"/>
          </a:p>
        </p:txBody>
      </p:sp>
      <p:sp>
        <p:nvSpPr>
          <p:cNvPr id="37" name="Text 35">
            <a:extLst>
              <a:ext uri="{FF2B5EF4-FFF2-40B4-BE49-F238E27FC236}">
                <a16:creationId xmlns:a16="http://schemas.microsoft.com/office/drawing/2014/main" id="{44F3EEDC-8BC5-AED4-3BB6-C2846BF69704}"/>
              </a:ext>
            </a:extLst>
          </p:cNvPr>
          <p:cNvSpPr/>
          <p:nvPr/>
        </p:nvSpPr>
        <p:spPr>
          <a:xfrm>
            <a:off x="2011680" y="3685032"/>
            <a:ext cx="5669280" cy="274320"/>
          </a:xfrm>
          <a:prstGeom prst="rect">
            <a:avLst/>
          </a:prstGeom>
          <a:noFill/>
          <a:ln/>
        </p:spPr>
        <p:txBody>
          <a:bodyPr wrap="square" lIns="0" tIns="0" rIns="0" bIns="0" rtlCol="0" anchor="ctr"/>
          <a:lstStyle/>
          <a:p>
            <a:pPr marL="0" indent="0">
              <a:buNone/>
            </a:pPr>
            <a:r>
              <a:rPr lang="en-US" sz="950" dirty="0">
                <a:solidFill>
                  <a:srgbClr val="FFFFFF"/>
                </a:solidFill>
              </a:rPr>
              <a:t>hallId  |  moderatorName  |  role  |  action  |  timestamp</a:t>
            </a:r>
            <a:endParaRPr lang="en-US" sz="950" dirty="0"/>
          </a:p>
        </p:txBody>
      </p:sp>
      <p:sp>
        <p:nvSpPr>
          <p:cNvPr id="39" name="Text 37">
            <a:extLst>
              <a:ext uri="{FF2B5EF4-FFF2-40B4-BE49-F238E27FC236}">
                <a16:creationId xmlns:a16="http://schemas.microsoft.com/office/drawing/2014/main" id="{09D9B1DD-A9FC-0CFC-5F0B-A9F58CE482F2}"/>
              </a:ext>
            </a:extLst>
          </p:cNvPr>
          <p:cNvSpPr/>
          <p:nvPr/>
        </p:nvSpPr>
        <p:spPr>
          <a:xfrm>
            <a:off x="7772400" y="3703320"/>
            <a:ext cx="914400" cy="402336"/>
          </a:xfrm>
          <a:prstGeom prst="rect">
            <a:avLst/>
          </a:prstGeom>
          <a:noFill/>
          <a:ln/>
        </p:spPr>
        <p:txBody>
          <a:bodyPr wrap="square" lIns="25400" tIns="25400" rIns="25400" bIns="25400" rtlCol="0" anchor="ctr"/>
          <a:lstStyle/>
          <a:p>
            <a:pPr marL="0" indent="0" algn="ctr">
              <a:buNone/>
            </a:pPr>
            <a:endParaRPr lang="en-US" sz="750" dirty="0"/>
          </a:p>
        </p:txBody>
      </p:sp>
      <p:sp>
        <p:nvSpPr>
          <p:cNvPr id="42" name="Text 40">
            <a:extLst>
              <a:ext uri="{FF2B5EF4-FFF2-40B4-BE49-F238E27FC236}">
                <a16:creationId xmlns:a16="http://schemas.microsoft.com/office/drawing/2014/main" id="{E6EF8234-A2AF-7A68-9E11-821FF10EDB6B}"/>
              </a:ext>
            </a:extLst>
          </p:cNvPr>
          <p:cNvSpPr/>
          <p:nvPr/>
        </p:nvSpPr>
        <p:spPr>
          <a:xfrm>
            <a:off x="457200" y="4389120"/>
            <a:ext cx="1463040" cy="219456"/>
          </a:xfrm>
          <a:prstGeom prst="rect">
            <a:avLst/>
          </a:prstGeom>
          <a:noFill/>
          <a:ln/>
        </p:spPr>
        <p:txBody>
          <a:bodyPr wrap="square" lIns="0" tIns="0" rIns="0" bIns="0" rtlCol="0" anchor="ctr"/>
          <a:lstStyle/>
          <a:p>
            <a:pPr marL="0" indent="0" algn="ctr">
              <a:buNone/>
            </a:pPr>
            <a:r>
              <a:rPr lang="en-US" sz="1100" b="1" dirty="0">
                <a:solidFill>
                  <a:srgbClr val="FFFFFF"/>
                </a:solidFill>
              </a:rPr>
              <a:t>foodReviews</a:t>
            </a:r>
            <a:endParaRPr lang="en-US" sz="1100" dirty="0"/>
          </a:p>
        </p:txBody>
      </p:sp>
      <p:sp>
        <p:nvSpPr>
          <p:cNvPr id="44" name="Text 42">
            <a:extLst>
              <a:ext uri="{FF2B5EF4-FFF2-40B4-BE49-F238E27FC236}">
                <a16:creationId xmlns:a16="http://schemas.microsoft.com/office/drawing/2014/main" id="{4D4B22CE-67D4-94DB-BA5A-F4F675AA6955}"/>
              </a:ext>
            </a:extLst>
          </p:cNvPr>
          <p:cNvSpPr/>
          <p:nvPr/>
        </p:nvSpPr>
        <p:spPr>
          <a:xfrm>
            <a:off x="-372291" y="2463002"/>
            <a:ext cx="5669280" cy="274320"/>
          </a:xfrm>
          <a:prstGeom prst="rect">
            <a:avLst/>
          </a:prstGeom>
          <a:noFill/>
          <a:ln/>
        </p:spPr>
        <p:txBody>
          <a:bodyPr wrap="square" lIns="0" tIns="0" rIns="0" bIns="0" rtlCol="0" anchor="ctr"/>
          <a:lstStyle/>
          <a:p>
            <a:pPr marL="0" indent="0">
              <a:buNone/>
            </a:pPr>
            <a:endParaRPr lang="en-US" sz="950" dirty="0"/>
          </a:p>
        </p:txBody>
      </p:sp>
      <p:sp>
        <p:nvSpPr>
          <p:cNvPr id="46" name="Text 44">
            <a:extLst>
              <a:ext uri="{FF2B5EF4-FFF2-40B4-BE49-F238E27FC236}">
                <a16:creationId xmlns:a16="http://schemas.microsoft.com/office/drawing/2014/main" id="{88BA2BBF-32DE-B073-AC8F-4D4B062A6F9D}"/>
              </a:ext>
            </a:extLst>
          </p:cNvPr>
          <p:cNvSpPr/>
          <p:nvPr/>
        </p:nvSpPr>
        <p:spPr>
          <a:xfrm>
            <a:off x="7772400" y="4407408"/>
            <a:ext cx="914400" cy="402336"/>
          </a:xfrm>
          <a:prstGeom prst="rect">
            <a:avLst/>
          </a:prstGeom>
          <a:noFill/>
          <a:ln/>
        </p:spPr>
        <p:txBody>
          <a:bodyPr wrap="square" lIns="25400" tIns="25400" rIns="25400" bIns="25400" rtlCol="0" anchor="ctr"/>
          <a:lstStyle/>
          <a:p>
            <a:pPr marL="0" indent="0" algn="ctr">
              <a:buNone/>
            </a:pPr>
            <a:endParaRPr lang="en-US" sz="750" dirty="0"/>
          </a:p>
        </p:txBody>
      </p:sp>
      <p:pic>
        <p:nvPicPr>
          <p:cNvPr id="5" name="Picture 4">
            <a:extLst>
              <a:ext uri="{FF2B5EF4-FFF2-40B4-BE49-F238E27FC236}">
                <a16:creationId xmlns:a16="http://schemas.microsoft.com/office/drawing/2014/main" id="{B0C68E63-42F3-2EC7-4790-EF70DF91D2C4}"/>
              </a:ext>
            </a:extLst>
          </p:cNvPr>
          <p:cNvPicPr>
            <a:picLocks noChangeAspect="1"/>
          </p:cNvPicPr>
          <p:nvPr/>
        </p:nvPicPr>
        <p:blipFill>
          <a:blip r:embed="rId3"/>
          <a:stretch>
            <a:fillRect/>
          </a:stretch>
        </p:blipFill>
        <p:spPr>
          <a:xfrm>
            <a:off x="-1" y="664598"/>
            <a:ext cx="9143999" cy="4478902"/>
          </a:xfrm>
          <a:prstGeom prst="rect">
            <a:avLst/>
          </a:prstGeom>
        </p:spPr>
      </p:pic>
    </p:spTree>
    <p:extLst>
      <p:ext uri="{BB962C8B-B14F-4D97-AF65-F5344CB8AC3E}">
        <p14:creationId xmlns:p14="http://schemas.microsoft.com/office/powerpoint/2010/main" val="12823085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1035AC8-379E-19CF-48DD-22C781CC9C96}"/>
              </a:ext>
            </a:extLst>
          </p:cNvPr>
          <p:cNvPicPr>
            <a:picLocks noChangeAspect="1"/>
          </p:cNvPicPr>
          <p:nvPr/>
        </p:nvPicPr>
        <p:blipFill>
          <a:blip r:embed="rId2"/>
          <a:stretch>
            <a:fillRect/>
          </a:stretch>
        </p:blipFill>
        <p:spPr>
          <a:xfrm>
            <a:off x="0" y="-494643"/>
            <a:ext cx="9144000" cy="6132786"/>
          </a:xfrm>
          <a:prstGeom prst="rect">
            <a:avLst/>
          </a:prstGeom>
        </p:spPr>
      </p:pic>
    </p:spTree>
    <p:extLst>
      <p:ext uri="{BB962C8B-B14F-4D97-AF65-F5344CB8AC3E}">
        <p14:creationId xmlns:p14="http://schemas.microsoft.com/office/powerpoint/2010/main" val="611569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65760" y="137160"/>
            <a:ext cx="1463040" cy="256032"/>
          </a:xfrm>
          <a:prstGeom prst="rect">
            <a:avLst/>
          </a:prstGeom>
          <a:noFill/>
          <a:ln/>
        </p:spPr>
        <p:txBody>
          <a:bodyPr wrap="square" lIns="0" tIns="0" rIns="0" bIns="0" rtlCol="0" anchor="ctr"/>
          <a:lstStyle/>
          <a:p>
            <a:pPr marL="0" indent="0" algn="ctr">
              <a:buNone/>
            </a:pPr>
            <a:endParaRPr lang="en-US" sz="800" dirty="0"/>
          </a:p>
        </p:txBody>
      </p:sp>
      <p:sp>
        <p:nvSpPr>
          <p:cNvPr id="4" name="Text 2"/>
          <p:cNvSpPr/>
          <p:nvPr/>
        </p:nvSpPr>
        <p:spPr>
          <a:xfrm>
            <a:off x="365760" y="502920"/>
            <a:ext cx="8229600" cy="45720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System Architecture</a:t>
            </a:r>
            <a:endParaRPr lang="en-US" sz="2800" dirty="0"/>
          </a:p>
        </p:txBody>
      </p:sp>
      <p:sp>
        <p:nvSpPr>
          <p:cNvPr id="5" name="Shape 3"/>
          <p:cNvSpPr/>
          <p:nvPr/>
        </p:nvSpPr>
        <p:spPr>
          <a:xfrm>
            <a:off x="365760" y="1078992"/>
            <a:ext cx="8412480" cy="457200"/>
          </a:xfrm>
          <a:prstGeom prst="roundRect">
            <a:avLst>
              <a:gd name="adj" fmla="val 20000"/>
            </a:avLst>
          </a:prstGeom>
          <a:solidFill>
            <a:srgbClr val="D4E6D8"/>
          </a:solidFill>
          <a:ln/>
          <a:effectLst>
            <a:outerShdw blurRad="76200" dist="25400" dir="2700000" algn="bl" rotWithShape="0">
              <a:srgbClr val="000000">
                <a:alpha val="10000"/>
              </a:srgbClr>
            </a:outerShdw>
          </a:effectLst>
        </p:spPr>
      </p:sp>
      <p:sp>
        <p:nvSpPr>
          <p:cNvPr id="6" name="Text 4"/>
          <p:cNvSpPr/>
          <p:nvPr/>
        </p:nvSpPr>
        <p:spPr>
          <a:xfrm>
            <a:off x="365760" y="1078992"/>
            <a:ext cx="8412480" cy="457200"/>
          </a:xfrm>
          <a:prstGeom prst="rect">
            <a:avLst/>
          </a:prstGeom>
          <a:noFill/>
          <a:ln/>
        </p:spPr>
        <p:txBody>
          <a:bodyPr wrap="square" lIns="0" tIns="0" rIns="0" bIns="0" rtlCol="0" anchor="ctr"/>
          <a:lstStyle/>
          <a:p>
            <a:pPr marL="0" indent="0" algn="ctr">
              <a:buNone/>
            </a:pPr>
            <a:r>
              <a:rPr lang="en-US" sz="1300" b="1" dirty="0">
                <a:solidFill>
                  <a:srgbClr val="2D5A3D"/>
                </a:solidFill>
              </a:rPr>
              <a:t>Firebase BaaS (Backend as a Service) Architecture — No Custom Server Required</a:t>
            </a:r>
            <a:endParaRPr lang="en-US" sz="1300" dirty="0"/>
          </a:p>
        </p:txBody>
      </p:sp>
      <p:sp>
        <p:nvSpPr>
          <p:cNvPr id="7" name="Shape 5"/>
          <p:cNvSpPr/>
          <p:nvPr/>
        </p:nvSpPr>
        <p:spPr>
          <a:xfrm>
            <a:off x="365760" y="1691640"/>
            <a:ext cx="8412480" cy="530352"/>
          </a:xfrm>
          <a:prstGeom prst="roundRect">
            <a:avLst>
              <a:gd name="adj" fmla="val 17241"/>
            </a:avLst>
          </a:prstGeom>
          <a:solidFill>
            <a:srgbClr val="EDF7F0"/>
          </a:solidFill>
          <a:ln/>
          <a:effectLst>
            <a:outerShdw blurRad="76200" dist="25400" dir="2700000" algn="bl" rotWithShape="0">
              <a:srgbClr val="000000">
                <a:alpha val="10000"/>
              </a:srgbClr>
            </a:outerShdw>
          </a:effectLst>
        </p:spPr>
      </p:sp>
      <p:sp>
        <p:nvSpPr>
          <p:cNvPr id="8" name="Text 6"/>
          <p:cNvSpPr/>
          <p:nvPr/>
        </p:nvSpPr>
        <p:spPr>
          <a:xfrm>
            <a:off x="502920" y="1719072"/>
            <a:ext cx="1463040" cy="475488"/>
          </a:xfrm>
          <a:prstGeom prst="rect">
            <a:avLst/>
          </a:prstGeom>
          <a:noFill/>
          <a:ln/>
        </p:spPr>
        <p:txBody>
          <a:bodyPr wrap="square" lIns="0" tIns="0" rIns="0" bIns="0" rtlCol="0" anchor="ctr"/>
          <a:lstStyle/>
          <a:p>
            <a:pPr marL="0" indent="0">
              <a:buNone/>
            </a:pPr>
            <a:r>
              <a:rPr lang="en-US" sz="1000" b="1" dirty="0">
                <a:solidFill>
                  <a:srgbClr val="2D5A3D"/>
                </a:solidFill>
              </a:rPr>
              <a:t>UI Layer</a:t>
            </a:r>
            <a:endParaRPr lang="en-US" sz="1000" dirty="0"/>
          </a:p>
        </p:txBody>
      </p:sp>
      <p:sp>
        <p:nvSpPr>
          <p:cNvPr id="9" name="Text 7"/>
          <p:cNvSpPr/>
          <p:nvPr/>
        </p:nvSpPr>
        <p:spPr>
          <a:xfrm>
            <a:off x="2057400" y="1719072"/>
            <a:ext cx="6492240" cy="475488"/>
          </a:xfrm>
          <a:prstGeom prst="rect">
            <a:avLst/>
          </a:prstGeom>
          <a:noFill/>
          <a:ln/>
        </p:spPr>
        <p:txBody>
          <a:bodyPr wrap="square" lIns="0" tIns="0" rIns="0" bIns="0" rtlCol="0" anchor="ctr"/>
          <a:lstStyle/>
          <a:p>
            <a:pPr marL="0" indent="0">
              <a:buNone/>
            </a:pPr>
            <a:r>
              <a:rPr lang="en-US" sz="1000" dirty="0">
                <a:solidFill>
                  <a:srgbClr val="1A1A1A"/>
                </a:solidFill>
              </a:rPr>
              <a:t>src/screens/ — React Native components, useState, useEffect, business logic</a:t>
            </a:r>
            <a:endParaRPr lang="en-US" sz="1000" dirty="0"/>
          </a:p>
        </p:txBody>
      </p:sp>
      <p:sp>
        <p:nvSpPr>
          <p:cNvPr id="10" name="Shape 8"/>
          <p:cNvSpPr/>
          <p:nvPr/>
        </p:nvSpPr>
        <p:spPr>
          <a:xfrm>
            <a:off x="365760" y="2313432"/>
            <a:ext cx="8412480" cy="530352"/>
          </a:xfrm>
          <a:prstGeom prst="roundRect">
            <a:avLst>
              <a:gd name="adj" fmla="val 17241"/>
            </a:avLst>
          </a:prstGeom>
          <a:solidFill>
            <a:srgbClr val="EEF2FF"/>
          </a:solidFill>
          <a:ln/>
          <a:effectLst>
            <a:outerShdw blurRad="76200" dist="25400" dir="2700000" algn="bl" rotWithShape="0">
              <a:srgbClr val="000000">
                <a:alpha val="10000"/>
              </a:srgbClr>
            </a:outerShdw>
          </a:effectLst>
        </p:spPr>
      </p:sp>
      <p:sp>
        <p:nvSpPr>
          <p:cNvPr id="11" name="Text 9"/>
          <p:cNvSpPr/>
          <p:nvPr/>
        </p:nvSpPr>
        <p:spPr>
          <a:xfrm>
            <a:off x="502920" y="2340864"/>
            <a:ext cx="1463040" cy="475488"/>
          </a:xfrm>
          <a:prstGeom prst="rect">
            <a:avLst/>
          </a:prstGeom>
          <a:noFill/>
          <a:ln/>
        </p:spPr>
        <p:txBody>
          <a:bodyPr wrap="square" lIns="0" tIns="0" rIns="0" bIns="0" rtlCol="0" anchor="ctr"/>
          <a:lstStyle/>
          <a:p>
            <a:pPr marL="0" indent="0">
              <a:buNone/>
            </a:pPr>
            <a:r>
              <a:rPr lang="en-US" sz="1000" b="1" dirty="0">
                <a:solidFill>
                  <a:srgbClr val="2D5A3D"/>
                </a:solidFill>
              </a:rPr>
              <a:t>Route Layer</a:t>
            </a:r>
            <a:endParaRPr lang="en-US" sz="1000" dirty="0"/>
          </a:p>
        </p:txBody>
      </p:sp>
      <p:sp>
        <p:nvSpPr>
          <p:cNvPr id="12" name="Text 10"/>
          <p:cNvSpPr/>
          <p:nvPr/>
        </p:nvSpPr>
        <p:spPr>
          <a:xfrm>
            <a:off x="2057400" y="2340864"/>
            <a:ext cx="6492240" cy="475488"/>
          </a:xfrm>
          <a:prstGeom prst="rect">
            <a:avLst/>
          </a:prstGeom>
          <a:noFill/>
          <a:ln/>
        </p:spPr>
        <p:txBody>
          <a:bodyPr wrap="square" lIns="0" tIns="0" rIns="0" bIns="0" rtlCol="0" anchor="ctr"/>
          <a:lstStyle/>
          <a:p>
            <a:pPr marL="0" indent="0">
              <a:buNone/>
            </a:pPr>
            <a:r>
              <a:rPr lang="en-US" sz="1000" dirty="0">
                <a:solidFill>
                  <a:srgbClr val="1A1A1A"/>
                </a:solidFill>
              </a:rPr>
              <a:t>src/app/ — expo-router file-based routing, thin wrapper components</a:t>
            </a:r>
            <a:endParaRPr lang="en-US" sz="1000" dirty="0"/>
          </a:p>
        </p:txBody>
      </p:sp>
      <p:sp>
        <p:nvSpPr>
          <p:cNvPr id="13" name="Shape 11"/>
          <p:cNvSpPr/>
          <p:nvPr/>
        </p:nvSpPr>
        <p:spPr>
          <a:xfrm>
            <a:off x="365760" y="2935224"/>
            <a:ext cx="8412480" cy="530352"/>
          </a:xfrm>
          <a:prstGeom prst="roundRect">
            <a:avLst>
              <a:gd name="adj" fmla="val 17241"/>
            </a:avLst>
          </a:prstGeom>
          <a:solidFill>
            <a:srgbClr val="FFF8E1"/>
          </a:solidFill>
          <a:ln/>
          <a:effectLst>
            <a:outerShdw blurRad="76200" dist="25400" dir="2700000" algn="bl" rotWithShape="0">
              <a:srgbClr val="000000">
                <a:alpha val="10000"/>
              </a:srgbClr>
            </a:outerShdw>
          </a:effectLst>
        </p:spPr>
      </p:sp>
      <p:sp>
        <p:nvSpPr>
          <p:cNvPr id="14" name="Text 12"/>
          <p:cNvSpPr/>
          <p:nvPr/>
        </p:nvSpPr>
        <p:spPr>
          <a:xfrm>
            <a:off x="502920" y="2962656"/>
            <a:ext cx="1463040" cy="475488"/>
          </a:xfrm>
          <a:prstGeom prst="rect">
            <a:avLst/>
          </a:prstGeom>
          <a:noFill/>
          <a:ln/>
        </p:spPr>
        <p:txBody>
          <a:bodyPr wrap="square" lIns="0" tIns="0" rIns="0" bIns="0" rtlCol="0" anchor="ctr"/>
          <a:lstStyle/>
          <a:p>
            <a:pPr marL="0" indent="0">
              <a:buNone/>
            </a:pPr>
            <a:r>
              <a:rPr lang="en-US" sz="1000" b="1" dirty="0">
                <a:solidFill>
                  <a:srgbClr val="2D5A3D"/>
                </a:solidFill>
              </a:rPr>
              <a:t>Data Layer</a:t>
            </a:r>
            <a:endParaRPr lang="en-US" sz="1000" dirty="0"/>
          </a:p>
        </p:txBody>
      </p:sp>
      <p:sp>
        <p:nvSpPr>
          <p:cNvPr id="15" name="Text 13"/>
          <p:cNvSpPr/>
          <p:nvPr/>
        </p:nvSpPr>
        <p:spPr>
          <a:xfrm>
            <a:off x="2057400" y="2962656"/>
            <a:ext cx="6492240" cy="475488"/>
          </a:xfrm>
          <a:prstGeom prst="rect">
            <a:avLst/>
          </a:prstGeom>
          <a:noFill/>
          <a:ln/>
        </p:spPr>
        <p:txBody>
          <a:bodyPr wrap="square" lIns="0" tIns="0" rIns="0" bIns="0" rtlCol="0" anchor="ctr"/>
          <a:lstStyle/>
          <a:p>
            <a:pPr marL="0" indent="0">
              <a:buNone/>
            </a:pPr>
            <a:r>
              <a:rPr lang="en-US" sz="1000" dirty="0">
                <a:solidFill>
                  <a:srgbClr val="1A1A1A"/>
                </a:solidFill>
              </a:rPr>
              <a:t>src/data/repository.js — ALL Firebase CRUD operations centralized (Repository Pattern)</a:t>
            </a:r>
            <a:endParaRPr lang="en-US" sz="1000" dirty="0"/>
          </a:p>
        </p:txBody>
      </p:sp>
      <p:sp>
        <p:nvSpPr>
          <p:cNvPr id="16" name="Shape 14"/>
          <p:cNvSpPr/>
          <p:nvPr/>
        </p:nvSpPr>
        <p:spPr>
          <a:xfrm>
            <a:off x="365760" y="3557016"/>
            <a:ext cx="8412480" cy="530352"/>
          </a:xfrm>
          <a:prstGeom prst="roundRect">
            <a:avLst>
              <a:gd name="adj" fmla="val 17241"/>
            </a:avLst>
          </a:prstGeom>
          <a:solidFill>
            <a:srgbClr val="F0F0F0"/>
          </a:solidFill>
          <a:ln/>
          <a:effectLst>
            <a:outerShdw blurRad="76200" dist="25400" dir="2700000" algn="bl" rotWithShape="0">
              <a:srgbClr val="000000">
                <a:alpha val="10000"/>
              </a:srgbClr>
            </a:outerShdw>
          </a:effectLst>
        </p:spPr>
      </p:sp>
      <p:sp>
        <p:nvSpPr>
          <p:cNvPr id="17" name="Text 15"/>
          <p:cNvSpPr/>
          <p:nvPr/>
        </p:nvSpPr>
        <p:spPr>
          <a:xfrm>
            <a:off x="502920" y="3584448"/>
            <a:ext cx="1463040" cy="475488"/>
          </a:xfrm>
          <a:prstGeom prst="rect">
            <a:avLst/>
          </a:prstGeom>
          <a:noFill/>
          <a:ln/>
        </p:spPr>
        <p:txBody>
          <a:bodyPr wrap="square" lIns="0" tIns="0" rIns="0" bIns="0" rtlCol="0" anchor="ctr"/>
          <a:lstStyle/>
          <a:p>
            <a:pPr marL="0" indent="0">
              <a:buNone/>
            </a:pPr>
            <a:r>
              <a:rPr lang="en-US" sz="1000" b="1" dirty="0">
                <a:solidFill>
                  <a:srgbClr val="2D5A3D"/>
                </a:solidFill>
              </a:rPr>
              <a:t>Firebase SDK</a:t>
            </a:r>
            <a:endParaRPr lang="en-US" sz="1000" dirty="0"/>
          </a:p>
        </p:txBody>
      </p:sp>
      <p:sp>
        <p:nvSpPr>
          <p:cNvPr id="18" name="Text 16"/>
          <p:cNvSpPr/>
          <p:nvPr/>
        </p:nvSpPr>
        <p:spPr>
          <a:xfrm>
            <a:off x="2057400" y="3584448"/>
            <a:ext cx="6492240" cy="475488"/>
          </a:xfrm>
          <a:prstGeom prst="rect">
            <a:avLst/>
          </a:prstGeom>
          <a:noFill/>
          <a:ln/>
        </p:spPr>
        <p:txBody>
          <a:bodyPr wrap="square" lIns="0" tIns="0" rIns="0" bIns="0" rtlCol="0" anchor="ctr"/>
          <a:lstStyle/>
          <a:p>
            <a:pPr marL="0" indent="0">
              <a:buNone/>
            </a:pPr>
            <a:r>
              <a:rPr lang="en-US" sz="1000" dirty="0">
                <a:solidFill>
                  <a:srgbClr val="1A1A1A"/>
                </a:solidFill>
              </a:rPr>
              <a:t>JavaScript SDK — HTTPS requests, real-time listeners, auth token injection</a:t>
            </a:r>
            <a:endParaRPr lang="en-US" sz="1000" dirty="0"/>
          </a:p>
        </p:txBody>
      </p:sp>
      <p:sp>
        <p:nvSpPr>
          <p:cNvPr id="19" name="Shape 17"/>
          <p:cNvSpPr/>
          <p:nvPr/>
        </p:nvSpPr>
        <p:spPr>
          <a:xfrm>
            <a:off x="365760" y="4178808"/>
            <a:ext cx="8412480" cy="530352"/>
          </a:xfrm>
          <a:prstGeom prst="roundRect">
            <a:avLst>
              <a:gd name="adj" fmla="val 17241"/>
            </a:avLst>
          </a:prstGeom>
          <a:solidFill>
            <a:srgbClr val="D4E6D8"/>
          </a:solidFill>
          <a:ln/>
          <a:effectLst>
            <a:outerShdw blurRad="76200" dist="25400" dir="2700000" algn="bl" rotWithShape="0">
              <a:srgbClr val="000000">
                <a:alpha val="10000"/>
              </a:srgbClr>
            </a:outerShdw>
          </a:effectLst>
        </p:spPr>
      </p:sp>
      <p:sp>
        <p:nvSpPr>
          <p:cNvPr id="20" name="Text 18"/>
          <p:cNvSpPr/>
          <p:nvPr/>
        </p:nvSpPr>
        <p:spPr>
          <a:xfrm>
            <a:off x="502920" y="4206240"/>
            <a:ext cx="1463040" cy="475488"/>
          </a:xfrm>
          <a:prstGeom prst="rect">
            <a:avLst/>
          </a:prstGeom>
          <a:noFill/>
          <a:ln/>
        </p:spPr>
        <p:txBody>
          <a:bodyPr wrap="square" lIns="0" tIns="0" rIns="0" bIns="0" rtlCol="0" anchor="ctr"/>
          <a:lstStyle/>
          <a:p>
            <a:pPr marL="0" indent="0">
              <a:buNone/>
            </a:pPr>
            <a:r>
              <a:rPr lang="en-US" sz="1000" b="1" dirty="0">
                <a:solidFill>
                  <a:srgbClr val="2D5A3D"/>
                </a:solidFill>
              </a:rPr>
              <a:t>Firebase Cloud</a:t>
            </a:r>
            <a:endParaRPr lang="en-US" sz="1000" dirty="0"/>
          </a:p>
        </p:txBody>
      </p:sp>
      <p:sp>
        <p:nvSpPr>
          <p:cNvPr id="21" name="Text 19"/>
          <p:cNvSpPr/>
          <p:nvPr/>
        </p:nvSpPr>
        <p:spPr>
          <a:xfrm>
            <a:off x="2057400" y="4206240"/>
            <a:ext cx="6492240" cy="475488"/>
          </a:xfrm>
          <a:prstGeom prst="rect">
            <a:avLst/>
          </a:prstGeom>
          <a:noFill/>
          <a:ln/>
        </p:spPr>
        <p:txBody>
          <a:bodyPr wrap="square" lIns="0" tIns="0" rIns="0" bIns="0" rtlCol="0" anchor="ctr"/>
          <a:lstStyle/>
          <a:p>
            <a:pPr marL="0" indent="0">
              <a:buNone/>
            </a:pPr>
            <a:r>
              <a:rPr lang="en-US" sz="1000" dirty="0">
                <a:solidFill>
                  <a:srgbClr val="1A1A1A"/>
                </a:solidFill>
              </a:rPr>
              <a:t>Authentication  |  Firestore Database  |  Security Rules — hosted on Google servers</a:t>
            </a:r>
            <a:endParaRPr lang="en-US" sz="1000" dirty="0"/>
          </a:p>
        </p:txBody>
      </p:sp>
      <p:sp>
        <p:nvSpPr>
          <p:cNvPr id="22" name="Text 20"/>
          <p:cNvSpPr/>
          <p:nvPr/>
        </p:nvSpPr>
        <p:spPr>
          <a:xfrm>
            <a:off x="365760" y="4828032"/>
            <a:ext cx="8229600" cy="219456"/>
          </a:xfrm>
          <a:prstGeom prst="rect">
            <a:avLst/>
          </a:prstGeom>
          <a:noFill/>
          <a:ln/>
        </p:spPr>
        <p:txBody>
          <a:bodyPr wrap="square" lIns="0" tIns="0" rIns="0" bIns="0" rtlCol="0" anchor="ctr"/>
          <a:lstStyle/>
          <a:p>
            <a:pPr marL="0" indent="0">
              <a:buNone/>
            </a:pPr>
            <a:endParaRPr lang="en-US" sz="1100" dirty="0"/>
          </a:p>
        </p:txBody>
      </p:sp>
      <p:sp>
        <p:nvSpPr>
          <p:cNvPr id="23" name="Text 21"/>
          <p:cNvSpPr/>
          <p:nvPr/>
        </p:nvSpPr>
        <p:spPr>
          <a:xfrm>
            <a:off x="457200" y="5047488"/>
            <a:ext cx="8229600" cy="201168"/>
          </a:xfrm>
          <a:prstGeom prst="rect">
            <a:avLst/>
          </a:prstGeom>
          <a:noFill/>
          <a:ln/>
        </p:spPr>
        <p:txBody>
          <a:bodyPr wrap="square" lIns="0" tIns="0" rIns="0" bIns="0" rtlCol="0" anchor="ctr"/>
          <a:lstStyle/>
          <a:p>
            <a:pPr marL="0" indent="0">
              <a:buNone/>
            </a:pPr>
            <a:endParaRPr lang="en-US" sz="950" dirty="0"/>
          </a:p>
        </p:txBody>
      </p:sp>
      <p:sp>
        <p:nvSpPr>
          <p:cNvPr id="24" name="Text 22"/>
          <p:cNvSpPr/>
          <p:nvPr/>
        </p:nvSpPr>
        <p:spPr>
          <a:xfrm>
            <a:off x="457200" y="5047488"/>
            <a:ext cx="8229600" cy="201168"/>
          </a:xfrm>
          <a:prstGeom prst="rect">
            <a:avLst/>
          </a:prstGeom>
          <a:noFill/>
          <a:ln/>
        </p:spPr>
        <p:txBody>
          <a:bodyPr wrap="square" lIns="0" tIns="0" rIns="0" bIns="0" rtlCol="0" anchor="ctr"/>
          <a:lstStyle/>
          <a:p>
            <a:pPr marL="0" indent="0">
              <a:buNone/>
            </a:pPr>
            <a:endParaRPr lang="en-US" sz="950" dirty="0"/>
          </a:p>
        </p:txBody>
      </p:sp>
      <p:sp>
        <p:nvSpPr>
          <p:cNvPr id="25" name="Text 23"/>
          <p:cNvSpPr/>
          <p:nvPr/>
        </p:nvSpPr>
        <p:spPr>
          <a:xfrm>
            <a:off x="457200" y="5047488"/>
            <a:ext cx="8229600" cy="201168"/>
          </a:xfrm>
          <a:prstGeom prst="rect">
            <a:avLst/>
          </a:prstGeom>
          <a:noFill/>
          <a:ln/>
        </p:spPr>
        <p:txBody>
          <a:bodyPr wrap="square" lIns="0" tIns="0" rIns="0" bIns="0" rtlCol="0" anchor="ctr"/>
          <a:lstStyle/>
          <a:p>
            <a:pPr marL="0" indent="0">
              <a:buNone/>
            </a:pPr>
            <a:endParaRPr lang="en-US" sz="950" dirty="0"/>
          </a:p>
        </p:txBody>
      </p:sp>
      <p:sp>
        <p:nvSpPr>
          <p:cNvPr id="26" name="Text 24"/>
          <p:cNvSpPr/>
          <p:nvPr/>
        </p:nvSpPr>
        <p:spPr>
          <a:xfrm>
            <a:off x="457200" y="5047488"/>
            <a:ext cx="8229600" cy="201168"/>
          </a:xfrm>
          <a:prstGeom prst="rect">
            <a:avLst/>
          </a:prstGeom>
          <a:noFill/>
          <a:ln/>
        </p:spPr>
        <p:txBody>
          <a:bodyPr wrap="square" lIns="0" tIns="0" rIns="0" bIns="0" rtlCol="0" anchor="ctr"/>
          <a:lstStyle/>
          <a:p>
            <a:pPr marL="0" indent="0">
              <a:buNone/>
            </a:pP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65760" y="137160"/>
            <a:ext cx="1463040" cy="256032"/>
          </a:xfrm>
          <a:prstGeom prst="rect">
            <a:avLst/>
          </a:prstGeom>
          <a:noFill/>
          <a:ln/>
        </p:spPr>
        <p:txBody>
          <a:bodyPr wrap="square" lIns="0" tIns="0" rIns="0" bIns="0" rtlCol="0" anchor="ctr"/>
          <a:lstStyle/>
          <a:p>
            <a:pPr marL="0" indent="0" algn="ctr">
              <a:buNone/>
            </a:pPr>
            <a:endParaRPr lang="en-US" sz="800" dirty="0"/>
          </a:p>
        </p:txBody>
      </p:sp>
      <p:sp>
        <p:nvSpPr>
          <p:cNvPr id="4" name="Text 2"/>
          <p:cNvSpPr/>
          <p:nvPr/>
        </p:nvSpPr>
        <p:spPr>
          <a:xfrm>
            <a:off x="365760" y="502920"/>
            <a:ext cx="8229600" cy="45720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Security Features</a:t>
            </a:r>
            <a:endParaRPr lang="en-US" sz="2800" dirty="0"/>
          </a:p>
        </p:txBody>
      </p:sp>
      <p:sp>
        <p:nvSpPr>
          <p:cNvPr id="5" name="Shape 3"/>
          <p:cNvSpPr/>
          <p:nvPr/>
        </p:nvSpPr>
        <p:spPr>
          <a:xfrm>
            <a:off x="365760" y="111556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6" name="Text 4"/>
          <p:cNvSpPr/>
          <p:nvPr/>
        </p:nvSpPr>
        <p:spPr>
          <a:xfrm>
            <a:off x="475488" y="1335024"/>
            <a:ext cx="502920" cy="548640"/>
          </a:xfrm>
          <a:prstGeom prst="rect">
            <a:avLst/>
          </a:prstGeom>
          <a:noFill/>
          <a:ln/>
        </p:spPr>
        <p:txBody>
          <a:bodyPr wrap="square" lIns="0" tIns="0" rIns="0" bIns="0" rtlCol="0" anchor="ctr"/>
          <a:lstStyle/>
          <a:p>
            <a:pPr marL="0" indent="0">
              <a:buNone/>
            </a:pPr>
            <a:endParaRPr lang="en-US" sz="2000" dirty="0"/>
          </a:p>
        </p:txBody>
      </p:sp>
      <p:sp>
        <p:nvSpPr>
          <p:cNvPr id="7" name="Text 5"/>
          <p:cNvSpPr/>
          <p:nvPr/>
        </p:nvSpPr>
        <p:spPr>
          <a:xfrm>
            <a:off x="1078992" y="120700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Firebase Authentication</a:t>
            </a:r>
            <a:endParaRPr lang="en-US" sz="1200" dirty="0"/>
          </a:p>
        </p:txBody>
      </p:sp>
      <p:sp>
        <p:nvSpPr>
          <p:cNvPr id="8" name="Text 6"/>
          <p:cNvSpPr/>
          <p:nvPr/>
        </p:nvSpPr>
        <p:spPr>
          <a:xfrm>
            <a:off x="1078992" y="1499616"/>
            <a:ext cx="3291840" cy="621792"/>
          </a:xfrm>
          <a:prstGeom prst="rect">
            <a:avLst/>
          </a:prstGeom>
          <a:noFill/>
          <a:ln/>
        </p:spPr>
        <p:txBody>
          <a:bodyPr wrap="square" lIns="0" tIns="0" rIns="0" bIns="0" rtlCol="0" anchor="ctr"/>
          <a:lstStyle/>
          <a:p>
            <a:pPr marL="0" indent="0">
              <a:buNone/>
            </a:pPr>
            <a:r>
              <a:rPr lang="en-US" sz="950" dirty="0">
                <a:solidFill>
                  <a:srgbClr val="6B6B60"/>
                </a:solidFill>
              </a:rPr>
              <a:t>Email-password auth managed by Firebase. JWT token auto-injected in every SDK request. Token expires in ~1 hour and auto-refreshes.</a:t>
            </a:r>
            <a:endParaRPr lang="en-US" sz="950" dirty="0"/>
          </a:p>
        </p:txBody>
      </p:sp>
      <p:sp>
        <p:nvSpPr>
          <p:cNvPr id="9" name="Shape 7"/>
          <p:cNvSpPr/>
          <p:nvPr/>
        </p:nvSpPr>
        <p:spPr>
          <a:xfrm>
            <a:off x="4754880" y="111556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10" name="Text 8"/>
          <p:cNvSpPr/>
          <p:nvPr/>
        </p:nvSpPr>
        <p:spPr>
          <a:xfrm>
            <a:off x="4864608" y="1335024"/>
            <a:ext cx="502920" cy="548640"/>
          </a:xfrm>
          <a:prstGeom prst="rect">
            <a:avLst/>
          </a:prstGeom>
          <a:noFill/>
          <a:ln/>
        </p:spPr>
        <p:txBody>
          <a:bodyPr wrap="square" lIns="0" tIns="0" rIns="0" bIns="0" rtlCol="0" anchor="ctr"/>
          <a:lstStyle/>
          <a:p>
            <a:pPr marL="0" indent="0">
              <a:buNone/>
            </a:pPr>
            <a:endParaRPr lang="en-US" sz="2000" dirty="0"/>
          </a:p>
        </p:txBody>
      </p:sp>
      <p:sp>
        <p:nvSpPr>
          <p:cNvPr id="11" name="Text 9"/>
          <p:cNvSpPr/>
          <p:nvPr/>
        </p:nvSpPr>
        <p:spPr>
          <a:xfrm>
            <a:off x="5468112" y="120700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Password Security</a:t>
            </a:r>
            <a:endParaRPr lang="en-US" sz="1200" dirty="0"/>
          </a:p>
        </p:txBody>
      </p:sp>
      <p:sp>
        <p:nvSpPr>
          <p:cNvPr id="12" name="Text 10"/>
          <p:cNvSpPr/>
          <p:nvPr/>
        </p:nvSpPr>
        <p:spPr>
          <a:xfrm>
            <a:off x="5468112" y="1499616"/>
            <a:ext cx="3291840" cy="621792"/>
          </a:xfrm>
          <a:prstGeom prst="rect">
            <a:avLst/>
          </a:prstGeom>
          <a:noFill/>
          <a:ln/>
        </p:spPr>
        <p:txBody>
          <a:bodyPr wrap="square" lIns="0" tIns="0" rIns="0" bIns="0" rtlCol="0" anchor="ctr"/>
          <a:lstStyle/>
          <a:p>
            <a:pPr marL="0" indent="0">
              <a:buNone/>
            </a:pPr>
            <a:r>
              <a:rPr lang="en-US" sz="950" dirty="0">
                <a:solidFill>
                  <a:srgbClr val="6B6B60"/>
                </a:solidFill>
              </a:rPr>
              <a:t>Firebase hashes all passwords with bcrypt. Plain-text passwords are never stored. Comparison happens server-side.</a:t>
            </a:r>
            <a:endParaRPr lang="en-US" sz="950" dirty="0"/>
          </a:p>
        </p:txBody>
      </p:sp>
      <p:sp>
        <p:nvSpPr>
          <p:cNvPr id="13" name="Shape 11"/>
          <p:cNvSpPr/>
          <p:nvPr/>
        </p:nvSpPr>
        <p:spPr>
          <a:xfrm>
            <a:off x="365760" y="230428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14" name="Text 12"/>
          <p:cNvSpPr/>
          <p:nvPr/>
        </p:nvSpPr>
        <p:spPr>
          <a:xfrm>
            <a:off x="475488" y="2523744"/>
            <a:ext cx="502920" cy="548640"/>
          </a:xfrm>
          <a:prstGeom prst="rect">
            <a:avLst/>
          </a:prstGeom>
          <a:noFill/>
          <a:ln/>
        </p:spPr>
        <p:txBody>
          <a:bodyPr wrap="square" lIns="0" tIns="0" rIns="0" bIns="0" rtlCol="0" anchor="ctr"/>
          <a:lstStyle/>
          <a:p>
            <a:pPr marL="0" indent="0">
              <a:buNone/>
            </a:pPr>
            <a:endParaRPr lang="en-US" sz="2000" dirty="0"/>
          </a:p>
        </p:txBody>
      </p:sp>
      <p:sp>
        <p:nvSpPr>
          <p:cNvPr id="15" name="Text 13"/>
          <p:cNvSpPr/>
          <p:nvPr/>
        </p:nvSpPr>
        <p:spPr>
          <a:xfrm>
            <a:off x="1078992" y="239572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Role Enforcement</a:t>
            </a:r>
            <a:endParaRPr lang="en-US" sz="1200" dirty="0"/>
          </a:p>
        </p:txBody>
      </p:sp>
      <p:sp>
        <p:nvSpPr>
          <p:cNvPr id="16" name="Text 14"/>
          <p:cNvSpPr/>
          <p:nvPr/>
        </p:nvSpPr>
        <p:spPr>
          <a:xfrm>
            <a:off x="1078992" y="2688336"/>
            <a:ext cx="3291840" cy="621792"/>
          </a:xfrm>
          <a:prstGeom prst="rect">
            <a:avLst/>
          </a:prstGeom>
          <a:noFill/>
          <a:ln/>
        </p:spPr>
        <p:txBody>
          <a:bodyPr wrap="square" lIns="0" tIns="0" rIns="0" bIns="0" rtlCol="0" anchor="ctr"/>
          <a:lstStyle/>
          <a:p>
            <a:pPr marL="0" indent="0">
              <a:buNone/>
            </a:pPr>
            <a:r>
              <a:rPr lang="en-US" sz="950" dirty="0">
                <a:solidFill>
                  <a:srgbClr val="6B6B60"/>
                </a:solidFill>
              </a:rPr>
              <a:t>Login screen checks modData.role !== role. Wrong role → Login Failed alert. Prevents dining moderator accessing canteen dashboard.</a:t>
            </a:r>
            <a:endParaRPr lang="en-US" sz="950" dirty="0"/>
          </a:p>
        </p:txBody>
      </p:sp>
      <p:sp>
        <p:nvSpPr>
          <p:cNvPr id="17" name="Shape 15"/>
          <p:cNvSpPr/>
          <p:nvPr/>
        </p:nvSpPr>
        <p:spPr>
          <a:xfrm>
            <a:off x="4754880" y="230428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18" name="Text 16"/>
          <p:cNvSpPr/>
          <p:nvPr/>
        </p:nvSpPr>
        <p:spPr>
          <a:xfrm>
            <a:off x="4864608" y="2523744"/>
            <a:ext cx="502920" cy="548640"/>
          </a:xfrm>
          <a:prstGeom prst="rect">
            <a:avLst/>
          </a:prstGeom>
          <a:noFill/>
          <a:ln/>
        </p:spPr>
        <p:txBody>
          <a:bodyPr wrap="square" lIns="0" tIns="0" rIns="0" bIns="0" rtlCol="0" anchor="ctr"/>
          <a:lstStyle/>
          <a:p>
            <a:pPr marL="0" indent="0">
              <a:buNone/>
            </a:pPr>
            <a:endParaRPr lang="en-US" sz="2000" dirty="0"/>
          </a:p>
        </p:txBody>
      </p:sp>
      <p:sp>
        <p:nvSpPr>
          <p:cNvPr id="19" name="Text 17"/>
          <p:cNvSpPr/>
          <p:nvPr/>
        </p:nvSpPr>
        <p:spPr>
          <a:xfrm>
            <a:off x="5468112" y="239572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Re-authentication Modal</a:t>
            </a:r>
            <a:endParaRPr lang="en-US" sz="1200" dirty="0"/>
          </a:p>
        </p:txBody>
      </p:sp>
      <p:sp>
        <p:nvSpPr>
          <p:cNvPr id="20" name="Text 18"/>
          <p:cNvSpPr/>
          <p:nvPr/>
        </p:nvSpPr>
        <p:spPr>
          <a:xfrm>
            <a:off x="5468112" y="2688336"/>
            <a:ext cx="3291840" cy="621792"/>
          </a:xfrm>
          <a:prstGeom prst="rect">
            <a:avLst/>
          </a:prstGeom>
          <a:noFill/>
          <a:ln/>
        </p:spPr>
        <p:txBody>
          <a:bodyPr wrap="square" lIns="0" tIns="0" rIns="0" bIns="0" rtlCol="0" anchor="ctr"/>
          <a:lstStyle/>
          <a:p>
            <a:pPr marL="0" indent="0">
              <a:buNone/>
            </a:pPr>
            <a:r>
              <a:rPr lang="en-US" sz="950" dirty="0">
                <a:solidFill>
                  <a:srgbClr val="6B6B60"/>
                </a:solidFill>
              </a:rPr>
              <a:t>On session resume, ModeratorRoleScreen requires password re-entry before dashboard access. Prevents unauthorized access on shared devices.</a:t>
            </a:r>
            <a:endParaRPr lang="en-US" sz="950" dirty="0"/>
          </a:p>
        </p:txBody>
      </p:sp>
      <p:sp>
        <p:nvSpPr>
          <p:cNvPr id="21" name="Shape 19"/>
          <p:cNvSpPr/>
          <p:nvPr/>
        </p:nvSpPr>
        <p:spPr>
          <a:xfrm>
            <a:off x="365760" y="349300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22" name="Text 20"/>
          <p:cNvSpPr/>
          <p:nvPr/>
        </p:nvSpPr>
        <p:spPr>
          <a:xfrm>
            <a:off x="475488" y="3712464"/>
            <a:ext cx="502920" cy="548640"/>
          </a:xfrm>
          <a:prstGeom prst="rect">
            <a:avLst/>
          </a:prstGeom>
          <a:noFill/>
          <a:ln/>
        </p:spPr>
        <p:txBody>
          <a:bodyPr wrap="square" lIns="0" tIns="0" rIns="0" bIns="0" rtlCol="0" anchor="ctr"/>
          <a:lstStyle/>
          <a:p>
            <a:pPr marL="0" indent="0">
              <a:buNone/>
            </a:pPr>
            <a:endParaRPr lang="en-US" sz="2000" dirty="0"/>
          </a:p>
        </p:txBody>
      </p:sp>
      <p:sp>
        <p:nvSpPr>
          <p:cNvPr id="23" name="Text 21"/>
          <p:cNvSpPr/>
          <p:nvPr/>
        </p:nvSpPr>
        <p:spPr>
          <a:xfrm>
            <a:off x="1078992" y="358444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Firestore Security Rules</a:t>
            </a:r>
            <a:endParaRPr lang="en-US" sz="1200" dirty="0"/>
          </a:p>
        </p:txBody>
      </p:sp>
      <p:sp>
        <p:nvSpPr>
          <p:cNvPr id="24" name="Text 22"/>
          <p:cNvSpPr/>
          <p:nvPr/>
        </p:nvSpPr>
        <p:spPr>
          <a:xfrm>
            <a:off x="1078992" y="3877056"/>
            <a:ext cx="3291840" cy="621792"/>
          </a:xfrm>
          <a:prstGeom prst="rect">
            <a:avLst/>
          </a:prstGeom>
          <a:noFill/>
          <a:ln/>
        </p:spPr>
        <p:txBody>
          <a:bodyPr wrap="square" lIns="0" tIns="0" rIns="0" bIns="0" rtlCol="0" anchor="ctr"/>
          <a:lstStyle/>
          <a:p>
            <a:pPr marL="0" indent="0">
              <a:buNone/>
            </a:pPr>
            <a:r>
              <a:rPr lang="en-US" sz="950" dirty="0">
                <a:solidFill>
                  <a:srgbClr val="6B6B60"/>
                </a:solidFill>
              </a:rPr>
              <a:t>Rules deployed to prevent unauthorized writes. Public read for menus/notices/feasts. Write requires request.auth != null.</a:t>
            </a:r>
            <a:endParaRPr lang="en-US" sz="950" dirty="0"/>
          </a:p>
        </p:txBody>
      </p:sp>
      <p:sp>
        <p:nvSpPr>
          <p:cNvPr id="25" name="Shape 23"/>
          <p:cNvSpPr/>
          <p:nvPr/>
        </p:nvSpPr>
        <p:spPr>
          <a:xfrm>
            <a:off x="4754880" y="3493008"/>
            <a:ext cx="4114800" cy="1078992"/>
          </a:xfrm>
          <a:prstGeom prst="roundRect">
            <a:avLst>
              <a:gd name="adj" fmla="val 8475"/>
            </a:avLst>
          </a:prstGeom>
          <a:solidFill>
            <a:srgbClr val="FFFFFF"/>
          </a:solidFill>
          <a:ln/>
          <a:effectLst>
            <a:outerShdw blurRad="76200" dist="25400" dir="2700000" algn="bl" rotWithShape="0">
              <a:srgbClr val="000000">
                <a:alpha val="10000"/>
              </a:srgbClr>
            </a:outerShdw>
          </a:effectLst>
        </p:spPr>
      </p:sp>
      <p:sp>
        <p:nvSpPr>
          <p:cNvPr id="26" name="Text 24"/>
          <p:cNvSpPr/>
          <p:nvPr/>
        </p:nvSpPr>
        <p:spPr>
          <a:xfrm>
            <a:off x="4864608" y="3712464"/>
            <a:ext cx="502920" cy="548640"/>
          </a:xfrm>
          <a:prstGeom prst="rect">
            <a:avLst/>
          </a:prstGeom>
          <a:noFill/>
          <a:ln/>
        </p:spPr>
        <p:txBody>
          <a:bodyPr wrap="square" lIns="0" tIns="0" rIns="0" bIns="0" rtlCol="0" anchor="ctr"/>
          <a:lstStyle/>
          <a:p>
            <a:pPr marL="0" indent="0">
              <a:buNone/>
            </a:pPr>
            <a:endParaRPr lang="en-US" sz="2000" dirty="0"/>
          </a:p>
        </p:txBody>
      </p:sp>
      <p:sp>
        <p:nvSpPr>
          <p:cNvPr id="27" name="Text 25"/>
          <p:cNvSpPr/>
          <p:nvPr/>
        </p:nvSpPr>
        <p:spPr>
          <a:xfrm>
            <a:off x="5468112" y="3584448"/>
            <a:ext cx="3291840" cy="274320"/>
          </a:xfrm>
          <a:prstGeom prst="rect">
            <a:avLst/>
          </a:prstGeom>
          <a:noFill/>
          <a:ln/>
        </p:spPr>
        <p:txBody>
          <a:bodyPr wrap="square" lIns="0" tIns="0" rIns="0" bIns="0" rtlCol="0" anchor="ctr"/>
          <a:lstStyle/>
          <a:p>
            <a:pPr marL="0" indent="0">
              <a:buNone/>
            </a:pPr>
            <a:r>
              <a:rPr lang="en-US" sz="1200" b="1" dirty="0">
                <a:solidFill>
                  <a:srgbClr val="2D5A3D"/>
                </a:solidFill>
              </a:rPr>
              <a:t>Input Validation</a:t>
            </a:r>
            <a:endParaRPr lang="en-US" sz="1200" dirty="0"/>
          </a:p>
        </p:txBody>
      </p:sp>
      <p:sp>
        <p:nvSpPr>
          <p:cNvPr id="28" name="Text 26"/>
          <p:cNvSpPr/>
          <p:nvPr/>
        </p:nvSpPr>
        <p:spPr>
          <a:xfrm>
            <a:off x="5468112" y="3877056"/>
            <a:ext cx="3291840" cy="621792"/>
          </a:xfrm>
          <a:prstGeom prst="rect">
            <a:avLst/>
          </a:prstGeom>
          <a:noFill/>
          <a:ln/>
        </p:spPr>
        <p:txBody>
          <a:bodyPr wrap="square" lIns="0" tIns="0" rIns="0" bIns="0" rtlCol="0" anchor="ctr"/>
          <a:lstStyle/>
          <a:p>
            <a:pPr marL="0" indent="0">
              <a:buNone/>
            </a:pPr>
            <a:r>
              <a:rPr lang="en-US" sz="950" dirty="0">
                <a:solidFill>
                  <a:srgbClr val="6B6B60"/>
                </a:solidFill>
              </a:rPr>
              <a:t>Price and count validated as non-negative numbers. Empty item names filtered out. SQL injection impossible — Firestore uses parameterized SDK calls.</a:t>
            </a:r>
            <a:endParaRPr lang="en-US" sz="950" dirty="0"/>
          </a:p>
        </p:txBody>
      </p:sp>
      <p:sp>
        <p:nvSpPr>
          <p:cNvPr id="29" name="Shape 27"/>
          <p:cNvSpPr/>
          <p:nvPr/>
        </p:nvSpPr>
        <p:spPr>
          <a:xfrm>
            <a:off x="365760" y="4645152"/>
            <a:ext cx="8412480" cy="347472"/>
          </a:xfrm>
          <a:prstGeom prst="roundRect">
            <a:avLst>
              <a:gd name="adj" fmla="val 26316"/>
            </a:avLst>
          </a:prstGeom>
          <a:solidFill>
            <a:srgbClr val="FFF3E0"/>
          </a:solidFill>
          <a:ln/>
          <a:effectLst>
            <a:outerShdw blurRad="76200" dist="25400" dir="2700000" algn="bl" rotWithShape="0">
              <a:srgbClr val="000000">
                <a:alpha val="10000"/>
              </a:srgbClr>
            </a:outerShdw>
          </a:effectLst>
        </p:spPr>
      </p:sp>
      <p:sp>
        <p:nvSpPr>
          <p:cNvPr id="30" name="Text 28"/>
          <p:cNvSpPr/>
          <p:nvPr/>
        </p:nvSpPr>
        <p:spPr>
          <a:xfrm>
            <a:off x="502920" y="4645152"/>
            <a:ext cx="8229600" cy="347472"/>
          </a:xfrm>
          <a:prstGeom prst="rect">
            <a:avLst/>
          </a:prstGeom>
          <a:noFill/>
          <a:ln/>
        </p:spPr>
        <p:txBody>
          <a:bodyPr wrap="square" lIns="0" tIns="0" rIns="0" bIns="0" rtlCol="0" anchor="ctr"/>
          <a:lstStyle/>
          <a:p>
            <a:pPr marL="0" indent="0">
              <a:buNone/>
            </a:pPr>
            <a:r>
              <a:rPr lang="en-US" sz="950" dirty="0">
                <a:solidFill>
                  <a:srgbClr val="E65100"/>
                </a:solidFill>
              </a:rPr>
              <a:t>⚠️  Known Limitation: foodReviews has no authentication — any user can submit a review. Role enforcement is client-side only; server-side Firestore Rules are the production fix.</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65760" y="137160"/>
            <a:ext cx="1463040" cy="256032"/>
          </a:xfrm>
          <a:prstGeom prst="rect">
            <a:avLst/>
          </a:prstGeom>
          <a:noFill/>
          <a:ln/>
        </p:spPr>
        <p:txBody>
          <a:bodyPr wrap="square" lIns="0" tIns="0" rIns="0" bIns="0" rtlCol="0" anchor="ctr"/>
          <a:lstStyle/>
          <a:p>
            <a:pPr marL="0" indent="0" algn="ctr">
              <a:buNone/>
            </a:pPr>
            <a:endParaRPr lang="en-US" sz="800" dirty="0"/>
          </a:p>
        </p:txBody>
      </p:sp>
      <p:sp>
        <p:nvSpPr>
          <p:cNvPr id="4" name="Text 2"/>
          <p:cNvSpPr/>
          <p:nvPr/>
        </p:nvSpPr>
        <p:spPr>
          <a:xfrm>
            <a:off x="365760" y="502920"/>
            <a:ext cx="8229600" cy="457200"/>
          </a:xfrm>
          <a:prstGeom prst="rect">
            <a:avLst/>
          </a:prstGeom>
          <a:noFill/>
          <a:ln/>
        </p:spPr>
        <p:txBody>
          <a:bodyPr wrap="square" lIns="0" tIns="0" rIns="0" bIns="0" rtlCol="0" anchor="ctr"/>
          <a:lstStyle/>
          <a:p>
            <a:pPr marL="0" indent="0">
              <a:buNone/>
            </a:pPr>
            <a:r>
              <a:rPr lang="en-US" sz="2800" b="1" dirty="0">
                <a:solidFill>
                  <a:srgbClr val="1A1A1A"/>
                </a:solidFill>
                <a:latin typeface="Calibri" pitchFamily="34" charset="0"/>
                <a:ea typeface="Calibri" pitchFamily="34" charset="-122"/>
                <a:cs typeface="Calibri" pitchFamily="34" charset="-120"/>
              </a:rPr>
              <a:t>Future Improvements</a:t>
            </a:r>
            <a:endParaRPr lang="en-US" sz="2800" dirty="0"/>
          </a:p>
        </p:txBody>
      </p:sp>
      <p:sp>
        <p:nvSpPr>
          <p:cNvPr id="5" name="Shape 3"/>
          <p:cNvSpPr/>
          <p:nvPr/>
        </p:nvSpPr>
        <p:spPr>
          <a:xfrm>
            <a:off x="365760" y="111556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6" name="Text 4"/>
          <p:cNvSpPr/>
          <p:nvPr/>
        </p:nvSpPr>
        <p:spPr>
          <a:xfrm>
            <a:off x="475488" y="1298448"/>
            <a:ext cx="475488" cy="475488"/>
          </a:xfrm>
          <a:prstGeom prst="rect">
            <a:avLst/>
          </a:prstGeom>
          <a:noFill/>
          <a:ln/>
        </p:spPr>
        <p:txBody>
          <a:bodyPr wrap="square" lIns="0" tIns="0" rIns="0" bIns="0" rtlCol="0" anchor="ctr"/>
          <a:lstStyle/>
          <a:p>
            <a:pPr marL="0" indent="0">
              <a:buNone/>
            </a:pPr>
            <a:endParaRPr lang="en-US" sz="1800" dirty="0"/>
          </a:p>
        </p:txBody>
      </p:sp>
      <p:sp>
        <p:nvSpPr>
          <p:cNvPr id="7" name="Text 5"/>
          <p:cNvSpPr/>
          <p:nvPr/>
        </p:nvSpPr>
        <p:spPr>
          <a:xfrm>
            <a:off x="1042416" y="118872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Push Notifications</a:t>
            </a:r>
            <a:endParaRPr lang="en-US" sz="1200" dirty="0"/>
          </a:p>
        </p:txBody>
      </p:sp>
      <p:sp>
        <p:nvSpPr>
          <p:cNvPr id="9" name="Text 7"/>
          <p:cNvSpPr/>
          <p:nvPr/>
        </p:nvSpPr>
        <p:spPr>
          <a:xfrm>
            <a:off x="3675888" y="1207008"/>
            <a:ext cx="676656" cy="201168"/>
          </a:xfrm>
          <a:prstGeom prst="rect">
            <a:avLst/>
          </a:prstGeom>
          <a:noFill/>
          <a:ln/>
        </p:spPr>
        <p:txBody>
          <a:bodyPr wrap="square" lIns="0" tIns="0" rIns="0" bIns="0" rtlCol="0" anchor="ctr"/>
          <a:lstStyle/>
          <a:p>
            <a:pPr marL="0" indent="0" algn="ctr">
              <a:buNone/>
            </a:pPr>
            <a:endParaRPr lang="en-US" sz="700" dirty="0"/>
          </a:p>
        </p:txBody>
      </p:sp>
      <p:sp>
        <p:nvSpPr>
          <p:cNvPr id="10" name="Text 8"/>
          <p:cNvSpPr/>
          <p:nvPr/>
        </p:nvSpPr>
        <p:spPr>
          <a:xfrm>
            <a:off x="1042416" y="1463040"/>
            <a:ext cx="3310128" cy="438912"/>
          </a:xfrm>
          <a:prstGeom prst="rect">
            <a:avLst/>
          </a:prstGeom>
          <a:noFill/>
          <a:ln/>
        </p:spPr>
        <p:txBody>
          <a:bodyPr wrap="square" lIns="0" tIns="0" rIns="0" bIns="0" rtlCol="0" anchor="ctr"/>
          <a:lstStyle/>
          <a:p>
            <a:pPr marL="0" indent="0">
              <a:buNone/>
            </a:pPr>
            <a:r>
              <a:rPr lang="en-US" sz="950" dirty="0">
                <a:solidFill>
                  <a:srgbClr val="6B6B60"/>
                </a:solidFill>
              </a:rPr>
              <a:t>Notify students when today's menu is posted or when a feast is announced.</a:t>
            </a:r>
            <a:endParaRPr lang="en-US" sz="950" dirty="0"/>
          </a:p>
        </p:txBody>
      </p:sp>
      <p:sp>
        <p:nvSpPr>
          <p:cNvPr id="11" name="Shape 9"/>
          <p:cNvSpPr/>
          <p:nvPr/>
        </p:nvSpPr>
        <p:spPr>
          <a:xfrm>
            <a:off x="4754880" y="111556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12" name="Text 10"/>
          <p:cNvSpPr/>
          <p:nvPr/>
        </p:nvSpPr>
        <p:spPr>
          <a:xfrm>
            <a:off x="4864608" y="1298448"/>
            <a:ext cx="475488" cy="475488"/>
          </a:xfrm>
          <a:prstGeom prst="rect">
            <a:avLst/>
          </a:prstGeom>
          <a:noFill/>
          <a:ln/>
        </p:spPr>
        <p:txBody>
          <a:bodyPr wrap="square" lIns="0" tIns="0" rIns="0" bIns="0" rtlCol="0" anchor="ctr"/>
          <a:lstStyle/>
          <a:p>
            <a:pPr marL="0" indent="0">
              <a:buNone/>
            </a:pPr>
            <a:endParaRPr lang="en-US" sz="1800" dirty="0"/>
          </a:p>
        </p:txBody>
      </p:sp>
      <p:sp>
        <p:nvSpPr>
          <p:cNvPr id="13" name="Text 11"/>
          <p:cNvSpPr/>
          <p:nvPr/>
        </p:nvSpPr>
        <p:spPr>
          <a:xfrm>
            <a:off x="5431536" y="118872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Offline Support</a:t>
            </a:r>
            <a:endParaRPr lang="en-US" sz="1200" dirty="0"/>
          </a:p>
        </p:txBody>
      </p:sp>
      <p:sp>
        <p:nvSpPr>
          <p:cNvPr id="15" name="Text 13"/>
          <p:cNvSpPr/>
          <p:nvPr/>
        </p:nvSpPr>
        <p:spPr>
          <a:xfrm>
            <a:off x="8065008" y="1207008"/>
            <a:ext cx="676656" cy="201168"/>
          </a:xfrm>
          <a:prstGeom prst="rect">
            <a:avLst/>
          </a:prstGeom>
          <a:noFill/>
          <a:ln/>
        </p:spPr>
        <p:txBody>
          <a:bodyPr wrap="square" lIns="0" tIns="0" rIns="0" bIns="0" rtlCol="0" anchor="ctr"/>
          <a:lstStyle/>
          <a:p>
            <a:pPr marL="0" indent="0" algn="ctr">
              <a:buNone/>
            </a:pPr>
            <a:endParaRPr lang="en-US" sz="700" dirty="0"/>
          </a:p>
        </p:txBody>
      </p:sp>
      <p:sp>
        <p:nvSpPr>
          <p:cNvPr id="16" name="Text 14"/>
          <p:cNvSpPr/>
          <p:nvPr/>
        </p:nvSpPr>
        <p:spPr>
          <a:xfrm>
            <a:off x="5431536" y="1463040"/>
            <a:ext cx="3310128" cy="438912"/>
          </a:xfrm>
          <a:prstGeom prst="rect">
            <a:avLst/>
          </a:prstGeom>
          <a:noFill/>
          <a:ln/>
        </p:spPr>
        <p:txBody>
          <a:bodyPr wrap="square" lIns="0" tIns="0" rIns="0" bIns="0" rtlCol="0" anchor="ctr"/>
          <a:lstStyle/>
          <a:p>
            <a:pPr marL="0" indent="0">
              <a:buNone/>
            </a:pPr>
            <a:r>
              <a:rPr lang="en-US" sz="950" dirty="0">
                <a:solidFill>
                  <a:srgbClr val="6B6B60"/>
                </a:solidFill>
              </a:rPr>
              <a:t>Replace getFirestore() with initializeFirestore(CACHE_SIZE_UNLIMITED) for offline menu browsing.</a:t>
            </a:r>
            <a:endParaRPr lang="en-US" sz="950" dirty="0"/>
          </a:p>
        </p:txBody>
      </p:sp>
      <p:sp>
        <p:nvSpPr>
          <p:cNvPr id="17" name="Shape 15"/>
          <p:cNvSpPr/>
          <p:nvPr/>
        </p:nvSpPr>
        <p:spPr>
          <a:xfrm>
            <a:off x="365760" y="207568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18" name="Text 16"/>
          <p:cNvSpPr/>
          <p:nvPr/>
        </p:nvSpPr>
        <p:spPr>
          <a:xfrm>
            <a:off x="475488" y="2258568"/>
            <a:ext cx="475488" cy="475488"/>
          </a:xfrm>
          <a:prstGeom prst="rect">
            <a:avLst/>
          </a:prstGeom>
          <a:noFill/>
          <a:ln/>
        </p:spPr>
        <p:txBody>
          <a:bodyPr wrap="square" lIns="0" tIns="0" rIns="0" bIns="0" rtlCol="0" anchor="ctr"/>
          <a:lstStyle/>
          <a:p>
            <a:pPr marL="0" indent="0">
              <a:buNone/>
            </a:pPr>
            <a:endParaRPr lang="en-US" sz="1800" dirty="0"/>
          </a:p>
        </p:txBody>
      </p:sp>
      <p:sp>
        <p:nvSpPr>
          <p:cNvPr id="19" name="Text 17"/>
          <p:cNvSpPr/>
          <p:nvPr/>
        </p:nvSpPr>
        <p:spPr>
          <a:xfrm>
            <a:off x="1042416" y="214884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Race Condition Fix</a:t>
            </a:r>
            <a:endParaRPr lang="en-US" sz="1200" dirty="0"/>
          </a:p>
        </p:txBody>
      </p:sp>
      <p:sp>
        <p:nvSpPr>
          <p:cNvPr id="21" name="Text 19"/>
          <p:cNvSpPr/>
          <p:nvPr/>
        </p:nvSpPr>
        <p:spPr>
          <a:xfrm>
            <a:off x="3675888" y="2167128"/>
            <a:ext cx="676656" cy="201168"/>
          </a:xfrm>
          <a:prstGeom prst="rect">
            <a:avLst/>
          </a:prstGeom>
          <a:noFill/>
          <a:ln/>
        </p:spPr>
        <p:txBody>
          <a:bodyPr wrap="square" lIns="0" tIns="0" rIns="0" bIns="0" rtlCol="0" anchor="ctr"/>
          <a:lstStyle/>
          <a:p>
            <a:pPr marL="0" indent="0" algn="ctr">
              <a:buNone/>
            </a:pPr>
            <a:endParaRPr lang="en-US" sz="700" dirty="0"/>
          </a:p>
        </p:txBody>
      </p:sp>
      <p:sp>
        <p:nvSpPr>
          <p:cNvPr id="22" name="Text 20"/>
          <p:cNvSpPr/>
          <p:nvPr/>
        </p:nvSpPr>
        <p:spPr>
          <a:xfrm>
            <a:off x="1042416" y="2423160"/>
            <a:ext cx="3310128" cy="438912"/>
          </a:xfrm>
          <a:prstGeom prst="rect">
            <a:avLst/>
          </a:prstGeom>
          <a:noFill/>
          <a:ln/>
        </p:spPr>
        <p:txBody>
          <a:bodyPr wrap="square" lIns="0" tIns="0" rIns="0" bIns="0" rtlCol="0" anchor="ctr"/>
          <a:lstStyle/>
          <a:p>
            <a:pPr marL="0" indent="0">
              <a:buNone/>
            </a:pPr>
            <a:r>
              <a:rPr lang="en-US" sz="950" dirty="0">
                <a:solidFill>
                  <a:srgbClr val="6B6B60"/>
                </a:solidFill>
              </a:rPr>
              <a:t>Replace manual count-- with Firestore atomic increment(-1) to fix concurrent serve conflicts.</a:t>
            </a:r>
            <a:endParaRPr lang="en-US" sz="950" dirty="0"/>
          </a:p>
        </p:txBody>
      </p:sp>
      <p:sp>
        <p:nvSpPr>
          <p:cNvPr id="23" name="Shape 21"/>
          <p:cNvSpPr/>
          <p:nvPr/>
        </p:nvSpPr>
        <p:spPr>
          <a:xfrm>
            <a:off x="4754880" y="207568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24" name="Text 22"/>
          <p:cNvSpPr/>
          <p:nvPr/>
        </p:nvSpPr>
        <p:spPr>
          <a:xfrm>
            <a:off x="4864608" y="2258568"/>
            <a:ext cx="475488" cy="475488"/>
          </a:xfrm>
          <a:prstGeom prst="rect">
            <a:avLst/>
          </a:prstGeom>
          <a:noFill/>
          <a:ln/>
        </p:spPr>
        <p:txBody>
          <a:bodyPr wrap="square" lIns="0" tIns="0" rIns="0" bIns="0" rtlCol="0" anchor="ctr"/>
          <a:lstStyle/>
          <a:p>
            <a:pPr marL="0" indent="0">
              <a:buNone/>
            </a:pPr>
            <a:endParaRPr lang="en-US" sz="1800" dirty="0"/>
          </a:p>
        </p:txBody>
      </p:sp>
      <p:sp>
        <p:nvSpPr>
          <p:cNvPr id="25" name="Text 23"/>
          <p:cNvSpPr/>
          <p:nvPr/>
        </p:nvSpPr>
        <p:spPr>
          <a:xfrm>
            <a:off x="5431536" y="214884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Student Review Auth</a:t>
            </a:r>
            <a:endParaRPr lang="en-US" sz="1200" dirty="0"/>
          </a:p>
        </p:txBody>
      </p:sp>
      <p:sp>
        <p:nvSpPr>
          <p:cNvPr id="27" name="Text 25"/>
          <p:cNvSpPr/>
          <p:nvPr/>
        </p:nvSpPr>
        <p:spPr>
          <a:xfrm>
            <a:off x="8065008" y="2167128"/>
            <a:ext cx="676656" cy="201168"/>
          </a:xfrm>
          <a:prstGeom prst="rect">
            <a:avLst/>
          </a:prstGeom>
          <a:noFill/>
          <a:ln/>
        </p:spPr>
        <p:txBody>
          <a:bodyPr wrap="square" lIns="0" tIns="0" rIns="0" bIns="0" rtlCol="0" anchor="ctr"/>
          <a:lstStyle/>
          <a:p>
            <a:pPr marL="0" indent="0" algn="ctr">
              <a:buNone/>
            </a:pPr>
            <a:endParaRPr lang="en-US" sz="700" dirty="0"/>
          </a:p>
        </p:txBody>
      </p:sp>
      <p:sp>
        <p:nvSpPr>
          <p:cNvPr id="28" name="Text 26"/>
          <p:cNvSpPr/>
          <p:nvPr/>
        </p:nvSpPr>
        <p:spPr>
          <a:xfrm>
            <a:off x="5431536" y="2423160"/>
            <a:ext cx="3310128" cy="438912"/>
          </a:xfrm>
          <a:prstGeom prst="rect">
            <a:avLst/>
          </a:prstGeom>
          <a:noFill/>
          <a:ln/>
        </p:spPr>
        <p:txBody>
          <a:bodyPr wrap="square" lIns="0" tIns="0" rIns="0" bIns="0" rtlCol="0" anchor="ctr"/>
          <a:lstStyle/>
          <a:p>
            <a:pPr marL="0" indent="0">
              <a:buNone/>
            </a:pPr>
            <a:r>
              <a:rPr lang="en-US" sz="950" dirty="0">
                <a:solidFill>
                  <a:srgbClr val="6B6B60"/>
                </a:solidFill>
              </a:rPr>
              <a:t>Require Student ID login before review submission to prevent spam and anonymous abuse.</a:t>
            </a:r>
            <a:endParaRPr lang="en-US" sz="950" dirty="0"/>
          </a:p>
        </p:txBody>
      </p:sp>
      <p:sp>
        <p:nvSpPr>
          <p:cNvPr id="29" name="Shape 27"/>
          <p:cNvSpPr/>
          <p:nvPr/>
        </p:nvSpPr>
        <p:spPr>
          <a:xfrm>
            <a:off x="365760" y="303580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30" name="Text 28"/>
          <p:cNvSpPr/>
          <p:nvPr/>
        </p:nvSpPr>
        <p:spPr>
          <a:xfrm>
            <a:off x="475488" y="3218688"/>
            <a:ext cx="475488" cy="475488"/>
          </a:xfrm>
          <a:prstGeom prst="rect">
            <a:avLst/>
          </a:prstGeom>
          <a:noFill/>
          <a:ln/>
        </p:spPr>
        <p:txBody>
          <a:bodyPr wrap="square" lIns="0" tIns="0" rIns="0" bIns="0" rtlCol="0" anchor="ctr"/>
          <a:lstStyle/>
          <a:p>
            <a:pPr marL="0" indent="0">
              <a:buNone/>
            </a:pPr>
            <a:endParaRPr lang="en-US" sz="1800" dirty="0"/>
          </a:p>
        </p:txBody>
      </p:sp>
      <p:sp>
        <p:nvSpPr>
          <p:cNvPr id="31" name="Text 29"/>
          <p:cNvSpPr/>
          <p:nvPr/>
        </p:nvSpPr>
        <p:spPr>
          <a:xfrm>
            <a:off x="1042416" y="310896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Analytics Dashboard</a:t>
            </a:r>
            <a:endParaRPr lang="en-US" sz="1200" dirty="0"/>
          </a:p>
        </p:txBody>
      </p:sp>
      <p:sp>
        <p:nvSpPr>
          <p:cNvPr id="33" name="Text 31"/>
          <p:cNvSpPr/>
          <p:nvPr/>
        </p:nvSpPr>
        <p:spPr>
          <a:xfrm>
            <a:off x="3675888" y="3127248"/>
            <a:ext cx="676656" cy="201168"/>
          </a:xfrm>
          <a:prstGeom prst="rect">
            <a:avLst/>
          </a:prstGeom>
          <a:noFill/>
          <a:ln/>
        </p:spPr>
        <p:txBody>
          <a:bodyPr wrap="square" lIns="0" tIns="0" rIns="0" bIns="0" rtlCol="0" anchor="ctr"/>
          <a:lstStyle/>
          <a:p>
            <a:pPr marL="0" indent="0" algn="ctr">
              <a:buNone/>
            </a:pPr>
            <a:endParaRPr lang="en-US" sz="700" dirty="0"/>
          </a:p>
        </p:txBody>
      </p:sp>
      <p:sp>
        <p:nvSpPr>
          <p:cNvPr id="34" name="Text 32"/>
          <p:cNvSpPr/>
          <p:nvPr/>
        </p:nvSpPr>
        <p:spPr>
          <a:xfrm>
            <a:off x="1042416" y="3383280"/>
            <a:ext cx="3310128" cy="438912"/>
          </a:xfrm>
          <a:prstGeom prst="rect">
            <a:avLst/>
          </a:prstGeom>
          <a:noFill/>
          <a:ln/>
        </p:spPr>
        <p:txBody>
          <a:bodyPr wrap="square" lIns="0" tIns="0" rIns="0" bIns="0" rtlCol="0" anchor="ctr"/>
          <a:lstStyle/>
          <a:p>
            <a:pPr marL="0" indent="0">
              <a:buNone/>
            </a:pPr>
            <a:r>
              <a:rPr lang="en-US" sz="950" dirty="0">
                <a:solidFill>
                  <a:srgbClr val="6B6B60"/>
                </a:solidFill>
              </a:rPr>
              <a:t>Track which food items get highest ratings and most reviews across all halls.</a:t>
            </a:r>
            <a:endParaRPr lang="en-US" sz="950" dirty="0"/>
          </a:p>
        </p:txBody>
      </p:sp>
      <p:sp>
        <p:nvSpPr>
          <p:cNvPr id="35" name="Shape 33"/>
          <p:cNvSpPr/>
          <p:nvPr/>
        </p:nvSpPr>
        <p:spPr>
          <a:xfrm>
            <a:off x="4754880" y="3035808"/>
            <a:ext cx="4114800" cy="850392"/>
          </a:xfrm>
          <a:prstGeom prst="roundRect">
            <a:avLst>
              <a:gd name="adj" fmla="val 10753"/>
            </a:avLst>
          </a:prstGeom>
          <a:solidFill>
            <a:srgbClr val="FAFAFA"/>
          </a:solidFill>
          <a:ln/>
          <a:effectLst>
            <a:outerShdw blurRad="76200" dist="25400" dir="2700000" algn="bl" rotWithShape="0">
              <a:srgbClr val="000000">
                <a:alpha val="10000"/>
              </a:srgbClr>
            </a:outerShdw>
          </a:effectLst>
        </p:spPr>
      </p:sp>
      <p:sp>
        <p:nvSpPr>
          <p:cNvPr id="36" name="Text 34"/>
          <p:cNvSpPr/>
          <p:nvPr/>
        </p:nvSpPr>
        <p:spPr>
          <a:xfrm>
            <a:off x="4864608" y="3218688"/>
            <a:ext cx="475488" cy="475488"/>
          </a:xfrm>
          <a:prstGeom prst="rect">
            <a:avLst/>
          </a:prstGeom>
          <a:noFill/>
          <a:ln/>
        </p:spPr>
        <p:txBody>
          <a:bodyPr wrap="square" lIns="0" tIns="0" rIns="0" bIns="0" rtlCol="0" anchor="ctr"/>
          <a:lstStyle/>
          <a:p>
            <a:pPr marL="0" indent="0">
              <a:buNone/>
            </a:pPr>
            <a:endParaRPr lang="en-US" sz="1800" dirty="0"/>
          </a:p>
        </p:txBody>
      </p:sp>
      <p:sp>
        <p:nvSpPr>
          <p:cNvPr id="37" name="Text 35"/>
          <p:cNvSpPr/>
          <p:nvPr/>
        </p:nvSpPr>
        <p:spPr>
          <a:xfrm>
            <a:off x="5431536" y="3108960"/>
            <a:ext cx="2560320" cy="256032"/>
          </a:xfrm>
          <a:prstGeom prst="rect">
            <a:avLst/>
          </a:prstGeom>
          <a:noFill/>
          <a:ln/>
        </p:spPr>
        <p:txBody>
          <a:bodyPr wrap="square" lIns="0" tIns="0" rIns="0" bIns="0" rtlCol="0" anchor="ctr"/>
          <a:lstStyle/>
          <a:p>
            <a:pPr marL="0" indent="0">
              <a:buNone/>
            </a:pPr>
            <a:r>
              <a:rPr lang="en-US" sz="1200" b="1" dirty="0">
                <a:solidFill>
                  <a:srgbClr val="1A1A1A"/>
                </a:solidFill>
              </a:rPr>
              <a:t>Advance Menu Planning</a:t>
            </a:r>
            <a:endParaRPr lang="en-US" sz="1200" dirty="0"/>
          </a:p>
        </p:txBody>
      </p:sp>
      <p:sp>
        <p:nvSpPr>
          <p:cNvPr id="39" name="Text 37"/>
          <p:cNvSpPr/>
          <p:nvPr/>
        </p:nvSpPr>
        <p:spPr>
          <a:xfrm>
            <a:off x="8065008" y="3127248"/>
            <a:ext cx="676656" cy="201168"/>
          </a:xfrm>
          <a:prstGeom prst="rect">
            <a:avLst/>
          </a:prstGeom>
          <a:noFill/>
          <a:ln/>
        </p:spPr>
        <p:txBody>
          <a:bodyPr wrap="square" lIns="0" tIns="0" rIns="0" bIns="0" rtlCol="0" anchor="ctr"/>
          <a:lstStyle/>
          <a:p>
            <a:pPr marL="0" indent="0" algn="ctr">
              <a:buNone/>
            </a:pPr>
            <a:endParaRPr lang="en-US" sz="700" dirty="0"/>
          </a:p>
        </p:txBody>
      </p:sp>
      <p:sp>
        <p:nvSpPr>
          <p:cNvPr id="40" name="Text 38"/>
          <p:cNvSpPr/>
          <p:nvPr/>
        </p:nvSpPr>
        <p:spPr>
          <a:xfrm>
            <a:off x="5431536" y="3383280"/>
            <a:ext cx="3310128" cy="438912"/>
          </a:xfrm>
          <a:prstGeom prst="rect">
            <a:avLst/>
          </a:prstGeom>
          <a:noFill/>
          <a:ln/>
        </p:spPr>
        <p:txBody>
          <a:bodyPr wrap="square" lIns="0" tIns="0" rIns="0" bIns="0" rtlCol="0" anchor="ctr"/>
          <a:lstStyle/>
          <a:p>
            <a:pPr marL="0" indent="0">
              <a:buNone/>
            </a:pPr>
            <a:r>
              <a:rPr lang="en-US" sz="950" dirty="0">
                <a:solidFill>
                  <a:srgbClr val="6B6B60"/>
                </a:solidFill>
              </a:rPr>
              <a:t>Allow moderators to set tomorrow's menu tonight — auto-visible at midnight Dhaka time.</a:t>
            </a:r>
            <a:endParaRPr lang="en-US" sz="950" dirty="0"/>
          </a:p>
        </p:txBody>
      </p:sp>
      <p:sp>
        <p:nvSpPr>
          <p:cNvPr id="42" name="Text 40"/>
          <p:cNvSpPr/>
          <p:nvPr/>
        </p:nvSpPr>
        <p:spPr>
          <a:xfrm>
            <a:off x="475488" y="4178808"/>
            <a:ext cx="475488" cy="475488"/>
          </a:xfrm>
          <a:prstGeom prst="rect">
            <a:avLst/>
          </a:prstGeom>
          <a:noFill/>
          <a:ln/>
        </p:spPr>
        <p:txBody>
          <a:bodyPr wrap="square" lIns="0" tIns="0" rIns="0" bIns="0" rtlCol="0" anchor="ctr"/>
          <a:lstStyle/>
          <a:p>
            <a:pPr marL="0" indent="0">
              <a:buNone/>
            </a:pPr>
            <a:endParaRPr lang="en-US" sz="1800" dirty="0"/>
          </a:p>
        </p:txBody>
      </p:sp>
      <p:sp>
        <p:nvSpPr>
          <p:cNvPr id="43" name="Text 41"/>
          <p:cNvSpPr/>
          <p:nvPr/>
        </p:nvSpPr>
        <p:spPr>
          <a:xfrm>
            <a:off x="1042416" y="4069080"/>
            <a:ext cx="2560320" cy="256032"/>
          </a:xfrm>
          <a:prstGeom prst="rect">
            <a:avLst/>
          </a:prstGeom>
          <a:noFill/>
          <a:ln/>
        </p:spPr>
        <p:txBody>
          <a:bodyPr wrap="square" lIns="0" tIns="0" rIns="0" bIns="0" rtlCol="0" anchor="ctr"/>
          <a:lstStyle/>
          <a:p>
            <a:pPr marL="0" indent="0">
              <a:buNone/>
            </a:pPr>
            <a:endParaRPr lang="en-US" sz="1200" dirty="0"/>
          </a:p>
        </p:txBody>
      </p:sp>
      <p:sp>
        <p:nvSpPr>
          <p:cNvPr id="45" name="Text 43"/>
          <p:cNvSpPr/>
          <p:nvPr/>
        </p:nvSpPr>
        <p:spPr>
          <a:xfrm>
            <a:off x="3675888" y="4087368"/>
            <a:ext cx="676656" cy="201168"/>
          </a:xfrm>
          <a:prstGeom prst="rect">
            <a:avLst/>
          </a:prstGeom>
          <a:noFill/>
          <a:ln/>
        </p:spPr>
        <p:txBody>
          <a:bodyPr wrap="square" lIns="0" tIns="0" rIns="0" bIns="0" rtlCol="0" anchor="ctr"/>
          <a:lstStyle/>
          <a:p>
            <a:pPr marL="0" indent="0" algn="ctr">
              <a:buNone/>
            </a:pPr>
            <a:endParaRPr lang="en-US" sz="700" dirty="0"/>
          </a:p>
        </p:txBody>
      </p:sp>
      <p:sp>
        <p:nvSpPr>
          <p:cNvPr id="46" name="Text 44"/>
          <p:cNvSpPr/>
          <p:nvPr/>
        </p:nvSpPr>
        <p:spPr>
          <a:xfrm>
            <a:off x="1042416" y="4343400"/>
            <a:ext cx="3310128" cy="438912"/>
          </a:xfrm>
          <a:prstGeom prst="rect">
            <a:avLst/>
          </a:prstGeom>
          <a:noFill/>
          <a:ln/>
        </p:spPr>
        <p:txBody>
          <a:bodyPr wrap="square" lIns="0" tIns="0" rIns="0" bIns="0" rtlCol="0" anchor="ctr"/>
          <a:lstStyle/>
          <a:p>
            <a:pPr marL="0" indent="0">
              <a:buNone/>
            </a:pPr>
            <a:endParaRPr lang="en-US" sz="950" dirty="0"/>
          </a:p>
        </p:txBody>
      </p:sp>
      <p:sp>
        <p:nvSpPr>
          <p:cNvPr id="48" name="Text 46"/>
          <p:cNvSpPr/>
          <p:nvPr/>
        </p:nvSpPr>
        <p:spPr>
          <a:xfrm>
            <a:off x="4864608" y="4178808"/>
            <a:ext cx="475488" cy="475488"/>
          </a:xfrm>
          <a:prstGeom prst="rect">
            <a:avLst/>
          </a:prstGeom>
          <a:noFill/>
          <a:ln/>
        </p:spPr>
        <p:txBody>
          <a:bodyPr wrap="square" lIns="0" tIns="0" rIns="0" bIns="0" rtlCol="0" anchor="ctr"/>
          <a:lstStyle/>
          <a:p>
            <a:pPr marL="0" indent="0">
              <a:buNone/>
            </a:pPr>
            <a:endParaRPr lang="en-US" sz="1800" dirty="0"/>
          </a:p>
        </p:txBody>
      </p:sp>
      <p:sp>
        <p:nvSpPr>
          <p:cNvPr id="49" name="Text 47"/>
          <p:cNvSpPr/>
          <p:nvPr/>
        </p:nvSpPr>
        <p:spPr>
          <a:xfrm>
            <a:off x="5431536" y="4069080"/>
            <a:ext cx="2560320" cy="256032"/>
          </a:xfrm>
          <a:prstGeom prst="rect">
            <a:avLst/>
          </a:prstGeom>
          <a:noFill/>
          <a:ln/>
        </p:spPr>
        <p:txBody>
          <a:bodyPr wrap="square" lIns="0" tIns="0" rIns="0" bIns="0" rtlCol="0" anchor="ctr"/>
          <a:lstStyle/>
          <a:p>
            <a:pPr marL="0" indent="0">
              <a:buNone/>
            </a:pPr>
            <a:endParaRPr lang="en-US" sz="1200" dirty="0"/>
          </a:p>
        </p:txBody>
      </p:sp>
      <p:sp>
        <p:nvSpPr>
          <p:cNvPr id="51" name="Text 49"/>
          <p:cNvSpPr/>
          <p:nvPr/>
        </p:nvSpPr>
        <p:spPr>
          <a:xfrm>
            <a:off x="8065008" y="4087368"/>
            <a:ext cx="676656" cy="201168"/>
          </a:xfrm>
          <a:prstGeom prst="rect">
            <a:avLst/>
          </a:prstGeom>
          <a:noFill/>
          <a:ln/>
        </p:spPr>
        <p:txBody>
          <a:bodyPr wrap="square" lIns="0" tIns="0" rIns="0" bIns="0" rtlCol="0" anchor="ctr"/>
          <a:lstStyle/>
          <a:p>
            <a:pPr marL="0" indent="0" algn="ctr">
              <a:buNone/>
            </a:pPr>
            <a:endParaRPr lang="en-US" sz="700" dirty="0"/>
          </a:p>
        </p:txBody>
      </p:sp>
      <p:sp>
        <p:nvSpPr>
          <p:cNvPr id="52" name="Text 50"/>
          <p:cNvSpPr/>
          <p:nvPr/>
        </p:nvSpPr>
        <p:spPr>
          <a:xfrm>
            <a:off x="5431536" y="4343400"/>
            <a:ext cx="3310128" cy="438912"/>
          </a:xfrm>
          <a:prstGeom prst="rect">
            <a:avLst/>
          </a:prstGeom>
          <a:noFill/>
          <a:ln/>
        </p:spPr>
        <p:txBody>
          <a:bodyPr wrap="square" lIns="0" tIns="0" rIns="0" bIns="0" rtlCol="0" anchor="ctr"/>
          <a:lstStyle/>
          <a:p>
            <a:pPr marL="0" indent="0">
              <a:buNone/>
            </a:pP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1A2E1F"/>
        </a:solidFill>
        <a:effectLst/>
      </p:bgPr>
    </p:bg>
    <p:spTree>
      <p:nvGrpSpPr>
        <p:cNvPr id="1" name=""/>
        <p:cNvGrpSpPr/>
        <p:nvPr/>
      </p:nvGrpSpPr>
      <p:grpSpPr>
        <a:xfrm>
          <a:off x="0" y="0"/>
          <a:ext cx="0" cy="0"/>
          <a:chOff x="0" y="0"/>
          <a:chExt cx="0" cy="0"/>
        </a:xfrm>
      </p:grpSpPr>
      <p:sp>
        <p:nvSpPr>
          <p:cNvPr id="2" name="Shape 0"/>
          <p:cNvSpPr/>
          <p:nvPr/>
        </p:nvSpPr>
        <p:spPr>
          <a:xfrm>
            <a:off x="5943600" y="-731520"/>
            <a:ext cx="4572000" cy="4572000"/>
          </a:xfrm>
          <a:prstGeom prst="ellipse">
            <a:avLst/>
          </a:prstGeom>
          <a:solidFill>
            <a:srgbClr val="2D5A3D">
              <a:alpha val="42000"/>
            </a:srgbClr>
          </a:solidFill>
          <a:ln w="12700">
            <a:solidFill>
              <a:srgbClr val="2D5A3D">
                <a:alpha val="42000"/>
              </a:srgbClr>
            </a:solidFill>
            <a:prstDash val="solid"/>
          </a:ln>
        </p:spPr>
      </p:sp>
      <p:sp>
        <p:nvSpPr>
          <p:cNvPr id="3" name="Shape 1"/>
          <p:cNvSpPr/>
          <p:nvPr/>
        </p:nvSpPr>
        <p:spPr>
          <a:xfrm>
            <a:off x="7315200" y="2926080"/>
            <a:ext cx="2560320" cy="2560320"/>
          </a:xfrm>
          <a:prstGeom prst="ellipse">
            <a:avLst/>
          </a:prstGeom>
          <a:solidFill>
            <a:srgbClr val="52B788">
              <a:alpha val="32000"/>
            </a:srgbClr>
          </a:solidFill>
          <a:ln w="12700">
            <a:solidFill>
              <a:srgbClr val="52B788">
                <a:alpha val="32000"/>
              </a:srgbClr>
            </a:solidFill>
            <a:prstDash val="solid"/>
          </a:ln>
        </p:spPr>
      </p:sp>
      <p:sp>
        <p:nvSpPr>
          <p:cNvPr id="4" name="Text 2"/>
          <p:cNvSpPr/>
          <p:nvPr/>
        </p:nvSpPr>
        <p:spPr>
          <a:xfrm>
            <a:off x="548640" y="548640"/>
            <a:ext cx="6400800" cy="68580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Summary</a:t>
            </a:r>
            <a:endParaRPr lang="en-US" sz="3600" dirty="0"/>
          </a:p>
        </p:txBody>
      </p:sp>
      <p:sp>
        <p:nvSpPr>
          <p:cNvPr id="5" name="Shape 3"/>
          <p:cNvSpPr/>
          <p:nvPr/>
        </p:nvSpPr>
        <p:spPr>
          <a:xfrm>
            <a:off x="457200" y="1371600"/>
            <a:ext cx="347472" cy="347472"/>
          </a:xfrm>
          <a:prstGeom prst="roundRect">
            <a:avLst>
              <a:gd name="adj" fmla="val 13158"/>
            </a:avLst>
          </a:prstGeom>
          <a:solidFill>
            <a:srgbClr val="52B788"/>
          </a:solidFill>
          <a:ln w="12700">
            <a:solidFill>
              <a:srgbClr val="52B788"/>
            </a:solidFill>
            <a:prstDash val="solid"/>
          </a:ln>
        </p:spPr>
      </p:sp>
      <p:sp>
        <p:nvSpPr>
          <p:cNvPr id="6" name="Text 4"/>
          <p:cNvSpPr/>
          <p:nvPr/>
        </p:nvSpPr>
        <p:spPr>
          <a:xfrm>
            <a:off x="457200" y="137160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1</a:t>
            </a:r>
            <a:endParaRPr lang="en-US" sz="1100" dirty="0"/>
          </a:p>
        </p:txBody>
      </p:sp>
      <p:sp>
        <p:nvSpPr>
          <p:cNvPr id="7" name="Text 5"/>
          <p:cNvSpPr/>
          <p:nvPr/>
        </p:nvSpPr>
        <p:spPr>
          <a:xfrm>
            <a:off x="914400" y="1389888"/>
            <a:ext cx="749808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23 Screens  —  Complete student + moderator feature set across dining &amp; canteen roles</a:t>
            </a:r>
            <a:endParaRPr lang="en-US" sz="1100" dirty="0"/>
          </a:p>
        </p:txBody>
      </p:sp>
      <p:sp>
        <p:nvSpPr>
          <p:cNvPr id="8" name="Shape 6"/>
          <p:cNvSpPr/>
          <p:nvPr/>
        </p:nvSpPr>
        <p:spPr>
          <a:xfrm>
            <a:off x="457200" y="1947672"/>
            <a:ext cx="347472" cy="347472"/>
          </a:xfrm>
          <a:prstGeom prst="roundRect">
            <a:avLst>
              <a:gd name="adj" fmla="val 13158"/>
            </a:avLst>
          </a:prstGeom>
          <a:solidFill>
            <a:srgbClr val="52B788"/>
          </a:solidFill>
          <a:ln w="12700">
            <a:solidFill>
              <a:srgbClr val="52B788"/>
            </a:solidFill>
            <a:prstDash val="solid"/>
          </a:ln>
        </p:spPr>
      </p:sp>
      <p:sp>
        <p:nvSpPr>
          <p:cNvPr id="9" name="Text 7"/>
          <p:cNvSpPr/>
          <p:nvPr/>
        </p:nvSpPr>
        <p:spPr>
          <a:xfrm>
            <a:off x="457200" y="1947672"/>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2</a:t>
            </a:r>
            <a:endParaRPr lang="en-US" sz="1100" dirty="0"/>
          </a:p>
        </p:txBody>
      </p:sp>
      <p:sp>
        <p:nvSpPr>
          <p:cNvPr id="10" name="Text 8"/>
          <p:cNvSpPr/>
          <p:nvPr/>
        </p:nvSpPr>
        <p:spPr>
          <a:xfrm>
            <a:off x="914400" y="1965960"/>
            <a:ext cx="749808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Firebase BaaS  —  No custom server — auth, database, security rules from one platform</a:t>
            </a:r>
            <a:endParaRPr lang="en-US" sz="1100" dirty="0"/>
          </a:p>
        </p:txBody>
      </p:sp>
      <p:sp>
        <p:nvSpPr>
          <p:cNvPr id="11" name="Shape 9"/>
          <p:cNvSpPr/>
          <p:nvPr/>
        </p:nvSpPr>
        <p:spPr>
          <a:xfrm>
            <a:off x="457200" y="2523744"/>
            <a:ext cx="347472" cy="347472"/>
          </a:xfrm>
          <a:prstGeom prst="roundRect">
            <a:avLst>
              <a:gd name="adj" fmla="val 13158"/>
            </a:avLst>
          </a:prstGeom>
          <a:solidFill>
            <a:srgbClr val="52B788"/>
          </a:solidFill>
          <a:ln w="12700">
            <a:solidFill>
              <a:srgbClr val="52B788"/>
            </a:solidFill>
            <a:prstDash val="solid"/>
          </a:ln>
        </p:spPr>
      </p:sp>
      <p:sp>
        <p:nvSpPr>
          <p:cNvPr id="12" name="Text 10"/>
          <p:cNvSpPr/>
          <p:nvPr/>
        </p:nvSpPr>
        <p:spPr>
          <a:xfrm>
            <a:off x="457200" y="252374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3</a:t>
            </a:r>
            <a:endParaRPr lang="en-US" sz="1100" dirty="0"/>
          </a:p>
        </p:txBody>
      </p:sp>
      <p:sp>
        <p:nvSpPr>
          <p:cNvPr id="13" name="Text 11"/>
          <p:cNvSpPr/>
          <p:nvPr/>
        </p:nvSpPr>
        <p:spPr>
          <a:xfrm>
            <a:off x="914400" y="2542032"/>
            <a:ext cx="749808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Repository Pattern  —  All CRUD centralized in repository.js — maintainable &amp; testable</a:t>
            </a:r>
            <a:endParaRPr lang="en-US" sz="1100" dirty="0"/>
          </a:p>
        </p:txBody>
      </p:sp>
      <p:sp>
        <p:nvSpPr>
          <p:cNvPr id="14" name="Shape 12"/>
          <p:cNvSpPr/>
          <p:nvPr/>
        </p:nvSpPr>
        <p:spPr>
          <a:xfrm>
            <a:off x="457200" y="3099816"/>
            <a:ext cx="347472" cy="347472"/>
          </a:xfrm>
          <a:prstGeom prst="roundRect">
            <a:avLst>
              <a:gd name="adj" fmla="val 13158"/>
            </a:avLst>
          </a:prstGeom>
          <a:solidFill>
            <a:srgbClr val="52B788"/>
          </a:solidFill>
          <a:ln w="12700">
            <a:solidFill>
              <a:srgbClr val="52B788"/>
            </a:solidFill>
            <a:prstDash val="solid"/>
          </a:ln>
        </p:spPr>
      </p:sp>
      <p:sp>
        <p:nvSpPr>
          <p:cNvPr id="15" name="Text 13"/>
          <p:cNvSpPr/>
          <p:nvPr/>
        </p:nvSpPr>
        <p:spPr>
          <a:xfrm>
            <a:off x="457200" y="3099816"/>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4</a:t>
            </a:r>
            <a:endParaRPr lang="en-US" sz="1100" dirty="0"/>
          </a:p>
        </p:txBody>
      </p:sp>
      <p:sp>
        <p:nvSpPr>
          <p:cNvPr id="16" name="Text 14"/>
          <p:cNvSpPr/>
          <p:nvPr/>
        </p:nvSpPr>
        <p:spPr>
          <a:xfrm>
            <a:off x="914400" y="3118104"/>
            <a:ext cx="749808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Timezone Fix  —  Asia/Dhaka-aware getTodayKey() prevents midnight date shift bugs</a:t>
            </a:r>
            <a:endParaRPr lang="en-US" sz="1100" dirty="0"/>
          </a:p>
        </p:txBody>
      </p:sp>
      <p:sp>
        <p:nvSpPr>
          <p:cNvPr id="17" name="Shape 15"/>
          <p:cNvSpPr/>
          <p:nvPr/>
        </p:nvSpPr>
        <p:spPr>
          <a:xfrm>
            <a:off x="457200" y="3675888"/>
            <a:ext cx="347472" cy="347472"/>
          </a:xfrm>
          <a:prstGeom prst="roundRect">
            <a:avLst>
              <a:gd name="adj" fmla="val 13158"/>
            </a:avLst>
          </a:prstGeom>
          <a:solidFill>
            <a:srgbClr val="52B788"/>
          </a:solidFill>
          <a:ln w="12700">
            <a:solidFill>
              <a:srgbClr val="52B788"/>
            </a:solidFill>
            <a:prstDash val="solid"/>
          </a:ln>
        </p:spPr>
      </p:sp>
      <p:sp>
        <p:nvSpPr>
          <p:cNvPr id="18" name="Text 16"/>
          <p:cNvSpPr/>
          <p:nvPr/>
        </p:nvSpPr>
        <p:spPr>
          <a:xfrm>
            <a:off x="457200" y="3675888"/>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5</a:t>
            </a:r>
            <a:endParaRPr lang="en-US" sz="1100" dirty="0"/>
          </a:p>
        </p:txBody>
      </p:sp>
      <p:sp>
        <p:nvSpPr>
          <p:cNvPr id="19" name="Text 17"/>
          <p:cNvSpPr/>
          <p:nvPr/>
        </p:nvSpPr>
        <p:spPr>
          <a:xfrm>
            <a:off x="914400" y="3694176"/>
            <a:ext cx="749808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Real-time Sync  —  onSnapshot() delivers live menu to students as moderator types</a:t>
            </a:r>
            <a:endParaRPr lang="en-US" sz="1100" dirty="0"/>
          </a:p>
        </p:txBody>
      </p:sp>
      <p:sp>
        <p:nvSpPr>
          <p:cNvPr id="20" name="Shape 18"/>
          <p:cNvSpPr/>
          <p:nvPr/>
        </p:nvSpPr>
        <p:spPr>
          <a:xfrm>
            <a:off x="457200" y="4251960"/>
            <a:ext cx="347472" cy="347472"/>
          </a:xfrm>
          <a:prstGeom prst="roundRect">
            <a:avLst>
              <a:gd name="adj" fmla="val 13158"/>
            </a:avLst>
          </a:prstGeom>
          <a:solidFill>
            <a:srgbClr val="52B788"/>
          </a:solidFill>
          <a:ln w="12700">
            <a:solidFill>
              <a:srgbClr val="52B788"/>
            </a:solidFill>
            <a:prstDash val="solid"/>
          </a:ln>
        </p:spPr>
      </p:sp>
      <p:sp>
        <p:nvSpPr>
          <p:cNvPr id="21" name="Text 19"/>
          <p:cNvSpPr/>
          <p:nvPr/>
        </p:nvSpPr>
        <p:spPr>
          <a:xfrm>
            <a:off x="457200" y="4251960"/>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rPr>
              <a:t>6</a:t>
            </a:r>
            <a:endParaRPr lang="en-US" sz="1100" dirty="0"/>
          </a:p>
        </p:txBody>
      </p:sp>
      <p:sp>
        <p:nvSpPr>
          <p:cNvPr id="22" name="Text 20"/>
          <p:cNvSpPr/>
          <p:nvPr/>
        </p:nvSpPr>
        <p:spPr>
          <a:xfrm>
            <a:off x="914400" y="4270248"/>
            <a:ext cx="749808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Honest Limitations  —  No offline support, no push notifications — all fixable</a:t>
            </a:r>
            <a:endParaRPr lang="en-US" sz="1100" dirty="0"/>
          </a:p>
        </p:txBody>
      </p:sp>
      <p:sp>
        <p:nvSpPr>
          <p:cNvPr id="23" name="Text 21"/>
          <p:cNvSpPr/>
          <p:nvPr/>
        </p:nvSpPr>
        <p:spPr>
          <a:xfrm>
            <a:off x="457200" y="4663440"/>
            <a:ext cx="8229600" cy="384048"/>
          </a:xfrm>
          <a:prstGeom prst="rect">
            <a:avLst/>
          </a:prstGeom>
          <a:noFill/>
          <a:ln/>
        </p:spPr>
        <p:txBody>
          <a:bodyPr wrap="square" lIns="0" tIns="0" rIns="0" bIns="0" rtlCol="0" anchor="ctr"/>
          <a:lstStyle/>
          <a:p>
            <a:pPr marL="0" indent="0" algn="ctr">
              <a:buNone/>
            </a:pPr>
            <a:r>
              <a:rPr lang="en-US" sz="1500" b="1" dirty="0">
                <a:solidFill>
                  <a:srgbClr val="52B788"/>
                </a:solidFill>
                <a:latin typeface="Cambria" pitchFamily="34" charset="0"/>
                <a:ea typeface="Cambria" pitchFamily="34" charset="-122"/>
                <a:cs typeface="Cambria" pitchFamily="34" charset="-120"/>
              </a:rPr>
              <a:t>Thank you  </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TotalTime>
  <Words>2938</Words>
  <Application>Microsoft Macintosh PowerPoint</Application>
  <PresentationFormat>On-screen Show (16:9)</PresentationFormat>
  <Paragraphs>294</Paragraphs>
  <Slides>21</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HallMenu RU — Project Defense Presentation</dc:title>
  <dc:subject>PptxGenJS Presentation</dc:subject>
  <dc:creator>University Project</dc:creator>
  <cp:lastModifiedBy>Maisha</cp:lastModifiedBy>
  <cp:revision>14</cp:revision>
  <dcterms:created xsi:type="dcterms:W3CDTF">2026-06-27T06:16:07Z</dcterms:created>
  <dcterms:modified xsi:type="dcterms:W3CDTF">2026-07-08T07:29:36Z</dcterms:modified>
</cp:coreProperties>
</file>